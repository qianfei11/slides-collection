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48" r:id="rId3"/>
    <p:sldId id="351" r:id="rId4"/>
    <p:sldId id="349" r:id="rId5"/>
    <p:sldId id="350" r:id="rId6"/>
    <p:sldId id="356" r:id="rId7"/>
    <p:sldId id="347" r:id="rId8"/>
    <p:sldId id="355" r:id="rId9"/>
    <p:sldId id="265" r:id="rId10"/>
    <p:sldId id="363" r:id="rId11"/>
    <p:sldId id="364" r:id="rId12"/>
    <p:sldId id="359" r:id="rId13"/>
    <p:sldId id="366" r:id="rId14"/>
    <p:sldId id="365" r:id="rId15"/>
    <p:sldId id="353" r:id="rId16"/>
    <p:sldId id="266" r:id="rId17"/>
    <p:sldId id="362" r:id="rId18"/>
    <p:sldId id="344" r:id="rId19"/>
    <p:sldId id="345" r:id="rId20"/>
    <p:sldId id="346" r:id="rId21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CF"/>
    <a:srgbClr val="FF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5701" autoAdjust="0"/>
  </p:normalViewPr>
  <p:slideViewPr>
    <p:cSldViewPr snapToGrid="0" snapToObjects="1">
      <p:cViewPr varScale="1">
        <p:scale>
          <a:sx n="103" d="100"/>
          <a:sy n="103" d="100"/>
        </p:scale>
        <p:origin x="13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39B8F-D5D7-244B-BD23-6F0922325337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C0114-B5FC-4244-B5BC-93289FD5FF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50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442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256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515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11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583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84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82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241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96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640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429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A369B-85F8-394C-8E89-895F90DDF7DD}" type="datetimeFigureOut">
              <a:rPr kumimoji="1" lang="zh-CN" altLang="en-US" smtClean="0"/>
              <a:t>15/11/12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44C76-FE9F-664A-9576-146F332A18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70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软件安全</a:t>
            </a:r>
            <a:r>
              <a:rPr kumimoji="1" lang="en-US" altLang="zh-CN" dirty="0" smtClean="0"/>
              <a:t>2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864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如何防止栈溢出利用？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765510"/>
              </p:ext>
            </p:extLst>
          </p:nvPr>
        </p:nvGraphicFramePr>
        <p:xfrm>
          <a:off x="5745019" y="2631778"/>
          <a:ext cx="2475534" cy="3128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5534"/>
              </a:tblGrid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char **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argv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int</a:t>
                      </a:r>
                      <a:r>
                        <a:rPr lang="en-US" altLang="zh-CN" sz="1900" b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zh-CN" sz="1900" b="0" dirty="0" err="1" smtClean="0">
                          <a:solidFill>
                            <a:srgbClr val="000000"/>
                          </a:solidFill>
                        </a:rPr>
                        <a:t>argc</a:t>
                      </a:r>
                      <a:endParaRPr lang="zh-CN" altLang="en-US" sz="19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r>
                        <a:rPr lang="zh-CN" altLang="en-US" sz="2000" b="0" dirty="0" smtClean="0">
                          <a:solidFill>
                            <a:srgbClr val="000000"/>
                          </a:solidFill>
                        </a:rPr>
                        <a:t>地址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7222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solidFill>
                            <a:srgbClr val="000000"/>
                          </a:solidFill>
                        </a:rPr>
                        <a:t>shellcode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89856">
                <a:tc>
                  <a:txBody>
                    <a:bodyPr/>
                    <a:lstStyle/>
                    <a:p>
                      <a:pPr algn="ctr"/>
                      <a:endParaRPr lang="zh-CN" alt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106324" marR="106324" marT="53162" marB="53162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内容占位符 5"/>
          <p:cNvPicPr>
            <a:picLocks noChangeAspect="1"/>
          </p:cNvPicPr>
          <p:nvPr/>
        </p:nvPicPr>
        <p:blipFill>
          <a:blip r:embed="rId2"/>
          <a:srcRect l="-24985" r="-24985"/>
          <a:stretch>
            <a:fillRect/>
          </a:stretch>
        </p:blipFill>
        <p:spPr>
          <a:xfrm>
            <a:off x="-387244" y="2375892"/>
            <a:ext cx="6644350" cy="36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2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防御思路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栈上的数据无法被当成指令来执行</a:t>
            </a:r>
            <a:endParaRPr kumimoji="1" lang="en-US" altLang="zh-CN" dirty="0" smtClean="0"/>
          </a:p>
          <a:p>
            <a:pPr lvl="1"/>
            <a:r>
              <a:rPr kumimoji="1" lang="zh-CN" altLang="en-US" dirty="0"/>
              <a:t>数据执行保护（</a:t>
            </a:r>
            <a:r>
              <a:rPr kumimoji="1" lang="en-US" altLang="zh-CN" dirty="0"/>
              <a:t>NX/DEP</a:t>
            </a:r>
            <a:r>
              <a:rPr kumimoji="1" lang="zh-CN" altLang="en-US" dirty="0"/>
              <a:t>）</a:t>
            </a:r>
            <a:endParaRPr kumimoji="1" lang="en-US" altLang="zh-CN" dirty="0" smtClean="0"/>
          </a:p>
          <a:p>
            <a:r>
              <a:rPr kumimoji="1" lang="zh-CN" altLang="en-US" dirty="0" smtClean="0"/>
              <a:t>让攻击者难以找到</a:t>
            </a:r>
            <a:r>
              <a:rPr kumimoji="1" lang="en-US" altLang="zh-CN" dirty="0" err="1" smtClean="0"/>
              <a:t>shellcode</a:t>
            </a:r>
            <a:r>
              <a:rPr kumimoji="1" lang="zh-CN" altLang="en-US" dirty="0" smtClean="0"/>
              <a:t>地址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地址空间布局随机化（</a:t>
            </a:r>
            <a:r>
              <a:rPr kumimoji="1" lang="en-US" altLang="zh-CN" dirty="0" smtClean="0"/>
              <a:t>ASLR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kumimoji="1" lang="zh-CN" altLang="en-US" dirty="0" smtClean="0"/>
              <a:t>检测</a:t>
            </a:r>
            <a:r>
              <a:rPr kumimoji="1" lang="en-US" altLang="zh-CN" dirty="0" smtClean="0"/>
              <a:t>Stack Overflow</a:t>
            </a:r>
          </a:p>
          <a:p>
            <a:pPr lvl="1"/>
            <a:r>
              <a:rPr kumimoji="1" lang="en-US" altLang="zh-CN" dirty="0" smtClean="0"/>
              <a:t>Stack Canary/Cookie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015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内存分布</a:t>
            </a:r>
            <a:r>
              <a:rPr kumimoji="1" lang="en-US" altLang="zh-CN" sz="2400" dirty="0" smtClean="0">
                <a:solidFill>
                  <a:srgbClr val="000000"/>
                </a:solidFill>
              </a:rPr>
              <a:t>(Linux X86)</a:t>
            </a:r>
            <a:endParaRPr kumimoji="1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栈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共享库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堆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Data(Global/Static)</a:t>
            </a: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Text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30776"/>
              </p:ext>
            </p:extLst>
          </p:nvPr>
        </p:nvGraphicFramePr>
        <p:xfrm>
          <a:off x="5079226" y="1322168"/>
          <a:ext cx="1406958" cy="4856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FFFF"/>
                          </a:solidFill>
                        </a:rPr>
                        <a:t>For </a:t>
                      </a:r>
                      <a:r>
                        <a:rPr lang="en-US" altLang="zh-CN" dirty="0" err="1" smtClean="0">
                          <a:solidFill>
                            <a:srgbClr val="FFFFFF"/>
                          </a:solidFill>
                        </a:rPr>
                        <a:t>Kernal</a:t>
                      </a:r>
                      <a:endParaRPr lang="zh-CN" altLang="en-US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shared libraries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86949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8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Heap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F9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Unused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4" name="直线箭头连接符 23"/>
          <p:cNvCxnSpPr/>
          <p:nvPr/>
        </p:nvCxnSpPr>
        <p:spPr>
          <a:xfrm flipV="1">
            <a:off x="5773398" y="3978678"/>
            <a:ext cx="0" cy="511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5773398" y="2126379"/>
            <a:ext cx="0" cy="530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94367" y="153101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0xC0000000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7" name="直线箭头连接符 26"/>
          <p:cNvCxnSpPr/>
          <p:nvPr/>
        </p:nvCxnSpPr>
        <p:spPr>
          <a:xfrm flipH="1">
            <a:off x="6486691" y="1686363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000240" y="3467324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0x40000000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9" name="直线箭头连接符 28"/>
          <p:cNvCxnSpPr/>
          <p:nvPr/>
        </p:nvCxnSpPr>
        <p:spPr>
          <a:xfrm flipH="1">
            <a:off x="6481965" y="3618327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010400" y="602555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1" name="直线箭头连接符 30"/>
          <p:cNvCxnSpPr/>
          <p:nvPr/>
        </p:nvCxnSpPr>
        <p:spPr>
          <a:xfrm flipH="1">
            <a:off x="6486218" y="617656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009099" y="566489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0x08048000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6484917" y="581590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997347" y="1167918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0xFFFFFFFF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5" name="直线箭头连接符 34"/>
          <p:cNvCxnSpPr/>
          <p:nvPr/>
        </p:nvCxnSpPr>
        <p:spPr>
          <a:xfrm flipH="1">
            <a:off x="6489671" y="1323264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016102" y="1889416"/>
            <a:ext cx="79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</a:rPr>
              <a:t>%</a:t>
            </a:r>
            <a:r>
              <a:rPr lang="en-US" altLang="zh-CN" dirty="0" err="1" smtClean="0">
                <a:solidFill>
                  <a:srgbClr val="000000"/>
                </a:solidFill>
              </a:rPr>
              <a:t>esp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4647831" y="2114186"/>
            <a:ext cx="43788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左大括号 5"/>
          <p:cNvSpPr/>
          <p:nvPr/>
        </p:nvSpPr>
        <p:spPr>
          <a:xfrm>
            <a:off x="4808247" y="4831419"/>
            <a:ext cx="172315" cy="4731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77481" y="4831419"/>
            <a:ext cx="2941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可读可写、不可执行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668483" y="5417971"/>
            <a:ext cx="313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可读可执行、不可写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9" name="直线箭头连接符 8"/>
          <p:cNvCxnSpPr/>
          <p:nvPr/>
        </p:nvCxnSpPr>
        <p:spPr>
          <a:xfrm flipH="1">
            <a:off x="4647831" y="5664897"/>
            <a:ext cx="4313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705843" y="1614626"/>
            <a:ext cx="2941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可读可写、不可执行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0" name="直线箭头连接符 39"/>
          <p:cNvCxnSpPr/>
          <p:nvPr/>
        </p:nvCxnSpPr>
        <p:spPr>
          <a:xfrm flipH="1">
            <a:off x="4638355" y="1889416"/>
            <a:ext cx="4313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数据执行保护（</a:t>
            </a:r>
            <a:r>
              <a:rPr kumimoji="1" lang="en-US" altLang="zh-CN" dirty="0" smtClean="0"/>
              <a:t>NX/DEP</a:t>
            </a:r>
            <a:r>
              <a:rPr kumimoji="1" lang="zh-CN" altLang="en-US" dirty="0" smtClean="0"/>
              <a:t>）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74576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发展历史</a:t>
            </a:r>
            <a:endParaRPr kumimoji="1" lang="en-US" altLang="zh-CN" dirty="0" smtClean="0"/>
          </a:p>
          <a:p>
            <a:pPr lvl="1"/>
            <a:r>
              <a:rPr lang="en-US" altLang="zh-CN" dirty="0"/>
              <a:t>Alexander </a:t>
            </a:r>
            <a:r>
              <a:rPr lang="zh-CN" altLang="en-US" dirty="0" smtClean="0"/>
              <a:t>的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补丁（</a:t>
            </a:r>
            <a:r>
              <a:rPr lang="en-US" altLang="zh-CN" dirty="0" smtClean="0"/>
              <a:t>1997</a:t>
            </a:r>
            <a:r>
              <a:rPr lang="zh-CN" altLang="en-US" dirty="0" smtClean="0"/>
              <a:t>）：只保护栈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Pax</a:t>
            </a:r>
            <a:r>
              <a:rPr lang="zh-CN" altLang="en-US" dirty="0" smtClean="0"/>
              <a:t>研究组</a:t>
            </a:r>
            <a:r>
              <a:rPr lang="en-US" altLang="zh-CN" dirty="0" smtClean="0"/>
              <a:t>W^X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）：更细粒度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RedHat</a:t>
            </a:r>
            <a:r>
              <a:rPr lang="en-US" altLang="zh-CN" dirty="0" smtClean="0"/>
              <a:t> Linux</a:t>
            </a:r>
            <a:r>
              <a:rPr lang="zh-CN" altLang="en-US" dirty="0"/>
              <a:t> </a:t>
            </a:r>
            <a:r>
              <a:rPr lang="en-US" altLang="zh-CN" dirty="0" err="1" smtClean="0"/>
              <a:t>ExecShield、Windows</a:t>
            </a:r>
            <a:r>
              <a:rPr lang="zh-CN" altLang="en-US" dirty="0" smtClean="0"/>
              <a:t> </a:t>
            </a:r>
            <a:r>
              <a:rPr lang="en-US" altLang="zh-CN" dirty="0" smtClean="0"/>
              <a:t>DEP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2004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Bypass: Return-to-</a:t>
            </a:r>
            <a:r>
              <a:rPr lang="en-US" altLang="zh-CN" dirty="0" err="1" smtClean="0"/>
              <a:t>libc</a:t>
            </a:r>
            <a:r>
              <a:rPr lang="en-US" altLang="zh-CN" dirty="0"/>
              <a:t>/</a:t>
            </a:r>
            <a:r>
              <a:rPr lang="en-US" altLang="zh-CN" dirty="0" smtClean="0"/>
              <a:t>ROP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code-reuse attack</a:t>
            </a:r>
            <a:r>
              <a:rPr lang="zh-CN" altLang="en-US" dirty="0" smtClean="0"/>
              <a:t>）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5057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Return to </a:t>
            </a:r>
            <a:r>
              <a:rPr kumimoji="1" lang="en-US" altLang="zh-CN" dirty="0" err="1" smtClean="0"/>
              <a:t>Libc</a:t>
            </a:r>
            <a:endParaRPr kumimoji="1" lang="en-US" altLang="zh-CN" dirty="0"/>
          </a:p>
        </p:txBody>
      </p:sp>
      <p:grpSp>
        <p:nvGrpSpPr>
          <p:cNvPr id="16" name="组 15"/>
          <p:cNvGrpSpPr/>
          <p:nvPr/>
        </p:nvGrpSpPr>
        <p:grpSpPr>
          <a:xfrm>
            <a:off x="4889575" y="2422777"/>
            <a:ext cx="1797756" cy="1779030"/>
            <a:chOff x="4673006" y="4816833"/>
            <a:chExt cx="2897738" cy="1779030"/>
          </a:xfrm>
        </p:grpSpPr>
        <p:sp>
          <p:nvSpPr>
            <p:cNvPr id="9" name="矩形 8"/>
            <p:cNvSpPr/>
            <p:nvPr/>
          </p:nvSpPr>
          <p:spPr>
            <a:xfrm>
              <a:off x="4673006" y="624828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padding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73006" y="589055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ystem()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673006" y="553068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e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xit()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673006" y="517294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"/bin/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sh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"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673006" y="481683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0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 17"/>
          <p:cNvGrpSpPr/>
          <p:nvPr/>
        </p:nvGrpSpPr>
        <p:grpSpPr>
          <a:xfrm>
            <a:off x="747283" y="2422777"/>
            <a:ext cx="3680049" cy="1779030"/>
            <a:chOff x="5772988" y="4816833"/>
            <a:chExt cx="3680049" cy="1779030"/>
          </a:xfrm>
        </p:grpSpPr>
        <p:grpSp>
          <p:nvGrpSpPr>
            <p:cNvPr id="19" name="组 18"/>
            <p:cNvGrpSpPr/>
            <p:nvPr/>
          </p:nvGrpSpPr>
          <p:grpSpPr>
            <a:xfrm>
              <a:off x="5772988" y="4816833"/>
              <a:ext cx="1797756" cy="1779030"/>
              <a:chOff x="4673006" y="4816833"/>
              <a:chExt cx="2897738" cy="1779030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4673006" y="6248288"/>
                <a:ext cx="2897738" cy="347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smtClean="0">
                    <a:solidFill>
                      <a:schemeClr val="tx1"/>
                    </a:solidFill>
                  </a:rPr>
                  <a:t>padding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4673006" y="5890553"/>
                <a:ext cx="2897738" cy="347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 smtClean="0">
                    <a:solidFill>
                      <a:schemeClr val="tx1"/>
                    </a:solidFill>
                  </a:rPr>
                  <a:t>Shellcode</a:t>
                </a:r>
                <a:r>
                  <a:rPr kumimoji="1" lang="zh-CN" altLang="en-US" dirty="0" smtClean="0">
                    <a:solidFill>
                      <a:schemeClr val="tx1"/>
                    </a:solidFill>
                  </a:rPr>
                  <a:t>地址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4673006" y="5530683"/>
                <a:ext cx="2897738" cy="347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 smtClean="0">
                    <a:solidFill>
                      <a:schemeClr val="tx1"/>
                    </a:solidFill>
                  </a:rPr>
                  <a:t>nop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4673006" y="5172948"/>
                <a:ext cx="2897738" cy="347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 smtClean="0">
                    <a:solidFill>
                      <a:schemeClr val="tx1"/>
                    </a:solidFill>
                  </a:rPr>
                  <a:t>nop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673006" y="4816833"/>
                <a:ext cx="2897738" cy="347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 err="1" smtClean="0">
                    <a:solidFill>
                      <a:schemeClr val="tx1"/>
                    </a:solidFill>
                  </a:rPr>
                  <a:t>shellcode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8167808" y="5890553"/>
              <a:ext cx="1285229" cy="3459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zh-CN" altLang="en-US" dirty="0" smtClean="0">
                  <a:solidFill>
                    <a:schemeClr val="tx1"/>
                  </a:solidFill>
                </a:rPr>
                <a:t>返回地址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线箭头连接符 20"/>
            <p:cNvCxnSpPr/>
            <p:nvPr/>
          </p:nvCxnSpPr>
          <p:spPr>
            <a:xfrm flipH="1">
              <a:off x="7666406" y="6065401"/>
              <a:ext cx="48490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7401571" y="3474025"/>
            <a:ext cx="1285229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zh-CN" altLang="en-US" dirty="0" smtClean="0">
                <a:solidFill>
                  <a:schemeClr val="tx1"/>
                </a:solidFill>
              </a:rPr>
              <a:t>返回地址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线箭头连接符 29"/>
          <p:cNvCxnSpPr/>
          <p:nvPr/>
        </p:nvCxnSpPr>
        <p:spPr>
          <a:xfrm flipH="1">
            <a:off x="6900169" y="3648873"/>
            <a:ext cx="48490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142103" y="2316093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高地址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142103" y="4017141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低地址</a:t>
            </a:r>
            <a:endParaRPr kumimoji="1"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1656037" y="4295979"/>
            <a:ext cx="0" cy="5478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25579" y="4946463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入栈方向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295734" y="4843871"/>
            <a:ext cx="3089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system:</a:t>
            </a:r>
          </a:p>
          <a:p>
            <a:pPr lvl="2"/>
            <a:r>
              <a:rPr kumimoji="1" lang="en-US" altLang="zh-CN" dirty="0" smtClean="0"/>
              <a:t>push </a:t>
            </a:r>
            <a:r>
              <a:rPr kumimoji="1" lang="en-US" altLang="zh-CN" dirty="0" err="1" smtClean="0"/>
              <a:t>ebp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mov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ebp</a:t>
            </a:r>
            <a:r>
              <a:rPr kumimoji="1" lang="en-US" altLang="zh-CN" dirty="0" smtClean="0"/>
              <a:t>, </a:t>
            </a:r>
            <a:r>
              <a:rPr kumimoji="1" lang="en-US" altLang="zh-CN" dirty="0" err="1" smtClean="0"/>
              <a:t>esp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…(</a:t>
            </a:r>
            <a:r>
              <a:rPr kumimoji="1" lang="zh-CN" altLang="en-US" dirty="0" smtClean="0"/>
              <a:t>执行命令</a:t>
            </a:r>
            <a:r>
              <a:rPr kumimoji="1" lang="en-US" altLang="zh-CN" dirty="0" smtClean="0"/>
              <a:t>)</a:t>
            </a:r>
          </a:p>
          <a:p>
            <a:pPr lvl="2"/>
            <a:r>
              <a:rPr kumimoji="1" lang="en-US" altLang="zh-CN" dirty="0" smtClean="0"/>
              <a:t>ret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77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Return to </a:t>
            </a:r>
            <a:r>
              <a:rPr kumimoji="1" lang="en-US" altLang="zh-CN" dirty="0" err="1" smtClean="0"/>
              <a:t>Libc</a:t>
            </a:r>
            <a:endParaRPr kumimoji="1" lang="en-US" altLang="zh-CN" dirty="0"/>
          </a:p>
        </p:txBody>
      </p:sp>
      <p:grpSp>
        <p:nvGrpSpPr>
          <p:cNvPr id="16" name="组 15"/>
          <p:cNvGrpSpPr/>
          <p:nvPr/>
        </p:nvGrpSpPr>
        <p:grpSpPr>
          <a:xfrm>
            <a:off x="3990697" y="2422777"/>
            <a:ext cx="1797756" cy="1779030"/>
            <a:chOff x="4673006" y="4816833"/>
            <a:chExt cx="2897738" cy="1779030"/>
          </a:xfrm>
        </p:grpSpPr>
        <p:sp>
          <p:nvSpPr>
            <p:cNvPr id="9" name="矩形 8"/>
            <p:cNvSpPr/>
            <p:nvPr/>
          </p:nvSpPr>
          <p:spPr>
            <a:xfrm>
              <a:off x="4673006" y="624828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padding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73006" y="589055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ystem()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673006" y="553068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e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xit()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673006" y="517294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"/bin/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sh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"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673006" y="481683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0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6502694" y="3101879"/>
            <a:ext cx="1042858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err="1" smtClean="0">
                <a:solidFill>
                  <a:schemeClr val="tx1"/>
                </a:solidFill>
              </a:rPr>
              <a:t>esp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线箭头连接符 29"/>
          <p:cNvCxnSpPr/>
          <p:nvPr/>
        </p:nvCxnSpPr>
        <p:spPr>
          <a:xfrm flipH="1">
            <a:off x="6001291" y="3312666"/>
            <a:ext cx="48490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243225" y="2316093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高地址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2243225" y="4017141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低地址</a:t>
            </a:r>
            <a:endParaRPr kumimoji="1"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4990637" y="4201807"/>
            <a:ext cx="0" cy="31830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444788" y="4543104"/>
            <a:ext cx="1091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入栈方向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396856" y="4843871"/>
            <a:ext cx="3089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system:</a:t>
            </a:r>
          </a:p>
          <a:p>
            <a:pPr lvl="2"/>
            <a:r>
              <a:rPr kumimoji="1" lang="en-US" altLang="zh-CN" dirty="0" smtClean="0"/>
              <a:t>push </a:t>
            </a:r>
            <a:r>
              <a:rPr kumimoji="1" lang="en-US" altLang="zh-CN" dirty="0" err="1" smtClean="0"/>
              <a:t>ebp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mov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ebp</a:t>
            </a:r>
            <a:r>
              <a:rPr kumimoji="1" lang="en-US" altLang="zh-CN" dirty="0" smtClean="0"/>
              <a:t>, </a:t>
            </a:r>
            <a:r>
              <a:rPr kumimoji="1" lang="en-US" altLang="zh-CN" dirty="0" err="1" smtClean="0"/>
              <a:t>esp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…(</a:t>
            </a:r>
            <a:r>
              <a:rPr kumimoji="1" lang="zh-CN" altLang="en-US" dirty="0" smtClean="0"/>
              <a:t>执行命令</a:t>
            </a:r>
            <a:r>
              <a:rPr kumimoji="1" lang="en-US" altLang="zh-CN" dirty="0" smtClean="0"/>
              <a:t>)</a:t>
            </a:r>
          </a:p>
          <a:p>
            <a:pPr lvl="2"/>
            <a:r>
              <a:rPr kumimoji="1" lang="en-US" altLang="zh-CN" dirty="0" smtClean="0"/>
              <a:t>ret</a:t>
            </a:r>
            <a:endParaRPr kumimoji="1" lang="zh-CN" altLang="en-US" dirty="0"/>
          </a:p>
        </p:txBody>
      </p:sp>
      <p:cxnSp>
        <p:nvCxnSpPr>
          <p:cNvPr id="31" name="直线箭头连接符 30"/>
          <p:cNvCxnSpPr/>
          <p:nvPr/>
        </p:nvCxnSpPr>
        <p:spPr>
          <a:xfrm>
            <a:off x="3459114" y="5345335"/>
            <a:ext cx="8246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953634" y="5126734"/>
            <a:ext cx="542830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err="1" smtClean="0">
                <a:solidFill>
                  <a:schemeClr val="tx1"/>
                </a:solidFill>
              </a:rPr>
              <a:t>eip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76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Return to </a:t>
            </a:r>
            <a:r>
              <a:rPr kumimoji="1" lang="en-US" altLang="zh-CN" dirty="0" err="1" smtClean="0"/>
              <a:t>Libc</a:t>
            </a:r>
            <a:endParaRPr kumimoji="1" lang="en-US" altLang="zh-CN" dirty="0"/>
          </a:p>
        </p:txBody>
      </p:sp>
      <p:grpSp>
        <p:nvGrpSpPr>
          <p:cNvPr id="16" name="组 15"/>
          <p:cNvGrpSpPr/>
          <p:nvPr/>
        </p:nvGrpSpPr>
        <p:grpSpPr>
          <a:xfrm>
            <a:off x="3990697" y="2422777"/>
            <a:ext cx="1797756" cy="1779030"/>
            <a:chOff x="4673006" y="4816833"/>
            <a:chExt cx="2897738" cy="1779030"/>
          </a:xfrm>
        </p:grpSpPr>
        <p:sp>
          <p:nvSpPr>
            <p:cNvPr id="9" name="矩形 8"/>
            <p:cNvSpPr/>
            <p:nvPr/>
          </p:nvSpPr>
          <p:spPr>
            <a:xfrm>
              <a:off x="4673006" y="624828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padding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73006" y="589055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ystem()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673006" y="553068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e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xit()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673006" y="517294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"/bin/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sh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"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673006" y="481683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0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6502694" y="3101879"/>
            <a:ext cx="1042858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err="1" smtClean="0">
                <a:solidFill>
                  <a:schemeClr val="tx1"/>
                </a:solidFill>
              </a:rPr>
              <a:t>esp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线箭头连接符 29"/>
          <p:cNvCxnSpPr/>
          <p:nvPr/>
        </p:nvCxnSpPr>
        <p:spPr>
          <a:xfrm flipH="1">
            <a:off x="6001291" y="3312666"/>
            <a:ext cx="48490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243225" y="2316093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高地址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2243225" y="4017141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低地址</a:t>
            </a:r>
            <a:endParaRPr kumimoji="1" lang="zh-CN" altLang="en-US" dirty="0"/>
          </a:p>
        </p:txBody>
      </p:sp>
      <p:cxnSp>
        <p:nvCxnSpPr>
          <p:cNvPr id="7" name="直线箭头连接符 6"/>
          <p:cNvCxnSpPr/>
          <p:nvPr/>
        </p:nvCxnSpPr>
        <p:spPr>
          <a:xfrm flipV="1">
            <a:off x="4990637" y="4201807"/>
            <a:ext cx="0" cy="31830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444788" y="4543104"/>
            <a:ext cx="1091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入栈方向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396856" y="4843871"/>
            <a:ext cx="3089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system:</a:t>
            </a:r>
          </a:p>
          <a:p>
            <a:pPr lvl="2"/>
            <a:r>
              <a:rPr kumimoji="1" lang="en-US" altLang="zh-CN" dirty="0" smtClean="0"/>
              <a:t>push </a:t>
            </a:r>
            <a:r>
              <a:rPr kumimoji="1" lang="en-US" altLang="zh-CN" dirty="0" err="1" smtClean="0"/>
              <a:t>ebp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mov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ebp</a:t>
            </a:r>
            <a:r>
              <a:rPr kumimoji="1" lang="en-US" altLang="zh-CN" dirty="0" smtClean="0"/>
              <a:t>, </a:t>
            </a:r>
            <a:r>
              <a:rPr kumimoji="1" lang="en-US" altLang="zh-CN" dirty="0" err="1" smtClean="0"/>
              <a:t>esp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…(</a:t>
            </a:r>
            <a:r>
              <a:rPr kumimoji="1" lang="zh-CN" altLang="en-US" dirty="0" smtClean="0"/>
              <a:t>执行命令</a:t>
            </a:r>
            <a:r>
              <a:rPr kumimoji="1" lang="en-US" altLang="zh-CN" dirty="0" smtClean="0"/>
              <a:t>)</a:t>
            </a:r>
          </a:p>
          <a:p>
            <a:pPr lvl="2"/>
            <a:r>
              <a:rPr kumimoji="1" lang="en-US" altLang="zh-CN" dirty="0" smtClean="0"/>
              <a:t>ret</a:t>
            </a:r>
            <a:endParaRPr kumimoji="1" lang="zh-CN" altLang="en-US" dirty="0"/>
          </a:p>
        </p:txBody>
      </p:sp>
      <p:cxnSp>
        <p:nvCxnSpPr>
          <p:cNvPr id="31" name="直线箭头连接符 30"/>
          <p:cNvCxnSpPr/>
          <p:nvPr/>
        </p:nvCxnSpPr>
        <p:spPr>
          <a:xfrm>
            <a:off x="3396856" y="6142270"/>
            <a:ext cx="8246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619827" y="5911217"/>
            <a:ext cx="777029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err="1" smtClean="0">
                <a:solidFill>
                  <a:schemeClr val="tx1"/>
                </a:solidFill>
              </a:rPr>
              <a:t>eip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>
            <a:off x="5678011" y="6123720"/>
            <a:ext cx="8246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768523" y="5909449"/>
            <a:ext cx="777029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smtClean="0">
                <a:solidFill>
                  <a:schemeClr val="tx1"/>
                </a:solidFill>
              </a:rPr>
              <a:t>exit(0)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8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smtClean="0"/>
              <a:t>ROP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Return Oriented Programming</a:t>
            </a:r>
            <a:r>
              <a:rPr kumimoji="1" lang="zh-CN" altLang="en-US" dirty="0" smtClean="0"/>
              <a:t>）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419" t="27620" r="31"/>
          <a:stretch/>
        </p:blipFill>
        <p:spPr>
          <a:xfrm>
            <a:off x="1565221" y="1310716"/>
            <a:ext cx="6319955" cy="5007436"/>
          </a:xfrm>
        </p:spPr>
      </p:pic>
    </p:spTree>
    <p:extLst>
      <p:ext uri="{BB962C8B-B14F-4D97-AF65-F5344CB8AC3E}">
        <p14:creationId xmlns:p14="http://schemas.microsoft.com/office/powerpoint/2010/main" val="242579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Dynamic Linking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PLT</a:t>
            </a:r>
            <a:r>
              <a:rPr kumimoji="1" lang="en-US" altLang="zh-CN" dirty="0"/>
              <a:t>(Procedure Linkage Table</a:t>
            </a:r>
            <a:r>
              <a:rPr kumimoji="1" lang="en-US" altLang="zh-CN" dirty="0" smtClean="0"/>
              <a:t>)</a:t>
            </a:r>
          </a:p>
          <a:p>
            <a:r>
              <a:rPr kumimoji="1" lang="en-US" altLang="zh-CN" dirty="0"/>
              <a:t>GOT(Global Offsets Table)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55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Dynamic Linking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75491" y="2520196"/>
            <a:ext cx="4152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/>
              <a:t>printf</a:t>
            </a:r>
            <a:r>
              <a:rPr kumimoji="1" lang="en-US" altLang="zh-CN" sz="2400" dirty="0" smtClean="0"/>
              <a:t>:</a:t>
            </a:r>
          </a:p>
          <a:p>
            <a:r>
              <a:rPr kumimoji="1" lang="en-US" altLang="zh-CN" sz="2400" dirty="0" smtClean="0"/>
              <a:t>		</a:t>
            </a:r>
            <a:r>
              <a:rPr kumimoji="1" lang="en-US" altLang="zh-CN" sz="2400" dirty="0" err="1" smtClean="0"/>
              <a:t>jmp</a:t>
            </a:r>
            <a:r>
              <a:rPr kumimoji="1" lang="en-US" altLang="zh-CN" sz="2400" dirty="0" smtClean="0"/>
              <a:t> </a:t>
            </a:r>
            <a:r>
              <a:rPr kumimoji="1" lang="en-US" altLang="zh-CN" sz="2400" dirty="0" err="1" smtClean="0"/>
              <a:t>ds:printf@got</a:t>
            </a:r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814805" y="2406602"/>
            <a:ext cx="3162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 smtClean="0"/>
              <a:t>printf@got</a:t>
            </a:r>
            <a:r>
              <a:rPr kumimoji="1" lang="en-US" altLang="zh-CN" dirty="0" smtClean="0"/>
              <a:t>: </a:t>
            </a:r>
            <a:r>
              <a:rPr kumimoji="1" lang="en-US" altLang="zh-CN" dirty="0" err="1" smtClean="0"/>
              <a:t>init_printf_got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read@got</a:t>
            </a:r>
            <a:r>
              <a:rPr kumimoji="1" lang="en-US" altLang="zh-CN" dirty="0" smtClean="0"/>
              <a:t>: </a:t>
            </a:r>
            <a:r>
              <a:rPr kumimoji="1" lang="en-US" altLang="zh-CN" dirty="0" err="1" smtClean="0"/>
              <a:t>init_read_got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write@got</a:t>
            </a:r>
            <a:r>
              <a:rPr kumimoji="1" lang="en-US" altLang="zh-CN" dirty="0" smtClean="0"/>
              <a:t>: </a:t>
            </a:r>
            <a:r>
              <a:rPr kumimoji="1" lang="en-US" altLang="zh-CN" dirty="0" err="1" smtClean="0"/>
              <a:t>init_write_got</a:t>
            </a:r>
            <a:endParaRPr kumimoji="1" lang="en-US" altLang="zh-CN" dirty="0" smtClean="0"/>
          </a:p>
          <a:p>
            <a:r>
              <a:rPr kumimoji="1" lang="en-US" altLang="zh-CN" dirty="0" smtClean="0"/>
              <a:t>…</a:t>
            </a:r>
            <a:endParaRPr kumimoji="1"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1475491" y="1420613"/>
            <a:ext cx="2950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call </a:t>
            </a:r>
            <a:r>
              <a:rPr kumimoji="1" lang="en-US" altLang="zh-CN" sz="2400" dirty="0" err="1" smtClean="0"/>
              <a:t>printf</a:t>
            </a:r>
            <a:endParaRPr kumimoji="1" lang="zh-CN" altLang="en-US" sz="2400" dirty="0"/>
          </a:p>
        </p:txBody>
      </p:sp>
      <p:cxnSp>
        <p:nvCxnSpPr>
          <p:cNvPr id="9" name="直线箭头连接符 8"/>
          <p:cNvCxnSpPr/>
          <p:nvPr/>
        </p:nvCxnSpPr>
        <p:spPr>
          <a:xfrm>
            <a:off x="2533860" y="1896065"/>
            <a:ext cx="0" cy="5105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475491" y="3789965"/>
            <a:ext cx="2950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_</a:t>
            </a:r>
            <a:r>
              <a:rPr kumimoji="1" lang="en-US" altLang="zh-CN" sz="2400" dirty="0" err="1"/>
              <a:t>dl_runtime_resolve</a:t>
            </a:r>
            <a:endParaRPr kumimoji="1" lang="zh-CN" altLang="en-US" sz="2400" dirty="0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2533860" y="3351662"/>
            <a:ext cx="0" cy="5105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814805" y="4003447"/>
            <a:ext cx="3623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 smtClean="0"/>
              <a:t>printf@got</a:t>
            </a:r>
            <a:r>
              <a:rPr kumimoji="1" lang="en-US" altLang="zh-CN" dirty="0" smtClean="0"/>
              <a:t>: </a:t>
            </a:r>
            <a:r>
              <a:rPr kumimoji="1" lang="en-US" altLang="zh-CN" b="1" dirty="0" err="1" smtClean="0">
                <a:solidFill>
                  <a:srgbClr val="FF0000"/>
                </a:solidFill>
              </a:rPr>
              <a:t>printf</a:t>
            </a:r>
            <a:r>
              <a:rPr kumimoji="1" lang="en-US" altLang="zh-CN" b="1" dirty="0" smtClean="0">
                <a:solidFill>
                  <a:srgbClr val="FF0000"/>
                </a:solidFill>
              </a:rPr>
              <a:t> address in </a:t>
            </a:r>
            <a:r>
              <a:rPr kumimoji="1" lang="en-US" altLang="zh-CN" b="1" dirty="0" err="1" smtClean="0">
                <a:solidFill>
                  <a:srgbClr val="FF0000"/>
                </a:solidFill>
              </a:rPr>
              <a:t>libc</a:t>
            </a:r>
            <a:endParaRPr kumimoji="1" lang="en-US" altLang="zh-CN" b="1" dirty="0" smtClean="0">
              <a:solidFill>
                <a:srgbClr val="FF0000"/>
              </a:solidFill>
            </a:endParaRPr>
          </a:p>
          <a:p>
            <a:r>
              <a:rPr kumimoji="1" lang="en-US" altLang="zh-CN" dirty="0" err="1" smtClean="0"/>
              <a:t>read@got</a:t>
            </a:r>
            <a:r>
              <a:rPr kumimoji="1" lang="en-US" altLang="zh-CN" dirty="0" smtClean="0"/>
              <a:t>: </a:t>
            </a:r>
            <a:r>
              <a:rPr kumimoji="1" lang="en-US" altLang="zh-CN" dirty="0" err="1" smtClean="0"/>
              <a:t>init_read_got</a:t>
            </a:r>
            <a:endParaRPr kumimoji="1" lang="en-US" altLang="zh-CN" dirty="0"/>
          </a:p>
          <a:p>
            <a:r>
              <a:rPr kumimoji="1" lang="en-US" altLang="zh-CN" dirty="0" err="1" smtClean="0"/>
              <a:t>write@got</a:t>
            </a:r>
            <a:r>
              <a:rPr kumimoji="1" lang="en-US" altLang="zh-CN" dirty="0" smtClean="0"/>
              <a:t>: </a:t>
            </a:r>
            <a:r>
              <a:rPr kumimoji="1" lang="en-US" altLang="zh-CN" dirty="0" err="1"/>
              <a:t>init_write_got</a:t>
            </a:r>
            <a:endParaRPr kumimoji="1" lang="en-US" altLang="zh-CN" dirty="0"/>
          </a:p>
          <a:p>
            <a:r>
              <a:rPr kumimoji="1" lang="en-US" altLang="zh-CN" dirty="0" smtClean="0"/>
              <a:t>…</a:t>
            </a:r>
            <a:endParaRPr kumimoji="1" lang="en-US" altLang="zh-CN" dirty="0"/>
          </a:p>
        </p:txBody>
      </p:sp>
      <p:cxnSp>
        <p:nvCxnSpPr>
          <p:cNvPr id="15" name="直线箭头连接符 14"/>
          <p:cNvCxnSpPr/>
          <p:nvPr/>
        </p:nvCxnSpPr>
        <p:spPr>
          <a:xfrm>
            <a:off x="2533860" y="4462406"/>
            <a:ext cx="0" cy="5105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475491" y="4972943"/>
            <a:ext cx="2950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/>
              <a:t>printf</a:t>
            </a:r>
            <a:r>
              <a:rPr kumimoji="1" lang="en-US" altLang="zh-CN" sz="2400" dirty="0" smtClean="0"/>
              <a:t> in </a:t>
            </a:r>
            <a:r>
              <a:rPr kumimoji="1" lang="en-US" altLang="zh-CN" sz="2400" dirty="0" err="1" smtClean="0"/>
              <a:t>libc</a:t>
            </a:r>
            <a:endParaRPr kumimoji="1" lang="zh-CN" altLang="en-US" sz="2400" dirty="0"/>
          </a:p>
        </p:txBody>
      </p:sp>
      <p:cxnSp>
        <p:nvCxnSpPr>
          <p:cNvPr id="18" name="直线箭头连接符 17"/>
          <p:cNvCxnSpPr/>
          <p:nvPr/>
        </p:nvCxnSpPr>
        <p:spPr>
          <a:xfrm>
            <a:off x="4245929" y="4159297"/>
            <a:ext cx="1568876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ROP Demo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ropasaurusrex</a:t>
            </a:r>
            <a:r>
              <a:rPr kumimoji="1" lang="en-US" altLang="zh-CN" dirty="0"/>
              <a:t>(</a:t>
            </a:r>
            <a:r>
              <a:rPr kumimoji="1" lang="en-US" altLang="zh-CN" dirty="0" err="1" smtClean="0"/>
              <a:t>PlaidCTF</a:t>
            </a:r>
            <a:r>
              <a:rPr kumimoji="1" lang="en-US" altLang="zh-CN" dirty="0" smtClean="0"/>
              <a:t> 2013)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959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return-to-</a:t>
            </a:r>
            <a:r>
              <a:rPr kumimoji="1" lang="en-US" altLang="zh-CN" dirty="0" err="1" smtClean="0"/>
              <a:t>libc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2446436" y="2280657"/>
            <a:ext cx="1797756" cy="1779030"/>
            <a:chOff x="4673006" y="4816833"/>
            <a:chExt cx="2897738" cy="1779030"/>
          </a:xfrm>
        </p:grpSpPr>
        <p:sp>
          <p:nvSpPr>
            <p:cNvPr id="5" name="矩形 4"/>
            <p:cNvSpPr/>
            <p:nvPr/>
          </p:nvSpPr>
          <p:spPr>
            <a:xfrm>
              <a:off x="4673006" y="624828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padding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673006" y="589055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s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ystem()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673006" y="553068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e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xit()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673006" y="5172948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"/bin/</a:t>
              </a:r>
              <a:r>
                <a:rPr kumimoji="1" lang="en-US" altLang="zh-CN" dirty="0" err="1">
                  <a:solidFill>
                    <a:schemeClr val="tx1"/>
                  </a:solidFill>
                </a:rPr>
                <a:t>sh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"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673006" y="4816833"/>
              <a:ext cx="2897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0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958433" y="2959759"/>
            <a:ext cx="1042858" cy="345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zh-CN" dirty="0" err="1" smtClean="0">
                <a:solidFill>
                  <a:schemeClr val="tx1"/>
                </a:solidFill>
              </a:rPr>
              <a:t>esp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/>
          <p:cNvCxnSpPr/>
          <p:nvPr/>
        </p:nvCxnSpPr>
        <p:spPr>
          <a:xfrm flipH="1">
            <a:off x="4457030" y="3170546"/>
            <a:ext cx="48490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98964" y="2173973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高地址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98964" y="3875021"/>
            <a:ext cx="1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低地址</a:t>
            </a:r>
            <a:endParaRPr kumimoji="1" lang="zh-CN" altLang="en-US" dirty="0"/>
          </a:p>
        </p:txBody>
      </p:sp>
      <p:cxnSp>
        <p:nvCxnSpPr>
          <p:cNvPr id="14" name="直线箭头连接符 13"/>
          <p:cNvCxnSpPr/>
          <p:nvPr/>
        </p:nvCxnSpPr>
        <p:spPr>
          <a:xfrm flipV="1">
            <a:off x="3446376" y="4059687"/>
            <a:ext cx="0" cy="31830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900527" y="4400984"/>
            <a:ext cx="1091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/>
              <a:t>入栈方向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05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chaining multiple </a:t>
            </a:r>
            <a:r>
              <a:rPr kumimoji="1" lang="en-US" altLang="zh-CN" dirty="0" err="1" smtClean="0"/>
              <a:t>libc</a:t>
            </a:r>
            <a:r>
              <a:rPr kumimoji="1" lang="en-US" altLang="zh-CN" dirty="0" smtClean="0"/>
              <a:t> call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2873142" y="2351083"/>
            <a:ext cx="2897738" cy="3568979"/>
            <a:chOff x="1928262" y="2254283"/>
            <a:chExt cx="1881738" cy="3568979"/>
          </a:xfrm>
        </p:grpSpPr>
        <p:sp>
          <p:nvSpPr>
            <p:cNvPr id="5" name="矩形 4"/>
            <p:cNvSpPr/>
            <p:nvPr/>
          </p:nvSpPr>
          <p:spPr>
            <a:xfrm>
              <a:off x="1928262" y="5475687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read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928262" y="5117952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rgbClr val="FF0000"/>
                  </a:solidFill>
                </a:rPr>
                <a:t>pop3ret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928262" y="4758082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>
                  <a:solidFill>
                    <a:schemeClr val="tx1"/>
                  </a:solidFill>
                </a:rPr>
                <a:t>i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nt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fd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=0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928262" y="4400347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c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har*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buf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928262" y="4044232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>
                  <a:solidFill>
                    <a:schemeClr val="tx1"/>
                  </a:solidFill>
                </a:rPr>
                <a:t>i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nt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len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928262" y="3684522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write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928262" y="3326787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rgbClr val="FF0000"/>
                  </a:solidFill>
                </a:rPr>
                <a:t>pop3ret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928262" y="2971888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 smtClean="0">
                  <a:solidFill>
                    <a:schemeClr val="tx1"/>
                  </a:solidFill>
                </a:rPr>
                <a:t>int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fd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=1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928262" y="2614153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char*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buf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928262" y="2254283"/>
              <a:ext cx="1881738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 smtClean="0">
                  <a:solidFill>
                    <a:schemeClr val="tx1"/>
                  </a:solidFill>
                </a:rPr>
                <a:t>int</a:t>
              </a:r>
              <a:r>
                <a:rPr kumimoji="1" lang="en-US" altLang="zh-CN" dirty="0" smtClean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len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90160" y="1417638"/>
            <a:ext cx="8229600" cy="58477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read(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int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 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fd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, char *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buf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, 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int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 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len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);</a:t>
            </a:r>
          </a:p>
          <a:p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write(char *path, char *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argv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[], char *</a:t>
            </a:r>
            <a:r>
              <a:rPr kumimoji="1" lang="en-US" altLang="zh-CN" sz="1600" dirty="0" err="1" smtClean="0">
                <a:solidFill>
                  <a:srgbClr val="000000"/>
                </a:solidFill>
                <a:latin typeface="Menlo Regular"/>
                <a:cs typeface="Menlo Regular"/>
              </a:rPr>
              <a:t>envp</a:t>
            </a:r>
            <a:r>
              <a:rPr kumimoji="1" lang="en-US" altLang="zh-CN" sz="1600" dirty="0" smtClean="0">
                <a:solidFill>
                  <a:srgbClr val="000000"/>
                </a:solidFill>
                <a:latin typeface="Menlo Regular"/>
                <a:cs typeface="Menlo Regular"/>
              </a:rPr>
              <a:t>[]);</a:t>
            </a:r>
            <a:endParaRPr kumimoji="1" lang="en-US" altLang="zh-CN" sz="1600" dirty="0">
              <a:solidFill>
                <a:srgbClr val="000000"/>
              </a:solidFill>
              <a:latin typeface="Menlo Regular"/>
              <a:cs typeface="Menl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511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内存分布</a:t>
            </a:r>
            <a:r>
              <a:rPr kumimoji="1" lang="en-US" altLang="zh-CN" sz="2400" dirty="0" smtClean="0">
                <a:solidFill>
                  <a:srgbClr val="000000"/>
                </a:solidFill>
              </a:rPr>
              <a:t>(Linux X86)</a:t>
            </a:r>
            <a:endParaRPr kumimoji="1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kumimoji="1" lang="zh-CN" altLang="en-US" dirty="0" smtClean="0">
                <a:solidFill>
                  <a:srgbClr val="000000"/>
                </a:solidFill>
              </a:rPr>
              <a:t>栈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共享库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zh-CN" altLang="en-US" dirty="0" smtClean="0">
                <a:solidFill>
                  <a:srgbClr val="000000"/>
                </a:solidFill>
              </a:rPr>
              <a:t>堆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Data(Global/Static)</a:t>
            </a:r>
          </a:p>
          <a:p>
            <a:r>
              <a:rPr kumimoji="1" lang="en-US" altLang="zh-CN" dirty="0" smtClean="0">
                <a:solidFill>
                  <a:srgbClr val="000000"/>
                </a:solidFill>
              </a:rPr>
              <a:t>Text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78957"/>
              </p:ext>
            </p:extLst>
          </p:nvPr>
        </p:nvGraphicFramePr>
        <p:xfrm>
          <a:off x="5079226" y="1322168"/>
          <a:ext cx="1406958" cy="4856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958"/>
              </a:tblGrid>
              <a:tr h="311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FFFFFF"/>
                          </a:solidFill>
                        </a:rPr>
                        <a:t>For </a:t>
                      </a:r>
                      <a:r>
                        <a:rPr lang="en-US" altLang="zh-CN" dirty="0" err="1" smtClean="0">
                          <a:solidFill>
                            <a:srgbClr val="FFFFFF"/>
                          </a:solidFill>
                        </a:rPr>
                        <a:t>Kernal</a:t>
                      </a:r>
                      <a:endParaRPr lang="zh-CN" altLang="en-US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shared libraries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86949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81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Heap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zh-CN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F9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1"/>
                          </a:solidFill>
                        </a:rPr>
                        <a:t>Unused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4" name="直线箭头连接符 23"/>
          <p:cNvCxnSpPr/>
          <p:nvPr/>
        </p:nvCxnSpPr>
        <p:spPr>
          <a:xfrm flipV="1">
            <a:off x="5773398" y="3978678"/>
            <a:ext cx="0" cy="511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5773398" y="2126379"/>
            <a:ext cx="0" cy="5307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94367" y="153101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0xC0000000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7" name="直线箭头连接符 26"/>
          <p:cNvCxnSpPr/>
          <p:nvPr/>
        </p:nvCxnSpPr>
        <p:spPr>
          <a:xfrm flipH="1">
            <a:off x="6486691" y="1686363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000240" y="3467324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0x40000000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29" name="直线箭头连接符 28"/>
          <p:cNvCxnSpPr/>
          <p:nvPr/>
        </p:nvCxnSpPr>
        <p:spPr>
          <a:xfrm flipH="1">
            <a:off x="6481965" y="3618327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010400" y="602555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0x00000000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1" name="直线箭头连接符 30"/>
          <p:cNvCxnSpPr/>
          <p:nvPr/>
        </p:nvCxnSpPr>
        <p:spPr>
          <a:xfrm flipH="1">
            <a:off x="6486218" y="617656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009099" y="5664897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0x08048000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3" name="直线箭头连接符 32"/>
          <p:cNvCxnSpPr/>
          <p:nvPr/>
        </p:nvCxnSpPr>
        <p:spPr>
          <a:xfrm flipH="1">
            <a:off x="6484917" y="5815900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997347" y="1167918"/>
            <a:ext cx="1453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solidFill>
                  <a:srgbClr val="000000"/>
                </a:solidFill>
                <a:latin typeface="Verdana"/>
                <a:cs typeface="Verdana"/>
              </a:rPr>
              <a:t>0xFFFFFFFF</a:t>
            </a:r>
            <a:endParaRPr kumimoji="1" lang="zh-CN" altLang="en-US" sz="1400" dirty="0">
              <a:solidFill>
                <a:srgbClr val="000000"/>
              </a:solidFill>
              <a:latin typeface="Verdana"/>
              <a:cs typeface="Verdana"/>
            </a:endParaRPr>
          </a:p>
        </p:txBody>
      </p:sp>
      <p:cxnSp>
        <p:nvCxnSpPr>
          <p:cNvPr id="35" name="直线箭头连接符 34"/>
          <p:cNvCxnSpPr/>
          <p:nvPr/>
        </p:nvCxnSpPr>
        <p:spPr>
          <a:xfrm flipH="1">
            <a:off x="6489671" y="1323264"/>
            <a:ext cx="51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016102" y="1889416"/>
            <a:ext cx="79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00"/>
                </a:solidFill>
              </a:rPr>
              <a:t>%</a:t>
            </a:r>
            <a:r>
              <a:rPr lang="en-US" altLang="zh-CN" dirty="0" err="1" smtClean="0">
                <a:solidFill>
                  <a:srgbClr val="000000"/>
                </a:solidFill>
              </a:rPr>
              <a:t>esp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4647831" y="2114186"/>
            <a:ext cx="43788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左大括号 5"/>
          <p:cNvSpPr/>
          <p:nvPr/>
        </p:nvSpPr>
        <p:spPr>
          <a:xfrm>
            <a:off x="4846659" y="5191717"/>
            <a:ext cx="172315" cy="4731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150205" y="4562900"/>
            <a:ext cx="1472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地址随机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39" name="直线箭头连接符 38"/>
          <p:cNvCxnSpPr/>
          <p:nvPr/>
        </p:nvCxnSpPr>
        <p:spPr>
          <a:xfrm flipH="1">
            <a:off x="4663258" y="1889416"/>
            <a:ext cx="4313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150205" y="5191717"/>
            <a:ext cx="1472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地址随机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146743" y="1600200"/>
            <a:ext cx="1472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</a:rPr>
              <a:t>地址随机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3" name="直线箭头连接符 42"/>
          <p:cNvCxnSpPr/>
          <p:nvPr/>
        </p:nvCxnSpPr>
        <p:spPr>
          <a:xfrm flipH="1">
            <a:off x="4647830" y="4793733"/>
            <a:ext cx="4313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内存地址空间布局随机化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 smtClean="0"/>
              <a:t>历史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ASLR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Pax</a:t>
            </a:r>
            <a:r>
              <a:rPr kumimoji="1" lang="zh-CN" altLang="en-US" dirty="0"/>
              <a:t>研究组</a:t>
            </a:r>
            <a:r>
              <a:rPr kumimoji="1" lang="en-US" altLang="zh-CN" dirty="0" smtClean="0"/>
              <a:t>，2001</a:t>
            </a:r>
            <a:r>
              <a:rPr kumimoji="1" lang="zh-CN" altLang="en-US" dirty="0" smtClean="0"/>
              <a:t>应用栈，</a:t>
            </a:r>
            <a:r>
              <a:rPr kumimoji="1" lang="en-US" altLang="zh-CN" dirty="0"/>
              <a:t>2002</a:t>
            </a:r>
            <a:r>
              <a:rPr kumimoji="1" lang="zh-CN" altLang="en-US" dirty="0"/>
              <a:t>内核栈，</a:t>
            </a:r>
            <a:r>
              <a:rPr kumimoji="1" lang="en-US" altLang="zh-CN" dirty="0"/>
              <a:t>2003</a:t>
            </a:r>
            <a:r>
              <a:rPr kumimoji="1" lang="zh-CN" altLang="en-US" dirty="0"/>
              <a:t>堆）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Return-to-PLT</a:t>
            </a:r>
            <a:r>
              <a:rPr kumimoji="1" lang="zh-CN" altLang="en-US" dirty="0"/>
              <a:t>（</a:t>
            </a:r>
            <a:r>
              <a:rPr kumimoji="1" lang="en-US" altLang="zh-CN" dirty="0"/>
              <a:t>2001</a:t>
            </a:r>
            <a:r>
              <a:rPr kumimoji="1" lang="zh-CN" altLang="en-US" dirty="0" smtClean="0"/>
              <a:t>）：绕过</a:t>
            </a:r>
            <a:r>
              <a:rPr kumimoji="1" lang="en-US" altLang="zh-CN" dirty="0" err="1" smtClean="0"/>
              <a:t>libc</a:t>
            </a:r>
            <a:r>
              <a:rPr kumimoji="1" lang="zh-CN" altLang="en-US" dirty="0" smtClean="0"/>
              <a:t>加载随机化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PIE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Pax</a:t>
            </a:r>
            <a:r>
              <a:rPr kumimoji="1" lang="zh-CN" altLang="en-US" dirty="0"/>
              <a:t>研究组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绕过技术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随机化程度不高（例如</a:t>
            </a:r>
            <a:r>
              <a:rPr kumimoji="1" lang="en-US" altLang="zh-CN" dirty="0" smtClean="0"/>
              <a:t>X86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Linux</a:t>
            </a:r>
            <a:r>
              <a:rPr kumimoji="1" lang="zh-CN" altLang="en-US" dirty="0" smtClean="0"/>
              <a:t>），暴力破解</a:t>
            </a:r>
            <a:endParaRPr kumimoji="1" lang="en-US" altLang="zh-CN" dirty="0" smtClean="0"/>
          </a:p>
          <a:p>
            <a:pPr lvl="3"/>
            <a:r>
              <a:rPr kumimoji="1" lang="zh-CN" altLang="en-US" dirty="0" smtClean="0"/>
              <a:t>随机化粒度：</a:t>
            </a:r>
            <a:r>
              <a:rPr kumimoji="1" lang="en-US" altLang="zh-CN" dirty="0" smtClean="0"/>
              <a:t>0x1000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byte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0xf7YYY</a:t>
            </a:r>
            <a:r>
              <a:rPr kumimoji="1" lang="en-US" altLang="zh-CN" dirty="0" smtClean="0">
                <a:solidFill>
                  <a:srgbClr val="FF0000"/>
                </a:solidFill>
              </a:rPr>
              <a:t>XXX</a:t>
            </a:r>
          </a:p>
          <a:p>
            <a:pPr lvl="2"/>
            <a:r>
              <a:rPr kumimoji="1" lang="zh-CN" altLang="en-US" dirty="0" smtClean="0"/>
              <a:t>长</a:t>
            </a:r>
            <a:r>
              <a:rPr kumimoji="1" lang="en-US" altLang="zh-CN" dirty="0" err="1" smtClean="0"/>
              <a:t>shellcode</a:t>
            </a:r>
            <a:r>
              <a:rPr kumimoji="1" lang="zh-CN" altLang="en-US" dirty="0" smtClean="0"/>
              <a:t>提高命中率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信息泄露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ulimit</a:t>
            </a:r>
            <a:r>
              <a:rPr kumimoji="1" lang="en-US" altLang="zh-CN" dirty="0" smtClean="0"/>
              <a:t> -s </a:t>
            </a:r>
            <a:r>
              <a:rPr kumimoji="1" lang="en-US" altLang="zh-CN" dirty="0" err="1" smtClean="0"/>
              <a:t>unimited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390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ROP Demo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Get Remote Shell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37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控制数据完整性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控制数据完整性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函数返回地</a:t>
            </a:r>
            <a:r>
              <a:rPr kumimoji="1" lang="zh-CN" altLang="en-US" dirty="0" smtClean="0"/>
              <a:t>址的篡改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StackGuard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1997</a:t>
            </a:r>
            <a:r>
              <a:rPr kumimoji="1" lang="zh-CN" altLang="en-US" dirty="0" smtClean="0"/>
              <a:t>）：栈上放置</a:t>
            </a:r>
            <a:r>
              <a:rPr kumimoji="1" lang="en-US" altLang="zh-CN" dirty="0" smtClean="0"/>
              <a:t>Canary</a:t>
            </a:r>
          </a:p>
          <a:p>
            <a:pPr lvl="2"/>
            <a:r>
              <a:rPr kumimoji="1" lang="en-US" altLang="zh-CN" dirty="0" smtClean="0"/>
              <a:t>GCC</a:t>
            </a:r>
            <a:r>
              <a:rPr kumimoji="1" lang="zh-CN" altLang="en-US" dirty="0" smtClean="0"/>
              <a:t> </a:t>
            </a:r>
            <a:r>
              <a:rPr lang="en-US" altLang="zh-CN" dirty="0"/>
              <a:t>-</a:t>
            </a:r>
            <a:r>
              <a:rPr lang="en-US" altLang="zh-CN" dirty="0" err="1"/>
              <a:t>fstack</a:t>
            </a:r>
            <a:r>
              <a:rPr lang="en-US" altLang="zh-CN" dirty="0"/>
              <a:t>-protector </a:t>
            </a:r>
            <a:r>
              <a:rPr lang="zh-CN" altLang="zh-CN" dirty="0" smtClean="0"/>
              <a:t>、</a:t>
            </a:r>
            <a:r>
              <a:rPr lang="en-US" altLang="zh-CN" dirty="0" smtClean="0"/>
              <a:t>VC</a:t>
            </a:r>
            <a:r>
              <a:rPr lang="zh-CN" altLang="en-US" dirty="0" smtClean="0"/>
              <a:t> </a:t>
            </a:r>
            <a:r>
              <a:rPr lang="en-US" altLang="zh-CN" dirty="0" smtClean="0"/>
              <a:t>/GS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异常处理</a:t>
            </a:r>
            <a:r>
              <a:rPr kumimoji="1" lang="zh-CN" altLang="en-US" dirty="0" smtClean="0"/>
              <a:t>器的篡改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SafeSEH（2003</a:t>
            </a:r>
            <a:r>
              <a:rPr kumimoji="1" lang="zh-CN" altLang="en-US" dirty="0" smtClean="0"/>
              <a:t>）</a:t>
            </a:r>
            <a:r>
              <a:rPr kumimoji="1" lang="en-US" altLang="zh-CN" dirty="0"/>
              <a:t>SEHOP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2006</a:t>
            </a:r>
            <a:r>
              <a:rPr kumimoji="1" lang="zh-CN" altLang="en-US" dirty="0"/>
              <a:t>）</a:t>
            </a:r>
            <a:r>
              <a:rPr kumimoji="1" lang="zh-CN" altLang="en-US" dirty="0" smtClean="0"/>
              <a:t>：对</a:t>
            </a:r>
            <a:r>
              <a:rPr kumimoji="1" lang="en-US" altLang="zh-CN" dirty="0" smtClean="0"/>
              <a:t>SHE</a:t>
            </a:r>
            <a:r>
              <a:rPr kumimoji="1" lang="zh-CN" altLang="en-US" dirty="0" smtClean="0"/>
              <a:t>结构做严格的检查</a:t>
            </a:r>
          </a:p>
          <a:p>
            <a:pPr lvl="1"/>
            <a:r>
              <a:rPr kumimoji="1" lang="zh-CN" altLang="en-US" dirty="0" smtClean="0"/>
              <a:t>函数指针的篡改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PointGuard（2003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</p:txBody>
      </p:sp>
      <p:grpSp>
        <p:nvGrpSpPr>
          <p:cNvPr id="8" name="组 7"/>
          <p:cNvGrpSpPr/>
          <p:nvPr/>
        </p:nvGrpSpPr>
        <p:grpSpPr>
          <a:xfrm>
            <a:off x="6039391" y="1618969"/>
            <a:ext cx="2812226" cy="2011798"/>
            <a:chOff x="5424768" y="1901785"/>
            <a:chExt cx="2812226" cy="2011798"/>
          </a:xfrm>
        </p:grpSpPr>
        <p:sp>
          <p:nvSpPr>
            <p:cNvPr id="4" name="矩形 3"/>
            <p:cNvSpPr/>
            <p:nvPr/>
          </p:nvSpPr>
          <p:spPr>
            <a:xfrm>
              <a:off x="6439238" y="3303704"/>
              <a:ext cx="1797756" cy="6098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buffer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439238" y="2945969"/>
              <a:ext cx="1797756" cy="347575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canary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439238" y="2257900"/>
              <a:ext cx="1797756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 smtClean="0">
                  <a:solidFill>
                    <a:schemeClr val="tx1"/>
                  </a:solidFill>
                </a:rPr>
                <a:t>返回地址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439238" y="1901785"/>
              <a:ext cx="1797756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 smtClean="0">
                  <a:solidFill>
                    <a:schemeClr val="tx1"/>
                  </a:solidFill>
                </a:rPr>
                <a:t>参数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439238" y="2605475"/>
              <a:ext cx="1797756" cy="3475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>
                  <a:solidFill>
                    <a:schemeClr val="tx1"/>
                  </a:solidFill>
                </a:rPr>
                <a:t>Saved</a:t>
              </a:r>
              <a:r>
                <a:rPr kumimoji="1" lang="zh-CN" altLang="en-US" dirty="0" smtClean="0">
                  <a:solidFill>
                    <a:schemeClr val="tx1"/>
                  </a:solidFill>
                </a:rPr>
                <a:t> </a:t>
              </a:r>
              <a:r>
                <a:rPr kumimoji="1" lang="en-US" altLang="zh-CN" dirty="0" err="1" smtClean="0">
                  <a:solidFill>
                    <a:schemeClr val="tx1"/>
                  </a:solidFill>
                </a:rPr>
                <a:t>ebp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424768" y="1921301"/>
              <a:ext cx="898878" cy="3390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 smtClean="0">
                  <a:solidFill>
                    <a:schemeClr val="tx1"/>
                  </a:solidFill>
                </a:rPr>
                <a:t>高地址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511496" y="3554634"/>
              <a:ext cx="898878" cy="3390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 smtClean="0">
                  <a:solidFill>
                    <a:schemeClr val="tx1"/>
                  </a:solidFill>
                </a:rPr>
                <a:t>低地址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19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控制流完整性（</a:t>
            </a:r>
            <a:r>
              <a:rPr kumimoji="1" lang="en-US" altLang="zh-CN" dirty="0"/>
              <a:t>CFI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 smtClean="0"/>
              <a:t>控制流完整性（</a:t>
            </a:r>
            <a:r>
              <a:rPr kumimoji="1" lang="en-US" altLang="zh-CN" sz="2400" dirty="0" smtClean="0"/>
              <a:t>CFI</a:t>
            </a:r>
            <a:r>
              <a:rPr kumimoji="1" lang="zh-CN" altLang="en-US" sz="2400" dirty="0" smtClean="0"/>
              <a:t>）</a:t>
            </a:r>
            <a:endParaRPr kumimoji="1" lang="en-US" altLang="zh-CN" sz="2400" dirty="0" smtClean="0"/>
          </a:p>
          <a:p>
            <a:pPr lvl="1"/>
            <a:r>
              <a:rPr kumimoji="1" lang="zh-CN" altLang="en-US" sz="2000" dirty="0"/>
              <a:t>思</a:t>
            </a:r>
            <a:r>
              <a:rPr kumimoji="1" lang="zh-CN" altLang="en-US" sz="2000" dirty="0" smtClean="0"/>
              <a:t>路</a:t>
            </a:r>
            <a:endParaRPr kumimoji="1" lang="en-US" altLang="zh-CN" sz="2000" dirty="0" smtClean="0"/>
          </a:p>
          <a:p>
            <a:pPr lvl="2"/>
            <a:r>
              <a:rPr kumimoji="1" lang="en-US" altLang="zh-CN" sz="1800" dirty="0" smtClean="0"/>
              <a:t>ROP</a:t>
            </a:r>
            <a:r>
              <a:rPr kumimoji="1" lang="zh-CN" altLang="en-US" sz="1800" dirty="0"/>
              <a:t>原理是拼接间接跳转（如</a:t>
            </a:r>
            <a:r>
              <a:rPr kumimoji="1" lang="en-US" altLang="zh-CN" sz="1800" dirty="0"/>
              <a:t>ret</a:t>
            </a:r>
            <a:r>
              <a:rPr kumimoji="1" lang="zh-CN" altLang="en-US" sz="1800" dirty="0"/>
              <a:t>）</a:t>
            </a:r>
            <a:r>
              <a:rPr kumimoji="1" lang="zh-CN" altLang="en-US" sz="1800" dirty="0" smtClean="0"/>
              <a:t>的代码片段，设法限制间接跳转指令跳转的地址，杜绝滥用为任意跳转，来保证整个控制流执行都是正常的</a:t>
            </a:r>
            <a:endParaRPr kumimoji="1" lang="en-US" altLang="zh-CN" sz="1800" dirty="0" smtClean="0"/>
          </a:p>
          <a:p>
            <a:pPr lvl="1"/>
            <a:r>
              <a:rPr kumimoji="1" lang="en-US" altLang="zh-CN" sz="2000" dirty="0" smtClean="0"/>
              <a:t>CFI</a:t>
            </a:r>
            <a:r>
              <a:rPr kumimoji="1" lang="zh-CN" altLang="en-US" sz="2000" dirty="0" smtClean="0"/>
              <a:t>具体设计（</a:t>
            </a:r>
            <a:r>
              <a:rPr kumimoji="1" lang="en-US" altLang="zh-CN" sz="2000" dirty="0" err="1" smtClean="0"/>
              <a:t>Abadi</a:t>
            </a:r>
            <a:r>
              <a:rPr kumimoji="1" lang="zh-CN" altLang="en-US" sz="2000" dirty="0"/>
              <a:t> </a:t>
            </a:r>
            <a:r>
              <a:rPr kumimoji="1" lang="en-US" altLang="zh-CN" sz="2000" dirty="0" smtClean="0"/>
              <a:t>2005</a:t>
            </a:r>
            <a:r>
              <a:rPr kumimoji="1" lang="zh-CN" altLang="en-US" sz="2000" dirty="0" smtClean="0"/>
              <a:t>）</a:t>
            </a:r>
            <a:endParaRPr kumimoji="1" lang="en-US" altLang="zh-CN" sz="2000" dirty="0" smtClean="0"/>
          </a:p>
          <a:p>
            <a:pPr lvl="2"/>
            <a:r>
              <a:rPr kumimoji="1" lang="zh-CN" altLang="en-US" sz="1800" dirty="0" smtClean="0"/>
              <a:t>静态构建</a:t>
            </a:r>
            <a:r>
              <a:rPr kumimoji="1" lang="en-US" altLang="zh-CN" sz="1800" dirty="0" smtClean="0"/>
              <a:t>CFG</a:t>
            </a:r>
          </a:p>
          <a:p>
            <a:pPr lvl="2"/>
            <a:r>
              <a:rPr kumimoji="1" lang="zh-CN" altLang="en-US" sz="1800" dirty="0" smtClean="0"/>
              <a:t>二进制重写，在间接跳转指令前后插入检查</a:t>
            </a:r>
            <a:endParaRPr kumimoji="1" lang="en-US" altLang="zh-CN" sz="1800" dirty="0" smtClean="0"/>
          </a:p>
          <a:p>
            <a:pPr lvl="2"/>
            <a:r>
              <a:rPr kumimoji="1" lang="zh-CN" altLang="en-US" sz="1800" dirty="0" smtClean="0"/>
              <a:t>为了降低开销：建议采用</a:t>
            </a:r>
            <a:r>
              <a:rPr kumimoji="1" lang="en-US" altLang="zh-CN" sz="1800" dirty="0" smtClean="0"/>
              <a:t>1-ID</a:t>
            </a:r>
            <a:r>
              <a:rPr kumimoji="1" lang="zh-CN" altLang="en-US" sz="1800" dirty="0" smtClean="0"/>
              <a:t>或者</a:t>
            </a:r>
            <a:r>
              <a:rPr kumimoji="1" lang="en-US" altLang="zh-CN" sz="1800" dirty="0" smtClean="0"/>
              <a:t>2-ID</a:t>
            </a:r>
            <a:r>
              <a:rPr kumimoji="1" lang="zh-CN" altLang="en-US" sz="1800" dirty="0" smtClean="0"/>
              <a:t>方案，</a:t>
            </a:r>
            <a:r>
              <a:rPr kumimoji="1" lang="en-US" altLang="zh-CN" sz="1800" dirty="0" smtClean="0"/>
              <a:t>05</a:t>
            </a:r>
            <a:r>
              <a:rPr kumimoji="1" lang="zh-CN" altLang="en-US" sz="1800" dirty="0" smtClean="0"/>
              <a:t>年实现的额外开销为</a:t>
            </a:r>
            <a:r>
              <a:rPr kumimoji="1" lang="en-US" altLang="zh-CN" sz="1800" dirty="0" smtClean="0"/>
              <a:t>50%+</a:t>
            </a:r>
          </a:p>
          <a:p>
            <a:pPr lvl="1"/>
            <a:endParaRPr kumimoji="1"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007" y="4693207"/>
            <a:ext cx="5301637" cy="190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8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控制流完整性（</a:t>
            </a:r>
            <a:r>
              <a:rPr kumimoji="1" lang="en-US" altLang="zh-CN" dirty="0"/>
              <a:t>CFI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zh-CN" altLang="en-US" dirty="0" smtClean="0"/>
              <a:t>控制流完整性（</a:t>
            </a:r>
            <a:r>
              <a:rPr kumimoji="1" lang="en-US" altLang="zh-CN" dirty="0" smtClean="0"/>
              <a:t>CFI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CFI</a:t>
            </a:r>
            <a:r>
              <a:rPr kumimoji="1" lang="zh-CN" altLang="en-US" dirty="0" smtClean="0"/>
              <a:t>（</a:t>
            </a:r>
            <a:r>
              <a:rPr kumimoji="1" lang="en-US" altLang="zh-CN" dirty="0" err="1" smtClean="0"/>
              <a:t>Abadi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2005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en-US" altLang="zh-CN" dirty="0"/>
              <a:t>1</a:t>
            </a:r>
            <a:r>
              <a:rPr kumimoji="1" lang="en-US" altLang="zh-CN" dirty="0" smtClean="0"/>
              <a:t>-ID/2-ID</a:t>
            </a:r>
          </a:p>
          <a:p>
            <a:pPr lvl="1"/>
            <a:r>
              <a:rPr kumimoji="1" lang="en-US" altLang="zh-CN" dirty="0" smtClean="0"/>
              <a:t>CFI</a:t>
            </a:r>
            <a:r>
              <a:rPr kumimoji="1" lang="zh-CN" altLang="en-US" dirty="0" smtClean="0"/>
              <a:t>最新的研究进展：可部署，开销在</a:t>
            </a:r>
            <a:r>
              <a:rPr kumimoji="1" lang="en-US" altLang="zh-CN" dirty="0" smtClean="0"/>
              <a:t>%5</a:t>
            </a:r>
            <a:r>
              <a:rPr kumimoji="1" lang="zh-CN" altLang="en-US" dirty="0" smtClean="0"/>
              <a:t>上下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CCFIR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Chao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Zhang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2013</a:t>
            </a:r>
            <a:r>
              <a:rPr kumimoji="1" lang="zh-CN" altLang="en-US" dirty="0" smtClean="0"/>
              <a:t>）：</a:t>
            </a:r>
            <a:r>
              <a:rPr kumimoji="1" lang="en-US" altLang="zh-CN" dirty="0" smtClean="0"/>
              <a:t>Windows</a:t>
            </a:r>
          </a:p>
          <a:p>
            <a:pPr lvl="3"/>
            <a:r>
              <a:rPr kumimoji="1" lang="en-US" altLang="zh-CN" dirty="0" smtClean="0"/>
              <a:t>3-ID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call &amp; jump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normal ret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sensitive API ret</a:t>
            </a:r>
          </a:p>
          <a:p>
            <a:pPr lvl="3"/>
            <a:r>
              <a:rPr kumimoji="1" lang="en-US" altLang="zh-CN" dirty="0" err="1" smtClean="0"/>
              <a:t>SpringBoard</a:t>
            </a:r>
            <a:r>
              <a:rPr kumimoji="1" lang="en-US" altLang="zh-CN" dirty="0" smtClean="0"/>
              <a:t> Memory</a:t>
            </a:r>
          </a:p>
          <a:p>
            <a:pPr lvl="2"/>
            <a:r>
              <a:rPr kumimoji="1" lang="en-US" altLang="zh-CN" dirty="0"/>
              <a:t>b</a:t>
            </a:r>
            <a:r>
              <a:rPr kumimoji="1" lang="en-US" altLang="zh-CN" dirty="0" smtClean="0"/>
              <a:t>in-CFI</a:t>
            </a:r>
            <a:r>
              <a:rPr kumimoji="1" lang="zh-CN" altLang="en-US" dirty="0" smtClean="0"/>
              <a:t>（</a:t>
            </a:r>
            <a:r>
              <a:rPr kumimoji="1" lang="en-US" altLang="zh-CN" dirty="0" err="1" smtClean="0"/>
              <a:t>Mingwei</a:t>
            </a:r>
            <a:r>
              <a:rPr kumimoji="1" lang="en-US" altLang="zh-CN" dirty="0" smtClean="0"/>
              <a:t> Zhang 2013</a:t>
            </a:r>
            <a:r>
              <a:rPr kumimoji="1" lang="zh-CN" altLang="en-US" dirty="0" smtClean="0"/>
              <a:t>）：</a:t>
            </a:r>
            <a:r>
              <a:rPr kumimoji="1" lang="en-US" altLang="zh-CN" dirty="0" smtClean="0"/>
              <a:t>Linux</a:t>
            </a:r>
          </a:p>
          <a:p>
            <a:pPr lvl="3"/>
            <a:r>
              <a:rPr kumimoji="1" lang="en-US" altLang="zh-CN" dirty="0" smtClean="0"/>
              <a:t>2-ID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call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ret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&amp;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jmp</a:t>
            </a:r>
            <a:endParaRPr kumimoji="1" lang="en-US" altLang="zh-CN" dirty="0" smtClean="0"/>
          </a:p>
          <a:p>
            <a:r>
              <a:rPr kumimoji="1" lang="zh-CN" altLang="en-US" dirty="0" smtClean="0"/>
              <a:t>突破松散的</a:t>
            </a:r>
            <a:r>
              <a:rPr kumimoji="1" lang="en-US" altLang="zh-CN" dirty="0" smtClean="0"/>
              <a:t>CFI</a:t>
            </a:r>
          </a:p>
          <a:p>
            <a:pPr lvl="1"/>
            <a:r>
              <a:rPr kumimoji="1" lang="en-US" altLang="zh-CN" dirty="0" err="1" smtClean="0"/>
              <a:t>Oot</a:t>
            </a:r>
            <a:r>
              <a:rPr kumimoji="1" lang="en-US" altLang="zh-CN" dirty="0" smtClean="0"/>
              <a:t> of </a:t>
            </a:r>
            <a:r>
              <a:rPr kumimoji="1" lang="en-US" altLang="zh-CN" dirty="0" err="1" smtClean="0"/>
              <a:t>control（Enes</a:t>
            </a:r>
            <a:r>
              <a:rPr kumimoji="1" lang="en-US" altLang="zh-CN" dirty="0"/>
              <a:t> </a:t>
            </a:r>
            <a:r>
              <a:rPr kumimoji="1" lang="en-US" altLang="zh-CN" dirty="0" smtClean="0"/>
              <a:t>2014）</a:t>
            </a:r>
          </a:p>
          <a:p>
            <a:pPr lvl="2"/>
            <a:r>
              <a:rPr kumimoji="1" lang="en-US" altLang="zh-CN" dirty="0" smtClean="0"/>
              <a:t>Call-site gadget</a:t>
            </a:r>
          </a:p>
          <a:p>
            <a:pPr lvl="2"/>
            <a:r>
              <a:rPr kumimoji="1" lang="en-US" altLang="zh-CN" dirty="0" smtClean="0"/>
              <a:t>Entry-point gadget</a:t>
            </a:r>
          </a:p>
          <a:p>
            <a:pPr lvl="1"/>
            <a:r>
              <a:rPr kumimoji="1" lang="en-US" altLang="zh-CN" dirty="0"/>
              <a:t>ROP is Still </a:t>
            </a:r>
            <a:r>
              <a:rPr kumimoji="1" lang="en-US" altLang="zh-CN" dirty="0" smtClean="0"/>
              <a:t>Dangerous</a:t>
            </a:r>
            <a:r>
              <a:rPr kumimoji="1" lang="zh-CN" altLang="en-US" dirty="0" smtClean="0"/>
              <a:t>（</a:t>
            </a:r>
            <a:r>
              <a:rPr kumimoji="1" lang="en-US" altLang="zh-CN" dirty="0"/>
              <a:t>Nicholas </a:t>
            </a:r>
            <a:r>
              <a:rPr kumimoji="1" lang="en-US" altLang="zh-CN" dirty="0" err="1" smtClean="0"/>
              <a:t>Carlini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2014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Call-Preceded gadget</a:t>
            </a:r>
          </a:p>
          <a:p>
            <a:pPr lvl="2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197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4205</TotalTime>
  <Words>737</Words>
  <Application>Microsoft Macintosh PowerPoint</Application>
  <PresentationFormat>On-screen Show (4:3)</PresentationFormat>
  <Paragraphs>214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Menlo Regular</vt:lpstr>
      <vt:lpstr>Verdana</vt:lpstr>
      <vt:lpstr>宋体</vt:lpstr>
      <vt:lpstr>Office 主题</vt:lpstr>
      <vt:lpstr>软件安全2</vt:lpstr>
      <vt:lpstr>如何防止栈溢出利用？</vt:lpstr>
      <vt:lpstr>防御思路</vt:lpstr>
      <vt:lpstr>内存分布(Linux X86)</vt:lpstr>
      <vt:lpstr>数据执行保护（NX/DEP）</vt:lpstr>
      <vt:lpstr>Return to Libc</vt:lpstr>
      <vt:lpstr>Return to Libc</vt:lpstr>
      <vt:lpstr>Return to Libc</vt:lpstr>
      <vt:lpstr>ROP（Return Oriented Programming）</vt:lpstr>
      <vt:lpstr>Dynamic Linking</vt:lpstr>
      <vt:lpstr>Dynamic Linking</vt:lpstr>
      <vt:lpstr>ROP Demo</vt:lpstr>
      <vt:lpstr>return-to-libc</vt:lpstr>
      <vt:lpstr>chaining multiple libc call</vt:lpstr>
      <vt:lpstr>内存分布(Linux X86)</vt:lpstr>
      <vt:lpstr>内存地址空间布局随机化</vt:lpstr>
      <vt:lpstr>ROP Demo</vt:lpstr>
      <vt:lpstr>控制数据完整性</vt:lpstr>
      <vt:lpstr>控制流完整性（CFI）</vt:lpstr>
      <vt:lpstr>控制流完整性（CFI）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二进制程序漏洞挖掘与利用</dc:title>
  <dc:creator>kelwin</dc:creator>
  <cp:lastModifiedBy>Microsoft Office User</cp:lastModifiedBy>
  <cp:revision>125</cp:revision>
  <dcterms:created xsi:type="dcterms:W3CDTF">2014-11-04T07:08:01Z</dcterms:created>
  <dcterms:modified xsi:type="dcterms:W3CDTF">2015-11-11T16:42:36Z</dcterms:modified>
</cp:coreProperties>
</file>