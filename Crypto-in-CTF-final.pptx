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6"/>
  </p:notesMasterIdLst>
  <p:sldIdLst>
    <p:sldId id="256" r:id="rId2"/>
    <p:sldId id="257" r:id="rId3"/>
    <p:sldId id="261" r:id="rId4"/>
    <p:sldId id="288" r:id="rId5"/>
    <p:sldId id="258" r:id="rId6"/>
    <p:sldId id="259" r:id="rId7"/>
    <p:sldId id="260" r:id="rId8"/>
    <p:sldId id="262" r:id="rId9"/>
    <p:sldId id="263" r:id="rId10"/>
    <p:sldId id="285" r:id="rId11"/>
    <p:sldId id="284" r:id="rId12"/>
    <p:sldId id="287" r:id="rId13"/>
    <p:sldId id="286" r:id="rId14"/>
    <p:sldId id="289" r:id="rId15"/>
    <p:sldId id="290" r:id="rId16"/>
    <p:sldId id="291" r:id="rId17"/>
    <p:sldId id="292" r:id="rId18"/>
    <p:sldId id="293" r:id="rId19"/>
    <p:sldId id="264" r:id="rId20"/>
    <p:sldId id="282" r:id="rId21"/>
    <p:sldId id="283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ro" initials="D" lastIdx="3" clrIdx="0">
    <p:extLst>
      <p:ext uri="{19B8F6BF-5375-455C-9EA6-DF929625EA0E}">
        <p15:presenceInfo xmlns:p15="http://schemas.microsoft.com/office/powerpoint/2012/main" userId="Dor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2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3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5-07-27T22:13:42.760" idx="3">
    <p:pos x="3600" y="3500"/>
    <p:text>implement那個attack math model ?</p:text>
    <p:extLst>
      <p:ext uri="{C676402C-5697-4E1C-873F-D02D1690AC5C}">
        <p15:threadingInfo xmlns:p15="http://schemas.microsoft.com/office/powerpoint/2012/main" timeZoneBias="-480"/>
      </p:ext>
    </p:extLst>
  </p:cm>
</p:cmLst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24E6BE-87E0-4E38-A93E-E56D46CD16FE}" type="datetimeFigureOut">
              <a:rPr lang="zh-TW" altLang="en-US" smtClean="0"/>
              <a:t>2015/8/21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E740B8-DFBE-4A5B-8B3B-C833C21E02C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7309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E740B8-DFBE-4A5B-8B3B-C833C21E02C7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3397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52FB3-6E64-4924-A8DC-94ECDAB4B6DD}" type="datetime1">
              <a:rPr lang="zh-TW" altLang="en-US" smtClean="0"/>
              <a:t>2015/8/21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CA74-F608-437A-9D7A-2B8187C59B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2174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75B4-84C0-410D-B84C-1D1EF096E332}" type="datetime1">
              <a:rPr lang="zh-TW" altLang="en-US" smtClean="0"/>
              <a:t>2015/8/21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CA74-F608-437A-9D7A-2B8187C59B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8851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A7369-0319-4343-92EE-EC053BED1352}" type="datetime1">
              <a:rPr lang="zh-TW" altLang="en-US" smtClean="0"/>
              <a:t>2015/8/21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CA74-F608-437A-9D7A-2B8187C59B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6003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8B00E-0C9D-48C5-A759-7B76C175A274}" type="datetime1">
              <a:rPr lang="zh-TW" altLang="en-US" smtClean="0"/>
              <a:t>2015/8/21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CA74-F608-437A-9D7A-2B8187C59B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4787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38C3F-8CB2-4324-96A1-8D5E312333CD}" type="datetime1">
              <a:rPr lang="zh-TW" altLang="en-US" smtClean="0"/>
              <a:t>2015/8/21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CA74-F608-437A-9D7A-2B8187C59B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3212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02F6F-7FE1-4136-8A7C-C990FB714642}" type="datetime1">
              <a:rPr lang="zh-TW" altLang="en-US" smtClean="0"/>
              <a:t>2015/8/21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CA74-F608-437A-9D7A-2B8187C59B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571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7E0F9-89CE-483E-B507-9B1A00D74C70}" type="datetime1">
              <a:rPr lang="zh-TW" altLang="en-US" smtClean="0"/>
              <a:t>2015/8/21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CA74-F608-437A-9D7A-2B8187C59B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9263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3676D-27E3-408E-8471-5E7F446109F2}" type="datetime1">
              <a:rPr lang="zh-TW" altLang="en-US" smtClean="0"/>
              <a:t>2015/8/21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CA74-F608-437A-9D7A-2B8187C59B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7921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B775-3B8A-426D-A40D-A73E6E52C07F}" type="datetime1">
              <a:rPr lang="zh-TW" altLang="en-US" smtClean="0"/>
              <a:t>2015/8/21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CA74-F608-437A-9D7A-2B8187C59B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2971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B2CEC-6DDB-4DAB-BC29-94B9D4DAEA5C}" type="datetime1">
              <a:rPr lang="zh-TW" altLang="en-US" smtClean="0"/>
              <a:t>2015/8/21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CA74-F608-437A-9D7A-2B8187C59B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6886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9F741-73C4-41C6-838C-BA12958679ED}" type="datetime1">
              <a:rPr lang="zh-TW" altLang="en-US" smtClean="0"/>
              <a:t>2015/8/21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CA74-F608-437A-9D7A-2B8187C59B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9312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88423-9FC0-4CB5-95F3-7460DD8ED6E7}" type="datetime1">
              <a:rPr lang="zh-TW" altLang="en-US" smtClean="0"/>
              <a:t>2015/8/21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D7CA74-F608-437A-9D7A-2B8187C59B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3314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train.cs.nctu.edu.tw/problems/8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sourceforge.net/projects/yafu/" TargetMode="External"/><Relationship Id="rId2" Type="http://schemas.openxmlformats.org/officeDocument/2006/relationships/hyperlink" Target="http://factordb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ius/rsatool" TargetMode="External"/><Relationship Id="rId5" Type="http://schemas.openxmlformats.org/officeDocument/2006/relationships/hyperlink" Target="https://github.com/Tojaj/rsa-algorithm/tree/master/msieve-1.51" TargetMode="External"/><Relationship Id="rId4" Type="http://schemas.openxmlformats.org/officeDocument/2006/relationships/hyperlink" Target="http://cado-nfs.gforge.inria.fr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enssl.org/docs/ssl/ssl.html" TargetMode="External"/><Relationship Id="rId2" Type="http://schemas.openxmlformats.org/officeDocument/2006/relationships/hyperlink" Target="http://train.cs.nctu.edu.tw/problem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ruby-doc.org/stdlib-2.0.0/libdoc/openssl/rdoc/OpenSSL.html" TargetMode="External"/><Relationship Id="rId5" Type="http://schemas.openxmlformats.org/officeDocument/2006/relationships/hyperlink" Target="https://pypi.python.org/pypi/pyOpenSSL/0.15.1" TargetMode="External"/><Relationship Id="rId4" Type="http://schemas.openxmlformats.org/officeDocument/2006/relationships/hyperlink" Target="https://pypi.python.org/pypi/pycrypto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Crypto in CTF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sz="2000" dirty="0" err="1" smtClean="0"/>
              <a:t>zywu@Bamboofox</a:t>
            </a:r>
            <a:r>
              <a:rPr lang="en-US" altLang="zh-TW" sz="2000" dirty="0"/>
              <a:t> </a:t>
            </a:r>
            <a:r>
              <a:rPr lang="en-US" altLang="zh-TW" sz="2000" dirty="0" smtClean="0"/>
              <a:t>&amp; DSNS</a:t>
            </a:r>
          </a:p>
          <a:p>
            <a:r>
              <a:rPr lang="en-US" altLang="zh-TW" sz="2000" dirty="0" smtClean="0"/>
              <a:t>Benson </a:t>
            </a:r>
            <a:r>
              <a:rPr lang="en-US" altLang="zh-TW" sz="2000" dirty="0" err="1" smtClean="0"/>
              <a:t>Chen@Bamboofox</a:t>
            </a:r>
            <a:r>
              <a:rPr lang="en-US" altLang="zh-TW" sz="2000" dirty="0" smtClean="0"/>
              <a:t> &amp; DSNS</a:t>
            </a:r>
          </a:p>
        </p:txBody>
      </p:sp>
    </p:spTree>
    <p:extLst>
      <p:ext uri="{BB962C8B-B14F-4D97-AF65-F5344CB8AC3E}">
        <p14:creationId xmlns:p14="http://schemas.microsoft.com/office/powerpoint/2010/main" val="469376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How to use </a:t>
            </a:r>
            <a:r>
              <a:rPr lang="en-US" altLang="zh-TW" dirty="0" err="1" smtClean="0"/>
              <a:t>OpenSSL</a:t>
            </a:r>
            <a:r>
              <a:rPr lang="en-US" altLang="zh-TW" dirty="0"/>
              <a:t> </a:t>
            </a:r>
            <a:r>
              <a:rPr lang="en-US" altLang="zh-TW" dirty="0" smtClean="0"/>
              <a:t>toolkit</a:t>
            </a:r>
          </a:p>
          <a:p>
            <a:pPr lvl="1"/>
            <a:r>
              <a:rPr lang="en-US" altLang="zh-TW" dirty="0" smtClean="0"/>
              <a:t>Command line</a:t>
            </a:r>
          </a:p>
          <a:p>
            <a:pPr lvl="1"/>
            <a:r>
              <a:rPr lang="en-US" altLang="zh-TW" dirty="0" smtClean="0"/>
              <a:t>Programming API</a:t>
            </a:r>
          </a:p>
          <a:p>
            <a:pPr lvl="1"/>
            <a:endParaRPr lang="en-US" altLang="zh-TW" dirty="0" smtClean="0"/>
          </a:p>
          <a:p>
            <a:r>
              <a:rPr lang="en-US" altLang="zh-TW" dirty="0" smtClean="0"/>
              <a:t>Breaking RSA using tools</a:t>
            </a:r>
          </a:p>
          <a:p>
            <a:endParaRPr lang="en-US" altLang="zh-TW" dirty="0" smtClean="0"/>
          </a:p>
          <a:p>
            <a:r>
              <a:rPr lang="en-US" altLang="zh-TW" strike="sngStrike" dirty="0"/>
              <a:t>An example of </a:t>
            </a:r>
            <a:r>
              <a:rPr lang="en-US" altLang="zh-TW" strike="sngStrike" dirty="0" smtClean="0"/>
              <a:t>Crypto-like </a:t>
            </a:r>
            <a:r>
              <a:rPr lang="en-US" altLang="zh-TW" strike="sngStrike" dirty="0"/>
              <a:t>vulnerability: “Padding Oracle</a:t>
            </a:r>
            <a:r>
              <a:rPr lang="en-US" altLang="zh-TW" strike="sngStrike" dirty="0" smtClean="0"/>
              <a:t>”</a:t>
            </a:r>
          </a:p>
          <a:p>
            <a:endParaRPr lang="en-US" altLang="zh-TW" dirty="0"/>
          </a:p>
          <a:p>
            <a:r>
              <a:rPr lang="en-US" altLang="zh-TW" dirty="0" smtClean="0"/>
              <a:t>Crypto in CTF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CA74-F608-437A-9D7A-2B8187C59B9B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5413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Crypto Scheme will cover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 smtClean="0"/>
              <a:t>Asymmetric encryption</a:t>
            </a:r>
          </a:p>
          <a:p>
            <a:pPr lvl="1"/>
            <a:r>
              <a:rPr lang="en-US" altLang="zh-TW" dirty="0" smtClean="0"/>
              <a:t>Public encryption</a:t>
            </a:r>
          </a:p>
          <a:p>
            <a:pPr lvl="2"/>
            <a:r>
              <a:rPr lang="en-US" altLang="zh-TW" dirty="0" smtClean="0"/>
              <a:t>Key pair: </a:t>
            </a:r>
            <a:r>
              <a:rPr lang="en-US" altLang="zh-TW" dirty="0" err="1" smtClean="0"/>
              <a:t>K</a:t>
            </a:r>
            <a:r>
              <a:rPr lang="en-US" altLang="zh-TW" baseline="-25000" dirty="0" err="1" smtClean="0"/>
              <a:t>pub</a:t>
            </a:r>
            <a:r>
              <a:rPr lang="en-US" altLang="zh-TW" dirty="0" smtClean="0"/>
              <a:t> and </a:t>
            </a:r>
            <a:r>
              <a:rPr lang="en-US" altLang="zh-TW" dirty="0" err="1" smtClean="0"/>
              <a:t>K</a:t>
            </a:r>
            <a:r>
              <a:rPr lang="en-US" altLang="zh-TW" baseline="-25000" dirty="0" err="1" smtClean="0"/>
              <a:t>priv</a:t>
            </a:r>
            <a:endParaRPr lang="en-US" altLang="zh-TW" baseline="-25000" dirty="0" smtClean="0"/>
          </a:p>
          <a:p>
            <a:pPr lvl="2"/>
            <a:r>
              <a:rPr lang="en-US" altLang="zh-TW" dirty="0" smtClean="0"/>
              <a:t>Encrypt with </a:t>
            </a:r>
            <a:r>
              <a:rPr lang="en-US" altLang="zh-TW" dirty="0" err="1"/>
              <a:t>K</a:t>
            </a:r>
            <a:r>
              <a:rPr lang="en-US" altLang="zh-TW" baseline="-25000" dirty="0" err="1"/>
              <a:t>pub</a:t>
            </a:r>
            <a:r>
              <a:rPr lang="en-US" altLang="zh-TW" baseline="-25000" dirty="0"/>
              <a:t> </a:t>
            </a:r>
            <a:endParaRPr lang="en-US" altLang="zh-TW" baseline="-25000" dirty="0" smtClean="0"/>
          </a:p>
          <a:p>
            <a:pPr lvl="2"/>
            <a:r>
              <a:rPr lang="en-US" altLang="zh-TW" dirty="0" smtClean="0"/>
              <a:t>Decrypt with </a:t>
            </a:r>
            <a:r>
              <a:rPr lang="en-US" altLang="zh-TW" dirty="0" err="1"/>
              <a:t>K</a:t>
            </a:r>
            <a:r>
              <a:rPr lang="en-US" altLang="zh-TW" baseline="-25000" dirty="0" err="1"/>
              <a:t>priv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Pros: open	</a:t>
            </a:r>
          </a:p>
          <a:p>
            <a:pPr lvl="1"/>
            <a:r>
              <a:rPr lang="en-US" altLang="zh-TW" dirty="0" smtClean="0"/>
              <a:t>Cons: slow</a:t>
            </a:r>
            <a:endParaRPr lang="en-US" altLang="zh-TW" dirty="0"/>
          </a:p>
          <a:p>
            <a:pPr lvl="1"/>
            <a:r>
              <a:rPr lang="en-US" altLang="zh-TW" dirty="0" smtClean="0"/>
              <a:t>Example: RSA</a:t>
            </a:r>
          </a:p>
          <a:p>
            <a:pPr marL="457200" lvl="1" indent="0">
              <a:buNone/>
            </a:pPr>
            <a:endParaRPr lang="en-US" altLang="zh-TW" dirty="0" smtClean="0"/>
          </a:p>
          <a:p>
            <a:r>
              <a:rPr lang="en-US" altLang="zh-TW" dirty="0" smtClean="0"/>
              <a:t>Digest</a:t>
            </a:r>
          </a:p>
          <a:p>
            <a:pPr lvl="1"/>
            <a:r>
              <a:rPr lang="en-US" altLang="zh-TW" dirty="0" smtClean="0"/>
              <a:t>Message authentication code</a:t>
            </a:r>
          </a:p>
          <a:p>
            <a:pPr lvl="1"/>
            <a:r>
              <a:rPr lang="en-US" altLang="zh-TW" dirty="0" smtClean="0"/>
              <a:t>Example: MD5, SHA-1, SHA-2</a:t>
            </a:r>
          </a:p>
          <a:p>
            <a:pPr lvl="1"/>
            <a:endParaRPr lang="en-US" altLang="zh-TW" dirty="0" smtClean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Symmetric encryption</a:t>
            </a:r>
          </a:p>
          <a:p>
            <a:pPr lvl="1"/>
            <a:r>
              <a:rPr lang="en-US" altLang="zh-TW" dirty="0"/>
              <a:t>Classic encryption</a:t>
            </a:r>
          </a:p>
          <a:p>
            <a:pPr lvl="2"/>
            <a:r>
              <a:rPr lang="en-US" altLang="zh-TW" dirty="0"/>
              <a:t>Only one key: </a:t>
            </a:r>
            <a:r>
              <a:rPr lang="en-US" altLang="zh-TW" dirty="0" err="1"/>
              <a:t>K</a:t>
            </a:r>
            <a:r>
              <a:rPr lang="en-US" altLang="zh-TW" baseline="-25000" dirty="0" err="1"/>
              <a:t>priv</a:t>
            </a:r>
            <a:endParaRPr lang="en-US" altLang="zh-TW" dirty="0"/>
          </a:p>
          <a:p>
            <a:pPr lvl="2"/>
            <a:r>
              <a:rPr lang="en-US" altLang="zh-TW" dirty="0"/>
              <a:t>Encrypt and decrypt both with </a:t>
            </a:r>
            <a:r>
              <a:rPr lang="en-US" altLang="zh-TW" dirty="0" err="1"/>
              <a:t>K</a:t>
            </a:r>
            <a:r>
              <a:rPr lang="en-US" altLang="zh-TW" baseline="-25000" dirty="0" err="1"/>
              <a:t>priv</a:t>
            </a:r>
            <a:endParaRPr lang="en-US" altLang="zh-TW" dirty="0"/>
          </a:p>
          <a:p>
            <a:pPr lvl="1"/>
            <a:r>
              <a:rPr lang="en-US" altLang="zh-TW" dirty="0"/>
              <a:t>Pros: fast	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Cons</a:t>
            </a:r>
            <a:r>
              <a:rPr lang="en-US" altLang="zh-TW" dirty="0"/>
              <a:t>: handshake</a:t>
            </a:r>
          </a:p>
          <a:p>
            <a:pPr lvl="1"/>
            <a:r>
              <a:rPr lang="en-US" altLang="zh-TW" dirty="0"/>
              <a:t>Example: AES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CA74-F608-437A-9D7A-2B8187C59B9B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1010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Breaking </a:t>
            </a:r>
            <a:r>
              <a:rPr lang="en-US" altLang="zh-TW" dirty="0" smtClean="0"/>
              <a:t>RSA - Introduction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RSA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CA74-F608-437A-9D7A-2B8187C59B9B}" type="slidenum">
              <a:rPr lang="zh-TW" altLang="en-US" smtClean="0"/>
              <a:t>4</a:t>
            </a:fld>
            <a:endParaRPr lang="zh-TW" altLang="en-US"/>
          </a:p>
        </p:txBody>
      </p:sp>
      <p:graphicFrame>
        <p:nvGraphicFramePr>
          <p:cNvPr id="5" name="物件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1779556"/>
              </p:ext>
            </p:extLst>
          </p:nvPr>
        </p:nvGraphicFramePr>
        <p:xfrm>
          <a:off x="6146800" y="3361038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Equation" r:id="rId3" imgW="914400" imgH="198720" progId="Equation.DSMT4">
                  <p:embed/>
                </p:oleObj>
              </mc:Choice>
              <mc:Fallback>
                <p:oleObj name="Equation" r:id="rId3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46800" y="3361038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物件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2932167"/>
              </p:ext>
            </p:extLst>
          </p:nvPr>
        </p:nvGraphicFramePr>
        <p:xfrm>
          <a:off x="1025525" y="2389050"/>
          <a:ext cx="5432425" cy="3709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" name="Equation" r:id="rId5" imgW="2361960" imgH="1612800" progId="Equation.DSMT4">
                  <p:embed/>
                </p:oleObj>
              </mc:Choice>
              <mc:Fallback>
                <p:oleObj name="Equation" r:id="rId5" imgW="2361960" imgH="1612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25525" y="2389050"/>
                        <a:ext cx="5432425" cy="37092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62617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 to </a:t>
            </a:r>
            <a:r>
              <a:rPr lang="en-US" altLang="zh-TW" dirty="0" err="1" smtClean="0"/>
              <a:t>OpenSSL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Open-source implementation of SSL and TLS protocols</a:t>
            </a:r>
          </a:p>
          <a:p>
            <a:r>
              <a:rPr lang="en-US" altLang="zh-TW" dirty="0" smtClean="0"/>
              <a:t>Useful toolkit of cryptographic</a:t>
            </a:r>
          </a:p>
          <a:p>
            <a:r>
              <a:rPr lang="en-US" altLang="zh-TW" dirty="0" smtClean="0"/>
              <a:t>Many bugs and vulnerabilities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CA74-F608-437A-9D7A-2B8187C59B9B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697" y="4166486"/>
            <a:ext cx="5598729" cy="1521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718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OpenSSL</a:t>
            </a:r>
            <a:r>
              <a:rPr lang="en-US" altLang="zh-TW" dirty="0" smtClean="0"/>
              <a:t> – RSA in Command 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zh-TW" dirty="0" smtClean="0"/>
              <a:t>Gen Private Key</a:t>
            </a:r>
          </a:p>
          <a:p>
            <a:pPr lvl="1"/>
            <a:r>
              <a:rPr lang="en-US" altLang="zh-TW" sz="26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openssl</a:t>
            </a:r>
            <a:r>
              <a:rPr lang="en-US" altLang="zh-TW" sz="2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TW" sz="26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genrsa</a:t>
            </a:r>
            <a:r>
              <a:rPr lang="en-US" altLang="zh-TW" sz="2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TW" sz="2600" dirty="0">
                <a:solidFill>
                  <a:srgbClr val="000000"/>
                </a:solidFill>
                <a:latin typeface="Courier New" panose="02070309020205020404" pitchFamily="49" charset="0"/>
              </a:rPr>
              <a:t>-out </a:t>
            </a:r>
            <a:r>
              <a:rPr lang="en-US" altLang="zh-TW" sz="26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priv.pem</a:t>
            </a:r>
            <a:endParaRPr lang="en-US" altLang="zh-TW" sz="2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en-US" altLang="zh-TW" dirty="0"/>
          </a:p>
          <a:p>
            <a:r>
              <a:rPr lang="en-US" altLang="zh-TW" dirty="0" smtClean="0"/>
              <a:t>View Private Key</a:t>
            </a:r>
          </a:p>
          <a:p>
            <a:pPr lvl="1"/>
            <a:r>
              <a:rPr lang="en-US" altLang="zh-TW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openssl</a:t>
            </a:r>
            <a:r>
              <a:rPr lang="en-US" altLang="zh-TW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TW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rsa</a:t>
            </a:r>
            <a:r>
              <a:rPr lang="en-US" altLang="zh-TW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–text –in </a:t>
            </a:r>
            <a:r>
              <a:rPr lang="en-US" altLang="zh-TW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priv.pem</a:t>
            </a:r>
            <a:r>
              <a:rPr lang="en-US" altLang="zh-TW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–out </a:t>
            </a:r>
            <a:r>
              <a:rPr lang="en-US" altLang="zh-TW" sz="2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priv.pem.info</a:t>
            </a:r>
            <a:endParaRPr lang="en-US" altLang="zh-TW" sz="2600" dirty="0" smtClean="0"/>
          </a:p>
          <a:p>
            <a:pPr lvl="2"/>
            <a:r>
              <a:rPr lang="en-US" altLang="zh-TW" dirty="0" smtClean="0"/>
              <a:t>modulus = </a:t>
            </a:r>
            <a:r>
              <a:rPr lang="en-US" altLang="zh-TW" dirty="0" smtClean="0"/>
              <a:t>N</a:t>
            </a:r>
          </a:p>
          <a:p>
            <a:pPr lvl="2"/>
            <a:r>
              <a:rPr lang="en-US" altLang="zh-TW" dirty="0" err="1" smtClean="0"/>
              <a:t>privateExponent</a:t>
            </a:r>
            <a:r>
              <a:rPr lang="en-US" altLang="zh-TW" dirty="0" smtClean="0"/>
              <a:t> = d</a:t>
            </a:r>
            <a:endParaRPr lang="en-US" altLang="zh-TW" dirty="0" smtClean="0"/>
          </a:p>
          <a:p>
            <a:pPr lvl="2"/>
            <a:r>
              <a:rPr lang="en-US" altLang="zh-TW" dirty="0" err="1" smtClean="0"/>
              <a:t>publicExponent</a:t>
            </a:r>
            <a:r>
              <a:rPr lang="en-US" altLang="zh-TW" dirty="0"/>
              <a:t> </a:t>
            </a:r>
            <a:r>
              <a:rPr lang="en-US" altLang="zh-TW" dirty="0" smtClean="0"/>
              <a:t>= e</a:t>
            </a:r>
          </a:p>
          <a:p>
            <a:pPr lvl="2"/>
            <a:r>
              <a:rPr lang="en-US" altLang="zh-TW" dirty="0" smtClean="0"/>
              <a:t>prime1 = p</a:t>
            </a:r>
          </a:p>
          <a:p>
            <a:pPr lvl="2"/>
            <a:r>
              <a:rPr lang="en-US" altLang="zh-TW" dirty="0" smtClean="0"/>
              <a:t>prime2 = q</a:t>
            </a:r>
          </a:p>
          <a:p>
            <a:pPr lvl="1"/>
            <a:endParaRPr lang="en-US" altLang="zh-TW" dirty="0" smtClean="0"/>
          </a:p>
          <a:p>
            <a:r>
              <a:rPr lang="en-US" altLang="zh-TW" dirty="0" smtClean="0"/>
              <a:t>Extract Public Key</a:t>
            </a:r>
          </a:p>
          <a:p>
            <a:pPr lvl="1"/>
            <a:r>
              <a:rPr lang="en-US" altLang="zh-TW" sz="26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openssl</a:t>
            </a:r>
            <a:r>
              <a:rPr lang="en-US" altLang="zh-TW" sz="2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TW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rsa</a:t>
            </a:r>
            <a:r>
              <a:rPr lang="en-US" altLang="zh-TW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–in </a:t>
            </a:r>
            <a:r>
              <a:rPr lang="en-US" altLang="zh-TW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priv.pem</a:t>
            </a:r>
            <a:r>
              <a:rPr lang="en-US" altLang="zh-TW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–</a:t>
            </a:r>
            <a:r>
              <a:rPr lang="en-US" altLang="zh-TW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pubout</a:t>
            </a:r>
            <a:r>
              <a:rPr lang="en-US" altLang="zh-TW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–out </a:t>
            </a:r>
            <a:r>
              <a:rPr lang="en-US" altLang="zh-TW" sz="26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pub.pem</a:t>
            </a:r>
            <a:endParaRPr lang="en-US" altLang="zh-TW" sz="2600" dirty="0" smtClean="0"/>
          </a:p>
          <a:p>
            <a:pPr lvl="1"/>
            <a:endParaRPr lang="en-US" altLang="zh-TW" dirty="0" smtClean="0"/>
          </a:p>
          <a:p>
            <a:r>
              <a:rPr lang="en-US" altLang="zh-TW" dirty="0" smtClean="0"/>
              <a:t>View Public Key</a:t>
            </a:r>
          </a:p>
          <a:p>
            <a:pPr lvl="1"/>
            <a:r>
              <a:rPr lang="en-US" altLang="zh-TW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openssl</a:t>
            </a:r>
            <a:r>
              <a:rPr lang="en-US" altLang="zh-TW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TW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rsa</a:t>
            </a:r>
            <a:r>
              <a:rPr lang="en-US" altLang="zh-TW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–text –</a:t>
            </a:r>
            <a:r>
              <a:rPr lang="en-US" altLang="zh-TW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pubin</a:t>
            </a:r>
            <a:r>
              <a:rPr lang="en-US" altLang="zh-TW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–in </a:t>
            </a:r>
            <a:r>
              <a:rPr lang="en-US" altLang="zh-TW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pub.pem</a:t>
            </a:r>
            <a:r>
              <a:rPr lang="en-US" altLang="zh-TW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–out public.pem.info</a:t>
            </a:r>
            <a:endParaRPr lang="en-US" altLang="zh-TW" sz="2600" dirty="0"/>
          </a:p>
          <a:p>
            <a:pPr lvl="2"/>
            <a:r>
              <a:rPr lang="en-US" altLang="zh-TW" dirty="0" smtClean="0"/>
              <a:t>modulus </a:t>
            </a:r>
            <a:r>
              <a:rPr lang="en-US" altLang="zh-TW" dirty="0"/>
              <a:t>= </a:t>
            </a:r>
            <a:r>
              <a:rPr lang="en-US" altLang="zh-TW" dirty="0" smtClean="0"/>
              <a:t>N</a:t>
            </a:r>
          </a:p>
          <a:p>
            <a:pPr lvl="2"/>
            <a:r>
              <a:rPr lang="en-US" altLang="zh-TW" dirty="0" err="1" smtClean="0"/>
              <a:t>publicExponent</a:t>
            </a:r>
            <a:r>
              <a:rPr lang="en-US" altLang="zh-TW" dirty="0" smtClean="0"/>
              <a:t> </a:t>
            </a:r>
            <a:r>
              <a:rPr lang="en-US" altLang="zh-TW" dirty="0"/>
              <a:t>= </a:t>
            </a:r>
            <a:r>
              <a:rPr lang="en-US" altLang="zh-TW" dirty="0" smtClean="0"/>
              <a:t>e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CA74-F608-437A-9D7A-2B8187C59B9B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2364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OpenSSL</a:t>
            </a:r>
            <a:r>
              <a:rPr lang="en-US" altLang="zh-TW" dirty="0"/>
              <a:t> – RSA in Command 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Encrypt</a:t>
            </a:r>
            <a:r>
              <a:rPr lang="en-US" altLang="zh-TW" dirty="0" smtClean="0"/>
              <a:t> </a:t>
            </a:r>
          </a:p>
          <a:p>
            <a:pPr lvl="1"/>
            <a:r>
              <a:rPr lang="en-US" altLang="zh-TW" sz="18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openssl</a:t>
            </a:r>
            <a:r>
              <a:rPr lang="en-US" altLang="zh-TW" sz="1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TW" sz="18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rsautl</a:t>
            </a:r>
            <a:r>
              <a:rPr lang="en-US" altLang="zh-TW" sz="1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–encrypt –</a:t>
            </a:r>
            <a:r>
              <a:rPr lang="en-US" altLang="zh-TW" sz="18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pubin</a:t>
            </a:r>
            <a:r>
              <a:rPr lang="en-US" altLang="zh-TW" sz="1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–</a:t>
            </a:r>
            <a:r>
              <a:rPr lang="en-US" altLang="zh-TW" sz="18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inkey</a:t>
            </a:r>
            <a:r>
              <a:rPr lang="en-US" altLang="zh-TW" sz="1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TW" sz="18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pub.pem</a:t>
            </a:r>
            <a:r>
              <a:rPr lang="en-US" altLang="zh-TW" sz="1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–in plaintext –out ciphertext1</a:t>
            </a:r>
          </a:p>
          <a:p>
            <a:pPr lvl="1"/>
            <a:endParaRPr lang="en-US" altLang="zh-TW" sz="900" dirty="0" smtClean="0"/>
          </a:p>
          <a:p>
            <a:pPr lvl="1"/>
            <a:r>
              <a:rPr lang="en-US" altLang="zh-TW" sz="18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openssl</a:t>
            </a:r>
            <a:r>
              <a:rPr lang="en-US" altLang="zh-TW" sz="1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TW" sz="18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rsautl</a:t>
            </a:r>
            <a:r>
              <a:rPr lang="en-US" altLang="zh-TW" sz="1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–encrypt –</a:t>
            </a:r>
            <a:r>
              <a:rPr lang="en-US" altLang="zh-TW" sz="18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pubin</a:t>
            </a:r>
            <a:r>
              <a:rPr lang="en-US" altLang="zh-TW" sz="1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–</a:t>
            </a:r>
            <a:r>
              <a:rPr lang="en-US" altLang="zh-TW" sz="18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inkey</a:t>
            </a:r>
            <a:r>
              <a:rPr lang="en-US" altLang="zh-TW" sz="1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TW" sz="18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pub.pem</a:t>
            </a:r>
            <a:r>
              <a:rPr lang="en-US" altLang="zh-TW" sz="1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–in plaintext –out ciphertext2</a:t>
            </a:r>
          </a:p>
          <a:p>
            <a:pPr lvl="1"/>
            <a:endParaRPr lang="en-US" altLang="zh-TW" sz="900" dirty="0" smtClean="0"/>
          </a:p>
          <a:p>
            <a:pPr lvl="1"/>
            <a:r>
              <a:rPr lang="en-US" altLang="zh-TW" sz="18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vim</a:t>
            </a:r>
            <a:r>
              <a:rPr lang="en-US" altLang="zh-TW" sz="1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–d cipheretext1 ciphertext2</a:t>
            </a:r>
            <a:endParaRPr lang="en-US" altLang="zh-TW" sz="1800" dirty="0" smtClean="0"/>
          </a:p>
          <a:p>
            <a:r>
              <a:rPr lang="en-US" altLang="zh-TW" dirty="0" smtClean="0"/>
              <a:t>Decrypt</a:t>
            </a:r>
          </a:p>
          <a:p>
            <a:pPr lvl="1"/>
            <a:r>
              <a:rPr lang="en-US" altLang="zh-TW" sz="1800" dirty="0" err="1">
                <a:latin typeface="Courier New" panose="02070309020205020404" pitchFamily="49" charset="0"/>
              </a:rPr>
              <a:t>openssl</a:t>
            </a:r>
            <a:r>
              <a:rPr lang="en-US" altLang="zh-TW" sz="1800" dirty="0">
                <a:latin typeface="Courier New" panose="02070309020205020404" pitchFamily="49" charset="0"/>
              </a:rPr>
              <a:t> </a:t>
            </a:r>
            <a:r>
              <a:rPr lang="en-US" altLang="zh-TW" sz="1800" dirty="0" err="1">
                <a:latin typeface="Courier New" panose="02070309020205020404" pitchFamily="49" charset="0"/>
              </a:rPr>
              <a:t>rsautl</a:t>
            </a:r>
            <a:r>
              <a:rPr lang="en-US" altLang="zh-TW" sz="1800" dirty="0">
                <a:latin typeface="Courier New" panose="02070309020205020404" pitchFamily="49" charset="0"/>
              </a:rPr>
              <a:t> -decrypt -</a:t>
            </a:r>
            <a:r>
              <a:rPr lang="en-US" altLang="zh-TW" sz="1800" dirty="0" err="1">
                <a:latin typeface="Courier New" panose="02070309020205020404" pitchFamily="49" charset="0"/>
              </a:rPr>
              <a:t>inkey</a:t>
            </a:r>
            <a:r>
              <a:rPr lang="en-US" altLang="zh-TW" sz="1800" dirty="0">
                <a:latin typeface="Courier New" panose="02070309020205020404" pitchFamily="49" charset="0"/>
              </a:rPr>
              <a:t> </a:t>
            </a:r>
            <a:r>
              <a:rPr lang="en-US" altLang="zh-TW" sz="1800" dirty="0" err="1">
                <a:latin typeface="Courier New" panose="02070309020205020404" pitchFamily="49" charset="0"/>
              </a:rPr>
              <a:t>priv.pem</a:t>
            </a:r>
            <a:r>
              <a:rPr lang="en-US" altLang="zh-TW" sz="1800" dirty="0">
                <a:latin typeface="Courier New" panose="02070309020205020404" pitchFamily="49" charset="0"/>
              </a:rPr>
              <a:t> -in ciphertext1 -out </a:t>
            </a:r>
            <a:r>
              <a:rPr lang="en-US" altLang="zh-TW" sz="1800" dirty="0" smtClean="0">
                <a:latin typeface="Courier New" panose="02070309020205020404" pitchFamily="49" charset="0"/>
              </a:rPr>
              <a:t>cipheretext1.decrypt</a:t>
            </a:r>
          </a:p>
          <a:p>
            <a:pPr lvl="1"/>
            <a:endParaRPr lang="en-US" altLang="zh-TW" sz="1000" dirty="0"/>
          </a:p>
          <a:p>
            <a:pPr lvl="1"/>
            <a:r>
              <a:rPr lang="en-US" altLang="zh-TW" sz="1800" dirty="0" err="1">
                <a:latin typeface="Courier New" panose="02070309020205020404" pitchFamily="49" charset="0"/>
              </a:rPr>
              <a:t>openssl</a:t>
            </a:r>
            <a:r>
              <a:rPr lang="en-US" altLang="zh-TW" sz="1800" dirty="0">
                <a:latin typeface="Courier New" panose="02070309020205020404" pitchFamily="49" charset="0"/>
              </a:rPr>
              <a:t> </a:t>
            </a:r>
            <a:r>
              <a:rPr lang="en-US" altLang="zh-TW" sz="1800" dirty="0" err="1">
                <a:latin typeface="Courier New" panose="02070309020205020404" pitchFamily="49" charset="0"/>
              </a:rPr>
              <a:t>rsautl</a:t>
            </a:r>
            <a:r>
              <a:rPr lang="en-US" altLang="zh-TW" sz="1800" dirty="0">
                <a:latin typeface="Courier New" panose="02070309020205020404" pitchFamily="49" charset="0"/>
              </a:rPr>
              <a:t> -decrypt -</a:t>
            </a:r>
            <a:r>
              <a:rPr lang="en-US" altLang="zh-TW" sz="1800" dirty="0" err="1">
                <a:latin typeface="Courier New" panose="02070309020205020404" pitchFamily="49" charset="0"/>
              </a:rPr>
              <a:t>inkey</a:t>
            </a:r>
            <a:r>
              <a:rPr lang="en-US" altLang="zh-TW" sz="1800" dirty="0">
                <a:latin typeface="Courier New" panose="02070309020205020404" pitchFamily="49" charset="0"/>
              </a:rPr>
              <a:t> </a:t>
            </a:r>
            <a:r>
              <a:rPr lang="en-US" altLang="zh-TW" sz="1800" dirty="0" err="1">
                <a:latin typeface="Courier New" panose="02070309020205020404" pitchFamily="49" charset="0"/>
              </a:rPr>
              <a:t>priv.pem</a:t>
            </a:r>
            <a:r>
              <a:rPr lang="en-US" altLang="zh-TW" sz="1800" dirty="0">
                <a:latin typeface="Courier New" panose="02070309020205020404" pitchFamily="49" charset="0"/>
              </a:rPr>
              <a:t> -in ciphertext1 -out </a:t>
            </a:r>
            <a:r>
              <a:rPr lang="en-US" altLang="zh-TW" sz="1800" dirty="0" smtClean="0">
                <a:latin typeface="Courier New" panose="02070309020205020404" pitchFamily="49" charset="0"/>
              </a:rPr>
              <a:t>cipheretext2.decrypt</a:t>
            </a:r>
          </a:p>
          <a:p>
            <a:pPr lvl="1"/>
            <a:endParaRPr lang="en-US" altLang="zh-TW" sz="1000" dirty="0"/>
          </a:p>
          <a:p>
            <a:pPr lvl="1"/>
            <a:r>
              <a:rPr lang="en-US" altLang="zh-TW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vim</a:t>
            </a:r>
            <a:r>
              <a:rPr lang="en-US" altLang="zh-TW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–d </a:t>
            </a:r>
            <a:r>
              <a:rPr lang="en-US" altLang="zh-TW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cipheretext1.decrypt ciphertext2.decrypt</a:t>
            </a:r>
            <a:endParaRPr lang="en-US" altLang="zh-TW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CA74-F608-437A-9D7A-2B8187C59B9B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6706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OpenSSL</a:t>
            </a:r>
            <a:r>
              <a:rPr lang="en-US" altLang="zh-TW" dirty="0" smtClean="0"/>
              <a:t> – AES in </a:t>
            </a:r>
            <a:r>
              <a:rPr lang="en-US" altLang="zh-TW" dirty="0"/>
              <a:t>Command 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Encrypt </a:t>
            </a:r>
          </a:p>
          <a:p>
            <a:pPr lvl="1"/>
            <a:r>
              <a:rPr lang="en-US" altLang="zh-TW" sz="20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openssl</a:t>
            </a:r>
            <a:r>
              <a:rPr lang="en-US" altLang="zh-TW" sz="2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TW" sz="20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enc</a:t>
            </a:r>
            <a:r>
              <a:rPr lang="en-US" altLang="zh-TW" sz="2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–aes128 -e </a:t>
            </a:r>
            <a:r>
              <a:rPr lang="en-US" altLang="zh-TW" sz="2000" dirty="0">
                <a:latin typeface="Courier New" panose="02070309020205020404" pitchFamily="49" charset="0"/>
              </a:rPr>
              <a:t>-</a:t>
            </a:r>
            <a:r>
              <a:rPr lang="en-US" altLang="zh-TW" sz="2000" dirty="0">
                <a:solidFill>
                  <a:srgbClr val="000000"/>
                </a:solidFill>
                <a:latin typeface="Courier New" panose="02070309020205020404" pitchFamily="49" charset="0"/>
              </a:rPr>
              <a:t>in plaintext </a:t>
            </a:r>
            <a:r>
              <a:rPr lang="en-US" altLang="zh-TW" sz="2000" dirty="0">
                <a:latin typeface="Courier New" panose="02070309020205020404" pitchFamily="49" charset="0"/>
              </a:rPr>
              <a:t>-</a:t>
            </a:r>
            <a:r>
              <a:rPr lang="en-US" altLang="zh-TW" sz="2000" dirty="0">
                <a:solidFill>
                  <a:srgbClr val="000000"/>
                </a:solidFill>
                <a:latin typeface="Courier New" panose="02070309020205020404" pitchFamily="49" charset="0"/>
              </a:rPr>
              <a:t>out </a:t>
            </a:r>
            <a:r>
              <a:rPr lang="en-US" altLang="zh-TW" sz="2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c.aes.1</a:t>
            </a:r>
          </a:p>
          <a:p>
            <a:pPr lvl="1"/>
            <a:r>
              <a:rPr lang="en-US" altLang="zh-TW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openssl</a:t>
            </a:r>
            <a:r>
              <a:rPr lang="en-US" altLang="zh-TW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TW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enc</a:t>
            </a:r>
            <a:r>
              <a:rPr lang="en-US" altLang="zh-TW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–aes128 -e </a:t>
            </a:r>
            <a:r>
              <a:rPr lang="en-US" altLang="zh-TW" sz="2000" dirty="0">
                <a:latin typeface="Courier New" panose="02070309020205020404" pitchFamily="49" charset="0"/>
              </a:rPr>
              <a:t>-</a:t>
            </a:r>
            <a:r>
              <a:rPr lang="en-US" altLang="zh-TW" sz="2000" dirty="0">
                <a:solidFill>
                  <a:srgbClr val="000000"/>
                </a:solidFill>
                <a:latin typeface="Courier New" panose="02070309020205020404" pitchFamily="49" charset="0"/>
              </a:rPr>
              <a:t>in plaintext </a:t>
            </a:r>
            <a:r>
              <a:rPr lang="en-US" altLang="zh-TW" sz="2000" dirty="0">
                <a:latin typeface="Courier New" panose="02070309020205020404" pitchFamily="49" charset="0"/>
              </a:rPr>
              <a:t>-</a:t>
            </a:r>
            <a:r>
              <a:rPr lang="en-US" altLang="zh-TW" sz="2000" dirty="0">
                <a:solidFill>
                  <a:srgbClr val="000000"/>
                </a:solidFill>
                <a:latin typeface="Courier New" panose="02070309020205020404" pitchFamily="49" charset="0"/>
              </a:rPr>
              <a:t>out </a:t>
            </a:r>
            <a:r>
              <a:rPr lang="en-US" altLang="zh-TW" sz="2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c.aes.2</a:t>
            </a:r>
          </a:p>
          <a:p>
            <a:pPr lvl="1"/>
            <a:r>
              <a:rPr lang="en-US" altLang="zh-TW" sz="20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vim</a:t>
            </a:r>
            <a:r>
              <a:rPr lang="en-US" altLang="zh-TW" sz="2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–d c.aes.1 c.aes.2</a:t>
            </a:r>
            <a:endParaRPr lang="en-US" altLang="zh-TW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zh-TW" dirty="0" smtClean="0"/>
              <a:t>Decrypt</a:t>
            </a:r>
          </a:p>
          <a:p>
            <a:pPr lvl="1"/>
            <a:r>
              <a:rPr lang="en-US" altLang="zh-TW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openssl</a:t>
            </a:r>
            <a:r>
              <a:rPr lang="en-US" altLang="zh-TW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TW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enc</a:t>
            </a:r>
            <a:r>
              <a:rPr lang="en-US" altLang="zh-TW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–aes128 </a:t>
            </a:r>
            <a:r>
              <a:rPr lang="en-US" altLang="zh-TW" sz="2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-d </a:t>
            </a:r>
            <a:r>
              <a:rPr lang="en-US" altLang="zh-TW" sz="2000" dirty="0">
                <a:solidFill>
                  <a:prstClr val="black"/>
                </a:solidFill>
                <a:latin typeface="Courier New" panose="02070309020205020404" pitchFamily="49" charset="0"/>
              </a:rPr>
              <a:t>-</a:t>
            </a:r>
            <a:r>
              <a:rPr lang="en-US" altLang="zh-TW" sz="2000" dirty="0">
                <a:solidFill>
                  <a:srgbClr val="000000"/>
                </a:solidFill>
                <a:latin typeface="Courier New" panose="02070309020205020404" pitchFamily="49" charset="0"/>
              </a:rPr>
              <a:t>in </a:t>
            </a:r>
            <a:r>
              <a:rPr lang="en-US" altLang="zh-TW" sz="2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c.aes.2 </a:t>
            </a:r>
            <a:r>
              <a:rPr lang="en-US" altLang="zh-TW" sz="2000" dirty="0">
                <a:solidFill>
                  <a:prstClr val="black"/>
                </a:solidFill>
                <a:latin typeface="Courier New" panose="02070309020205020404" pitchFamily="49" charset="0"/>
              </a:rPr>
              <a:t>-</a:t>
            </a:r>
            <a:r>
              <a:rPr lang="en-US" altLang="zh-TW" sz="2000" dirty="0">
                <a:solidFill>
                  <a:srgbClr val="000000"/>
                </a:solidFill>
                <a:latin typeface="Courier New" panose="02070309020205020404" pitchFamily="49" charset="0"/>
              </a:rPr>
              <a:t>out </a:t>
            </a:r>
            <a:r>
              <a:rPr lang="en-US" altLang="zh-TW" sz="2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c.aes.1.dec</a:t>
            </a:r>
            <a:endParaRPr lang="en-US" altLang="zh-TW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altLang="zh-TW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openssl</a:t>
            </a:r>
            <a:r>
              <a:rPr lang="en-US" altLang="zh-TW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TW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enc</a:t>
            </a:r>
            <a:r>
              <a:rPr lang="en-US" altLang="zh-TW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–aes128 </a:t>
            </a:r>
            <a:r>
              <a:rPr lang="en-US" altLang="zh-TW" sz="2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-d </a:t>
            </a:r>
            <a:r>
              <a:rPr lang="en-US" altLang="zh-TW" sz="2000" dirty="0">
                <a:solidFill>
                  <a:prstClr val="black"/>
                </a:solidFill>
                <a:latin typeface="Courier New" panose="02070309020205020404" pitchFamily="49" charset="0"/>
              </a:rPr>
              <a:t>-</a:t>
            </a:r>
            <a:r>
              <a:rPr lang="en-US" altLang="zh-TW" sz="2000" dirty="0">
                <a:solidFill>
                  <a:srgbClr val="000000"/>
                </a:solidFill>
                <a:latin typeface="Courier New" panose="02070309020205020404" pitchFamily="49" charset="0"/>
              </a:rPr>
              <a:t>in </a:t>
            </a:r>
            <a:r>
              <a:rPr lang="en-US" altLang="zh-TW" sz="2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c.aes.2 </a:t>
            </a:r>
            <a:r>
              <a:rPr lang="en-US" altLang="zh-TW" sz="20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-</a:t>
            </a:r>
            <a:r>
              <a:rPr lang="en-US" altLang="zh-TW" sz="2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out c.aes.2.dec</a:t>
            </a:r>
            <a:endParaRPr lang="en-US" altLang="zh-TW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altLang="zh-TW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vim</a:t>
            </a:r>
            <a:r>
              <a:rPr lang="en-US" altLang="zh-TW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–d </a:t>
            </a:r>
            <a:r>
              <a:rPr lang="en-US" altLang="zh-TW" sz="2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c.aes.1.dec c.aes.2.dec</a:t>
            </a:r>
            <a:endParaRPr lang="en-US" altLang="zh-TW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en-US" altLang="zh-TW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CA74-F608-437A-9D7A-2B8187C59B9B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7210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err="1" smtClean="0"/>
              <a:t>OpenSSL</a:t>
            </a:r>
            <a:r>
              <a:rPr lang="en-US" altLang="zh-TW" sz="4000" dirty="0" smtClean="0"/>
              <a:t> </a:t>
            </a:r>
            <a:r>
              <a:rPr lang="en-US" altLang="zh-TW" sz="4000" dirty="0"/>
              <a:t>– Digest in Command Line</a:t>
            </a: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Never use MD5</a:t>
            </a:r>
          </a:p>
          <a:p>
            <a:r>
              <a:rPr lang="en-US" altLang="zh-TW" dirty="0" smtClean="0"/>
              <a:t>SHA-1</a:t>
            </a:r>
          </a:p>
          <a:p>
            <a:pPr lvl="1"/>
            <a:r>
              <a:rPr lang="en-US" altLang="zh-TW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openssl</a:t>
            </a:r>
            <a:r>
              <a:rPr lang="en-US" altLang="zh-TW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Courier New" panose="02070309020205020404" pitchFamily="49" charset="0"/>
              </a:rPr>
              <a:t>dgst</a:t>
            </a:r>
            <a:r>
              <a:rPr lang="en-US" altLang="zh-TW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TW" dirty="0">
                <a:latin typeface="Courier New" panose="02070309020205020404" pitchFamily="49" charset="0"/>
              </a:rPr>
              <a:t>-</a:t>
            </a:r>
            <a:r>
              <a:rPr lang="en-US" altLang="zh-TW" dirty="0">
                <a:solidFill>
                  <a:srgbClr val="000000"/>
                </a:solidFill>
                <a:latin typeface="Courier New" panose="02070309020205020404" pitchFamily="49" charset="0"/>
              </a:rPr>
              <a:t>sha1 plaintext</a:t>
            </a:r>
            <a:endParaRPr lang="en-US" altLang="zh-TW" dirty="0"/>
          </a:p>
          <a:p>
            <a:pPr lvl="1"/>
            <a:r>
              <a:rPr lang="en-US" altLang="zh-TW" dirty="0" err="1">
                <a:solidFill>
                  <a:srgbClr val="000000"/>
                </a:solidFill>
                <a:latin typeface="Courier New" panose="02070309020205020404" pitchFamily="49" charset="0"/>
              </a:rPr>
              <a:t>openssl</a:t>
            </a:r>
            <a:r>
              <a:rPr lang="en-US" altLang="zh-TW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Courier New" panose="02070309020205020404" pitchFamily="49" charset="0"/>
              </a:rPr>
              <a:t>dgst</a:t>
            </a:r>
            <a:r>
              <a:rPr lang="en-US" altLang="zh-TW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TW" dirty="0">
                <a:latin typeface="Courier New" panose="02070309020205020404" pitchFamily="49" charset="0"/>
              </a:rPr>
              <a:t>-</a:t>
            </a:r>
            <a:r>
              <a:rPr lang="en-US" altLang="zh-TW" dirty="0">
                <a:solidFill>
                  <a:srgbClr val="000000"/>
                </a:solidFill>
                <a:latin typeface="Courier New" panose="02070309020205020404" pitchFamily="49" charset="0"/>
              </a:rPr>
              <a:t>sha1 plaintext</a:t>
            </a:r>
            <a:endParaRPr lang="en-US" altLang="zh-TW" dirty="0"/>
          </a:p>
          <a:p>
            <a:pPr lvl="1"/>
            <a:endParaRPr lang="en-US" altLang="zh-TW" dirty="0" smtClean="0"/>
          </a:p>
          <a:p>
            <a:r>
              <a:rPr lang="en-US" altLang="zh-TW" dirty="0" smtClean="0"/>
              <a:t>SHA-2</a:t>
            </a:r>
          </a:p>
          <a:p>
            <a:pPr lvl="1"/>
            <a:r>
              <a:rPr lang="en-US" altLang="zh-TW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openssl</a:t>
            </a:r>
            <a:r>
              <a:rPr lang="en-US" altLang="zh-TW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Courier New" panose="02070309020205020404" pitchFamily="49" charset="0"/>
              </a:rPr>
              <a:t>dgst</a:t>
            </a:r>
            <a:r>
              <a:rPr lang="en-US" altLang="zh-TW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TW" dirty="0" smtClean="0">
                <a:latin typeface="Courier New" panose="02070309020205020404" pitchFamily="49" charset="0"/>
              </a:rPr>
              <a:t>–</a:t>
            </a:r>
            <a:r>
              <a:rPr lang="en-US" altLang="zh-TW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sha256 </a:t>
            </a:r>
            <a:r>
              <a:rPr lang="en-US" altLang="zh-TW" dirty="0">
                <a:solidFill>
                  <a:srgbClr val="000000"/>
                </a:solidFill>
                <a:latin typeface="Courier New" panose="02070309020205020404" pitchFamily="49" charset="0"/>
              </a:rPr>
              <a:t>plaintext</a:t>
            </a:r>
            <a:endParaRPr lang="en-US" altLang="zh-TW" dirty="0"/>
          </a:p>
          <a:p>
            <a:pPr lvl="1"/>
            <a:r>
              <a:rPr lang="en-US" altLang="zh-TW" dirty="0" err="1">
                <a:solidFill>
                  <a:srgbClr val="000000"/>
                </a:solidFill>
                <a:latin typeface="Courier New" panose="02070309020205020404" pitchFamily="49" charset="0"/>
              </a:rPr>
              <a:t>openssl</a:t>
            </a:r>
            <a:r>
              <a:rPr lang="en-US" altLang="zh-TW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Courier New" panose="02070309020205020404" pitchFamily="49" charset="0"/>
              </a:rPr>
              <a:t>dgst</a:t>
            </a:r>
            <a:r>
              <a:rPr lang="en-US" altLang="zh-TW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TW" dirty="0">
                <a:latin typeface="Courier New" panose="02070309020205020404" pitchFamily="49" charset="0"/>
              </a:rPr>
              <a:t>–</a:t>
            </a:r>
            <a:r>
              <a:rPr lang="en-US" altLang="zh-TW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sha512 </a:t>
            </a:r>
            <a:r>
              <a:rPr lang="en-US" altLang="zh-TW" dirty="0">
                <a:solidFill>
                  <a:srgbClr val="000000"/>
                </a:solidFill>
                <a:latin typeface="Courier New" panose="02070309020205020404" pitchFamily="49" charset="0"/>
              </a:rPr>
              <a:t>plaintext</a:t>
            </a:r>
            <a:endParaRPr lang="en-US" altLang="zh-TW" dirty="0"/>
          </a:p>
          <a:p>
            <a:pPr lvl="1"/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CA74-F608-437A-9D7A-2B8187C59B9B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3487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Breaking RSA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RSA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sz="2400" dirty="0" smtClean="0"/>
              <a:t>Open Problem</a:t>
            </a:r>
          </a:p>
          <a:p>
            <a:pPr lvl="1"/>
            <a:r>
              <a:rPr lang="en-US" altLang="zh-TW" sz="2000" dirty="0" smtClean="0"/>
              <a:t>Given &lt;</a:t>
            </a:r>
            <a:r>
              <a:rPr lang="en-US" altLang="zh-TW" sz="2000" dirty="0" err="1" smtClean="0"/>
              <a:t>N,e</a:t>
            </a:r>
            <a:r>
              <a:rPr lang="en-US" altLang="zh-TW" sz="2000" dirty="0" smtClean="0"/>
              <a:t>&gt; , possible to factor N in polynomial-time?</a:t>
            </a:r>
          </a:p>
          <a:p>
            <a:r>
              <a:rPr lang="en-US" altLang="zh-TW" sz="2400" dirty="0" smtClean="0"/>
              <a:t>RSA vulnerability</a:t>
            </a:r>
          </a:p>
          <a:p>
            <a:pPr lvl="1"/>
            <a:r>
              <a:rPr lang="en-US" altLang="zh-TW" sz="2000" dirty="0" smtClean="0"/>
              <a:t>Key length too short -&gt; Factor the N</a:t>
            </a:r>
          </a:p>
          <a:p>
            <a:pPr lvl="1"/>
            <a:r>
              <a:rPr lang="en-US" altLang="zh-TW" sz="2000" dirty="0" smtClean="0"/>
              <a:t>Misuse of protocol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CA74-F608-437A-9D7A-2B8187C59B9B}" type="slidenum">
              <a:rPr lang="zh-TW" altLang="en-US" smtClean="0"/>
              <a:t>10</a:t>
            </a:fld>
            <a:endParaRPr lang="zh-TW" altLang="en-US"/>
          </a:p>
        </p:txBody>
      </p:sp>
      <p:graphicFrame>
        <p:nvGraphicFramePr>
          <p:cNvPr id="5" name="物件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2843476"/>
              </p:ext>
            </p:extLst>
          </p:nvPr>
        </p:nvGraphicFramePr>
        <p:xfrm>
          <a:off x="1780136" y="1974697"/>
          <a:ext cx="3261421" cy="2226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Equation" r:id="rId3" imgW="2361960" imgH="1612800" progId="Equation.DSMT4">
                  <p:embed/>
                </p:oleObj>
              </mc:Choice>
              <mc:Fallback>
                <p:oleObj name="Equation" r:id="rId3" imgW="2361960" imgH="1612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80136" y="1974697"/>
                        <a:ext cx="3261421" cy="22268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0268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Breaking RSA – Factoring 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Practice 1 – RSA1</a:t>
            </a:r>
          </a:p>
          <a:p>
            <a:pPr lvl="1"/>
            <a:r>
              <a:rPr lang="en-US" altLang="zh-TW" dirty="0">
                <a:hlinkClick r:id="rId2"/>
              </a:rPr>
              <a:t>http://</a:t>
            </a:r>
            <a:r>
              <a:rPr lang="en-US" altLang="zh-TW" dirty="0" smtClean="0">
                <a:hlinkClick r:id="rId2"/>
              </a:rPr>
              <a:t>train.cs.nctu.edu.tw/problems/8</a:t>
            </a:r>
            <a:endParaRPr lang="en-US" altLang="zh-TW" dirty="0" smtClean="0"/>
          </a:p>
          <a:p>
            <a:r>
              <a:rPr lang="en-US" altLang="zh-TW" dirty="0"/>
              <a:t>You have</a:t>
            </a:r>
          </a:p>
          <a:p>
            <a:pPr lvl="1"/>
            <a:r>
              <a:rPr lang="en-US" altLang="zh-TW" dirty="0" err="1"/>
              <a:t>pub.pem</a:t>
            </a:r>
            <a:r>
              <a:rPr lang="en-US" altLang="zh-TW" dirty="0"/>
              <a:t> #The RSA public key</a:t>
            </a:r>
          </a:p>
          <a:p>
            <a:pPr lvl="1"/>
            <a:r>
              <a:rPr lang="en-US" altLang="zh-TW" dirty="0" err="1"/>
              <a:t>aeskey.rsa.enc</a:t>
            </a:r>
            <a:r>
              <a:rPr lang="en-US" altLang="zh-TW" dirty="0"/>
              <a:t> #The AES key encrypted by </a:t>
            </a:r>
            <a:r>
              <a:rPr lang="en-US" altLang="zh-TW" dirty="0" smtClean="0"/>
              <a:t>RSA</a:t>
            </a:r>
            <a:endParaRPr lang="en-US" altLang="zh-TW" dirty="0"/>
          </a:p>
          <a:p>
            <a:pPr lvl="1"/>
            <a:r>
              <a:rPr lang="en-US" altLang="zh-TW" dirty="0" err="1"/>
              <a:t>flag.jpg.aes.enc</a:t>
            </a:r>
            <a:r>
              <a:rPr lang="en-US" altLang="zh-TW" dirty="0"/>
              <a:t> #The </a:t>
            </a:r>
            <a:r>
              <a:rPr lang="en-US" altLang="zh-TW" dirty="0" err="1"/>
              <a:t>ciphertext</a:t>
            </a:r>
            <a:r>
              <a:rPr lang="en-US" altLang="zh-TW" dirty="0"/>
              <a:t> encrypted by </a:t>
            </a:r>
            <a:r>
              <a:rPr lang="en-US" altLang="zh-TW" dirty="0" smtClean="0"/>
              <a:t>AES</a:t>
            </a:r>
            <a:endParaRPr lang="en-US" altLang="zh-TW" dirty="0"/>
          </a:p>
          <a:p>
            <a:r>
              <a:rPr lang="en-US" altLang="zh-TW" dirty="0"/>
              <a:t>You need to</a:t>
            </a:r>
          </a:p>
          <a:p>
            <a:pPr lvl="1"/>
            <a:r>
              <a:rPr lang="en-US" altLang="zh-TW" dirty="0"/>
              <a:t>Break the RSA then get the AES key</a:t>
            </a:r>
          </a:p>
          <a:p>
            <a:pPr lvl="1"/>
            <a:r>
              <a:rPr lang="en-US" altLang="zh-TW" dirty="0"/>
              <a:t>Decrypted the </a:t>
            </a:r>
            <a:r>
              <a:rPr lang="en-US" altLang="zh-TW" dirty="0" err="1" smtClean="0"/>
              <a:t>flag.jpg.aes.enc</a:t>
            </a:r>
            <a:r>
              <a:rPr lang="en-US" altLang="zh-TW" dirty="0" smtClean="0"/>
              <a:t> using that AES key</a:t>
            </a:r>
            <a:endParaRPr lang="en-US" altLang="zh-TW" dirty="0"/>
          </a:p>
          <a:p>
            <a:pPr lvl="2"/>
            <a:endParaRPr lang="en-US" altLang="zh-TW" dirty="0"/>
          </a:p>
          <a:p>
            <a:pPr lvl="2"/>
            <a:endParaRPr lang="en-US" altLang="zh-TW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CA74-F608-437A-9D7A-2B8187C59B9B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4806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Breaking RSA – Factoring 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Tools</a:t>
            </a:r>
            <a:endParaRPr lang="en-US" altLang="zh-TW" dirty="0"/>
          </a:p>
          <a:p>
            <a:pPr lvl="1"/>
            <a:r>
              <a:rPr lang="en-US" altLang="zh-TW" dirty="0">
                <a:hlinkClick r:id="rId2"/>
              </a:rPr>
              <a:t>http://factordb.com/</a:t>
            </a:r>
            <a:endParaRPr lang="en-US" altLang="zh-TW" dirty="0"/>
          </a:p>
          <a:p>
            <a:pPr lvl="1"/>
            <a:r>
              <a:rPr lang="en-US" altLang="zh-TW" dirty="0" err="1"/>
              <a:t>yafu</a:t>
            </a:r>
            <a:endParaRPr lang="en-US" altLang="zh-TW" dirty="0"/>
          </a:p>
          <a:p>
            <a:pPr lvl="2"/>
            <a:r>
              <a:rPr lang="en-US" altLang="zh-TW" dirty="0"/>
              <a:t>Tool download: </a:t>
            </a:r>
            <a:r>
              <a:rPr lang="en-US" altLang="zh-TW" dirty="0">
                <a:hlinkClick r:id="rId3"/>
              </a:rPr>
              <a:t>http://sourceforge.net/projects/yafu/</a:t>
            </a:r>
            <a:endParaRPr lang="en-US" altLang="zh-TW" dirty="0"/>
          </a:p>
          <a:p>
            <a:pPr lvl="2"/>
            <a:r>
              <a:rPr lang="en-US" altLang="zh-TW" dirty="0">
                <a:solidFill>
                  <a:srgbClr val="000000"/>
                </a:solidFill>
                <a:latin typeface="Courier New" panose="02070309020205020404" pitchFamily="49" charset="0"/>
              </a:rPr>
              <a:t>Usage: factor(N)</a:t>
            </a:r>
          </a:p>
          <a:p>
            <a:pPr lvl="1"/>
            <a:r>
              <a:rPr lang="en-US" altLang="zh-TW" dirty="0" err="1"/>
              <a:t>Cado</a:t>
            </a:r>
            <a:r>
              <a:rPr lang="en-US" altLang="zh-TW" dirty="0"/>
              <a:t>-NFS</a:t>
            </a:r>
          </a:p>
          <a:p>
            <a:pPr lvl="2"/>
            <a:r>
              <a:rPr lang="en-US" altLang="zh-TW" dirty="0"/>
              <a:t>Tool download: </a:t>
            </a:r>
            <a:r>
              <a:rPr lang="en-US" altLang="zh-TW" dirty="0">
                <a:hlinkClick r:id="rId4"/>
              </a:rPr>
              <a:t>http://cado-nfs.gforge.inria.fr/</a:t>
            </a:r>
            <a:endParaRPr lang="en-US" altLang="zh-TW" dirty="0"/>
          </a:p>
          <a:p>
            <a:pPr lvl="1"/>
            <a:r>
              <a:rPr lang="en-US" altLang="zh-TW" dirty="0" err="1"/>
              <a:t>Mesieve</a:t>
            </a:r>
            <a:endParaRPr lang="en-US" altLang="zh-TW" dirty="0"/>
          </a:p>
          <a:p>
            <a:pPr lvl="2"/>
            <a:r>
              <a:rPr lang="en-US" altLang="zh-TW" dirty="0"/>
              <a:t>Tool download : </a:t>
            </a:r>
            <a:r>
              <a:rPr lang="en-US" altLang="zh-TW" dirty="0">
                <a:hlinkClick r:id="rId5"/>
              </a:rPr>
              <a:t>https://</a:t>
            </a:r>
            <a:r>
              <a:rPr lang="en-US" altLang="zh-TW" dirty="0" smtClean="0">
                <a:hlinkClick r:id="rId5"/>
              </a:rPr>
              <a:t>github.com/Tojaj/rsa-algorithm/tree/master/msieve-1.51</a:t>
            </a:r>
            <a:endParaRPr lang="en-US" altLang="zh-TW" dirty="0"/>
          </a:p>
          <a:p>
            <a:r>
              <a:rPr lang="en-US" altLang="zh-TW" dirty="0" smtClean="0"/>
              <a:t>Tools to construct .</a:t>
            </a:r>
            <a:r>
              <a:rPr lang="en-US" altLang="zh-TW" dirty="0" err="1" smtClean="0"/>
              <a:t>pem</a:t>
            </a:r>
            <a:r>
              <a:rPr lang="en-US" altLang="zh-TW" dirty="0" smtClean="0"/>
              <a:t> with given p, q, e, d.</a:t>
            </a:r>
          </a:p>
          <a:p>
            <a:pPr lvl="1"/>
            <a:r>
              <a:rPr lang="en-US" altLang="zh-TW" dirty="0" err="1" smtClean="0"/>
              <a:t>rsatool</a:t>
            </a:r>
            <a:endParaRPr lang="en-US" altLang="zh-TW" dirty="0" smtClean="0"/>
          </a:p>
          <a:p>
            <a:pPr lvl="2"/>
            <a:r>
              <a:rPr lang="en-US" altLang="zh-TW" dirty="0">
                <a:hlinkClick r:id="rId6"/>
              </a:rPr>
              <a:t>https://</a:t>
            </a:r>
            <a:r>
              <a:rPr lang="en-US" altLang="zh-TW" dirty="0" smtClean="0">
                <a:hlinkClick r:id="rId6"/>
              </a:rPr>
              <a:t>github.com/ius/rsatool</a:t>
            </a:r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CA74-F608-437A-9D7A-2B8187C59B9B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3410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Programming with </a:t>
            </a:r>
            <a:r>
              <a:rPr lang="en-US" altLang="zh-TW" dirty="0" err="1" smtClean="0"/>
              <a:t>OpenSSL</a:t>
            </a:r>
            <a:r>
              <a:rPr lang="en-US" altLang="zh-TW" dirty="0" smtClean="0"/>
              <a:t> API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47851"/>
            <a:ext cx="7886700" cy="4351338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Practice 2 – RSA2</a:t>
            </a:r>
          </a:p>
          <a:p>
            <a:pPr lvl="1"/>
            <a:r>
              <a:rPr lang="en-US" altLang="zh-TW" dirty="0">
                <a:hlinkClick r:id="rId2"/>
              </a:rPr>
              <a:t>http://</a:t>
            </a:r>
            <a:r>
              <a:rPr lang="en-US" altLang="zh-TW" dirty="0" smtClean="0">
                <a:hlinkClick r:id="rId2"/>
              </a:rPr>
              <a:t>train.cs.nctu.edu.tw/problems</a:t>
            </a:r>
            <a:endParaRPr lang="en-US" altLang="zh-TW" dirty="0" smtClean="0"/>
          </a:p>
          <a:p>
            <a:r>
              <a:rPr lang="en-US" altLang="zh-TW" dirty="0" smtClean="0"/>
              <a:t>C</a:t>
            </a:r>
          </a:p>
          <a:p>
            <a:pPr lvl="1"/>
            <a:r>
              <a:rPr lang="en-US" altLang="zh-TW" dirty="0">
                <a:hlinkClick r:id="rId3"/>
              </a:rPr>
              <a:t>https://</a:t>
            </a:r>
            <a:r>
              <a:rPr lang="en-US" altLang="zh-TW" dirty="0" smtClean="0">
                <a:hlinkClick r:id="rId3"/>
              </a:rPr>
              <a:t>www.openssl.org/docs/ssl/ssl.html</a:t>
            </a:r>
            <a:endParaRPr lang="en-US" altLang="zh-TW" dirty="0" smtClean="0"/>
          </a:p>
          <a:p>
            <a:r>
              <a:rPr lang="en-US" altLang="zh-TW" dirty="0" smtClean="0"/>
              <a:t>Python</a:t>
            </a:r>
          </a:p>
          <a:p>
            <a:pPr lvl="1"/>
            <a:r>
              <a:rPr lang="en-US" altLang="zh-TW" dirty="0">
                <a:hlinkClick r:id="rId4"/>
              </a:rPr>
              <a:t>https://</a:t>
            </a:r>
            <a:r>
              <a:rPr lang="en-US" altLang="zh-TW" dirty="0" smtClean="0">
                <a:hlinkClick r:id="rId4"/>
              </a:rPr>
              <a:t>pypi.python.org/pypi/pycrypto</a:t>
            </a:r>
            <a:endParaRPr lang="en-US" altLang="zh-TW" dirty="0" smtClean="0"/>
          </a:p>
          <a:p>
            <a:pPr lvl="1"/>
            <a:r>
              <a:rPr lang="en-US" altLang="zh-TW" dirty="0">
                <a:hlinkClick r:id="rId5"/>
              </a:rPr>
              <a:t>https://</a:t>
            </a:r>
            <a:r>
              <a:rPr lang="en-US" altLang="zh-TW" dirty="0" smtClean="0">
                <a:hlinkClick r:id="rId5"/>
              </a:rPr>
              <a:t>pypi.python.org/pypi/pyOpenSSL/0.15.1</a:t>
            </a:r>
            <a:endParaRPr lang="en-US" altLang="zh-TW" dirty="0" smtClean="0"/>
          </a:p>
          <a:p>
            <a:r>
              <a:rPr lang="en-US" altLang="zh-TW" dirty="0" smtClean="0"/>
              <a:t>Ruby</a:t>
            </a:r>
          </a:p>
          <a:p>
            <a:pPr lvl="1"/>
            <a:r>
              <a:rPr lang="en-US" altLang="zh-TW" dirty="0">
                <a:hlinkClick r:id="rId6"/>
              </a:rPr>
              <a:t>http://</a:t>
            </a:r>
            <a:r>
              <a:rPr lang="en-US" altLang="zh-TW" dirty="0" smtClean="0">
                <a:hlinkClick r:id="rId6"/>
              </a:rPr>
              <a:t>ruby-doc.org/stdlib-2.0.0/libdoc/openssl/rdoc/OpenSSL.html</a:t>
            </a:r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CA74-F608-437A-9D7A-2B8187C59B9B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314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 smtClean="0"/>
              <a:t>Crypto in CTF</a:t>
            </a:r>
            <a:endParaRPr lang="zh-TW" altLang="en-US" sz="4800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CA74-F608-437A-9D7A-2B8187C59B9B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5896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/>
              <a:t>Crypto in CTF - </a:t>
            </a:r>
            <a:br>
              <a:rPr lang="en-US" altLang="zh-TW" sz="3600" dirty="0" smtClean="0"/>
            </a:br>
            <a:r>
              <a:rPr lang="en-US" altLang="zh-TW" sz="3600" dirty="0" smtClean="0"/>
              <a:t>Some skills you should have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Background knowledge is necessary</a:t>
            </a:r>
          </a:p>
          <a:p>
            <a:pPr lvl="1"/>
            <a:r>
              <a:rPr lang="en-US" altLang="zh-TW" dirty="0" smtClean="0"/>
              <a:t>Cryptography, Protocols, Ciphers, Algorithm…</a:t>
            </a:r>
          </a:p>
          <a:p>
            <a:pPr lvl="1"/>
            <a:endParaRPr lang="en-US" altLang="zh-TW" dirty="0" smtClean="0"/>
          </a:p>
          <a:p>
            <a:pPr marL="228600" lvl="1">
              <a:spcBef>
                <a:spcPts val="1000"/>
              </a:spcBef>
            </a:pPr>
            <a:r>
              <a:rPr lang="en-US" altLang="zh-TW" dirty="0"/>
              <a:t>Writing code is necessary</a:t>
            </a:r>
          </a:p>
          <a:p>
            <a:pPr lvl="1"/>
            <a:r>
              <a:rPr lang="en-US" altLang="zh-TW" dirty="0" smtClean="0"/>
              <a:t>Crypto in CTF needs to implement attack</a:t>
            </a:r>
          </a:p>
          <a:p>
            <a:pPr lvl="1"/>
            <a:r>
              <a:rPr lang="en-US" altLang="zh-TW" dirty="0" smtClean="0"/>
              <a:t>If you like ACM-ICPC, maybe you will like crypto. There are many things relate to algorithm</a:t>
            </a:r>
          </a:p>
          <a:p>
            <a:pPr lvl="1"/>
            <a:endParaRPr lang="en-US" altLang="zh-TW" dirty="0" smtClean="0"/>
          </a:p>
          <a:p>
            <a:r>
              <a:rPr lang="en-US" altLang="zh-TW" dirty="0" smtClean="0"/>
              <a:t>You cannot hate MATH</a:t>
            </a:r>
          </a:p>
          <a:p>
            <a:pPr lvl="1"/>
            <a:r>
              <a:rPr lang="en-US" altLang="zh-TW" dirty="0" smtClean="0"/>
              <a:t>Math is not the most important part of crypto in CTF</a:t>
            </a:r>
          </a:p>
          <a:p>
            <a:pPr lvl="1"/>
            <a:r>
              <a:rPr lang="en-US" altLang="zh-TW" dirty="0" smtClean="0"/>
              <a:t>But in Public-key encryption is all about math</a:t>
            </a:r>
          </a:p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CA74-F608-437A-9D7A-2B8187C59B9B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3868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smtClean="0"/>
              <a:t>Crypto in CTF</a:t>
            </a:r>
            <a:r>
              <a:rPr lang="en-US" altLang="zh-TW" sz="4000" dirty="0"/>
              <a:t> </a:t>
            </a:r>
            <a:r>
              <a:rPr lang="en-US" altLang="zh-TW" sz="4000" dirty="0" smtClean="0"/>
              <a:t>-</a:t>
            </a:r>
            <a:br>
              <a:rPr lang="en-US" altLang="zh-TW" sz="4000" dirty="0" smtClean="0"/>
            </a:br>
            <a:r>
              <a:rPr lang="en-US" altLang="zh-TW" sz="4000" dirty="0" smtClean="0"/>
              <a:t>In the CTF you need to</a:t>
            </a: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 smtClean="0"/>
              <a:t>Observe, try and learn!</a:t>
            </a:r>
          </a:p>
          <a:p>
            <a:pPr lvl="1"/>
            <a:r>
              <a:rPr lang="en-US" altLang="zh-TW" dirty="0" smtClean="0"/>
              <a:t>Think about what you have learned</a:t>
            </a:r>
          </a:p>
          <a:p>
            <a:pPr lvl="1"/>
            <a:r>
              <a:rPr lang="en-US" altLang="zh-TW" dirty="0" smtClean="0"/>
              <a:t>Observe the source code’s algorithm weakness</a:t>
            </a:r>
          </a:p>
          <a:p>
            <a:pPr lvl="1"/>
            <a:r>
              <a:rPr lang="en-US" altLang="zh-TW" dirty="0" smtClean="0"/>
              <a:t>Observe the protocol weakness</a:t>
            </a:r>
          </a:p>
          <a:p>
            <a:pPr lvl="1"/>
            <a:r>
              <a:rPr lang="en-US" altLang="zh-TW" dirty="0" smtClean="0"/>
              <a:t>Try to attack</a:t>
            </a:r>
          </a:p>
          <a:p>
            <a:pPr lvl="1"/>
            <a:r>
              <a:rPr lang="en-US" altLang="zh-TW" dirty="0" smtClean="0"/>
              <a:t>Learn new things if necessary</a:t>
            </a:r>
          </a:p>
          <a:p>
            <a:pPr lvl="1"/>
            <a:endParaRPr lang="en-US" altLang="zh-TW" dirty="0" smtClean="0"/>
          </a:p>
          <a:p>
            <a:r>
              <a:rPr lang="en-US" altLang="zh-TW" dirty="0" smtClean="0"/>
              <a:t>Discuss with your teammate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If you have some idea, write it into math equations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Implement!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CA74-F608-437A-9D7A-2B8187C59B9B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2998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/>
              <a:t>Crypto in </a:t>
            </a:r>
            <a:r>
              <a:rPr lang="en-US" altLang="zh-TW" sz="4000" dirty="0" smtClean="0"/>
              <a:t>CTF -</a:t>
            </a:r>
            <a:br>
              <a:rPr lang="en-US" altLang="zh-TW" sz="4000" dirty="0" smtClean="0"/>
            </a:br>
            <a:r>
              <a:rPr lang="en-US" altLang="zh-TW" sz="4000" dirty="0" smtClean="0"/>
              <a:t>In </a:t>
            </a:r>
            <a:r>
              <a:rPr lang="en-US" altLang="zh-TW" sz="4000" dirty="0"/>
              <a:t>the CTF you </a:t>
            </a:r>
            <a:r>
              <a:rPr lang="en-US" altLang="zh-TW" sz="4000" dirty="0" smtClean="0"/>
              <a:t>don’t need </a:t>
            </a:r>
            <a:r>
              <a:rPr lang="en-US" altLang="zh-TW" sz="4000" dirty="0"/>
              <a:t>to</a:t>
            </a: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Open </a:t>
            </a:r>
            <a:r>
              <a:rPr lang="en-US" altLang="zh-TW" dirty="0" err="1" smtClean="0"/>
              <a:t>IDAPro</a:t>
            </a:r>
            <a:r>
              <a:rPr lang="en-US" altLang="zh-TW" dirty="0" smtClean="0"/>
              <a:t>, GDB … </a:t>
            </a:r>
            <a:br>
              <a:rPr lang="en-US" altLang="zh-TW" dirty="0" smtClean="0"/>
            </a:br>
            <a:r>
              <a:rPr lang="en-US" altLang="zh-TW" dirty="0" smtClean="0"/>
              <a:t>(but in some situation you need to)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Worry about your teammate will solve your problem</a:t>
            </a:r>
          </a:p>
          <a:p>
            <a:endParaRPr lang="en-US" altLang="zh-TW" dirty="0"/>
          </a:p>
          <a:p>
            <a:r>
              <a:rPr lang="en-US" altLang="zh-TW" dirty="0" smtClean="0"/>
              <a:t>Worry about your teammate will blame on you. Since that they don’t know what you are doing</a:t>
            </a:r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CA74-F608-437A-9D7A-2B8187C59B9B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0352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CA74-F608-437A-9D7A-2B8187C59B9B}" type="slidenum">
              <a:rPr lang="zh-TW" altLang="en-US" smtClean="0"/>
              <a:t>18</a:t>
            </a:fld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1098434" y="1911045"/>
            <a:ext cx="6899838" cy="264687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altLang="zh-TW" sz="20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其實打</a:t>
            </a:r>
            <a:r>
              <a:rPr lang="en-US" altLang="zh-TW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CTF</a:t>
            </a:r>
            <a:r>
              <a:rPr lang="zh-TW" alt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只</a:t>
            </a:r>
            <a:r>
              <a:rPr lang="zh-TW" altLang="en-US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需要</a:t>
            </a:r>
            <a:r>
              <a:rPr lang="en-US" altLang="zh-TW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  <a:p>
            <a:pPr algn="ctr"/>
            <a:r>
              <a:rPr lang="zh-TW" altLang="en-US" sz="4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興趣</a:t>
            </a:r>
            <a:r>
              <a:rPr lang="en-US" altLang="zh-TW" sz="4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4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耐心</a:t>
            </a:r>
            <a:r>
              <a:rPr lang="en-US" altLang="zh-TW" sz="4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4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求知慾</a:t>
            </a:r>
            <a:endParaRPr lang="en-US" altLang="zh-TW" sz="4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endParaRPr lang="en-US" altLang="zh-TW" sz="30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程式能⼒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逆向⼯程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密碼學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演算法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資訊隱藏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鑑識分析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滲透測試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… , </a:t>
            </a: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etc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16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這些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都可以慢慢學 </a:t>
            </a:r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XD</a:t>
            </a:r>
            <a:endParaRPr lang="en-US" altLang="zh-TW" sz="20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r"/>
            <a:r>
              <a:rPr lang="en-US" altLang="zh-TW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- </a:t>
            </a:r>
            <a:r>
              <a:rPr lang="en-US" altLang="zh-TW" sz="2000" i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by 0xddaa</a:t>
            </a:r>
            <a:endParaRPr lang="zh-TW" altLang="en-US" sz="2000" b="0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35358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 smtClean="0"/>
              <a:t>An example of </a:t>
            </a:r>
            <a:br>
              <a:rPr lang="en-US" altLang="zh-TW" sz="4800" dirty="0" smtClean="0"/>
            </a:br>
            <a:r>
              <a:rPr lang="en-US" altLang="zh-TW" sz="4800" dirty="0" smtClean="0"/>
              <a:t>Crypto-like vulnerability: “Padding Oracle”</a:t>
            </a:r>
            <a:endParaRPr lang="zh-TW" altLang="en-US" sz="4800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CA74-F608-437A-9D7A-2B8187C59B9B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48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Message Authentication Code (MAC)</a:t>
            </a:r>
          </a:p>
          <a:p>
            <a:pPr lvl="1"/>
            <a:r>
              <a:rPr lang="en-US" altLang="zh-TW" dirty="0" smtClean="0"/>
              <a:t>Ensure integrity of message</a:t>
            </a:r>
          </a:p>
          <a:p>
            <a:pPr lvl="1"/>
            <a:r>
              <a:rPr lang="en-US" altLang="zh-TW" dirty="0" smtClean="0"/>
              <a:t>Ensure authenticity</a:t>
            </a:r>
            <a:endParaRPr lang="en-US" altLang="zh-TW" dirty="0"/>
          </a:p>
          <a:p>
            <a:pPr lvl="1"/>
            <a:endParaRPr lang="en-US" altLang="zh-TW" dirty="0" smtClean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731" y="3257960"/>
            <a:ext cx="4609772" cy="2677263"/>
          </a:xfrm>
          <a:prstGeom prst="rect">
            <a:avLst/>
          </a:prstGeom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CA74-F608-437A-9D7A-2B8187C59B9B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4782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smtClean="0"/>
              <a:t>MAC implemented by Block cipher (e.g. AES) is called C-MAC</a:t>
            </a:r>
          </a:p>
          <a:p>
            <a:r>
              <a:rPr lang="en-US" altLang="zh-TW" sz="2400" dirty="0" smtClean="0"/>
              <a:t>Block </a:t>
            </a:r>
            <a:r>
              <a:rPr lang="en-US" altLang="zh-TW" sz="2400" dirty="0"/>
              <a:t>Cipher Mode</a:t>
            </a:r>
          </a:p>
          <a:p>
            <a:pPr lvl="1"/>
            <a:r>
              <a:rPr lang="en-US" altLang="zh-TW" sz="2000" dirty="0"/>
              <a:t>Divide plaintext into several </a:t>
            </a:r>
            <a:r>
              <a:rPr lang="en-US" altLang="zh-TW" sz="2000" dirty="0" smtClean="0"/>
              <a:t>blocks </a:t>
            </a:r>
            <a:r>
              <a:rPr lang="en-US" altLang="zh-TW" sz="2000" dirty="0"/>
              <a:t>and </a:t>
            </a:r>
            <a:r>
              <a:rPr lang="en-US" altLang="zh-TW" sz="2000" dirty="0" smtClean="0"/>
              <a:t>apply same encryption algorithm to each block</a:t>
            </a:r>
          </a:p>
          <a:p>
            <a:pPr lvl="1"/>
            <a:r>
              <a:rPr lang="en-US" altLang="zh-TW" sz="2000" dirty="0" smtClean="0"/>
              <a:t>Cipher </a:t>
            </a:r>
            <a:r>
              <a:rPr lang="en-US" altLang="zh-TW" sz="2000" dirty="0"/>
              <a:t>Block Chaining</a:t>
            </a:r>
            <a:r>
              <a:rPr lang="zh-TW" altLang="en-US" sz="2000" dirty="0"/>
              <a:t> </a:t>
            </a:r>
            <a:r>
              <a:rPr lang="en-US" altLang="zh-TW" sz="2000" dirty="0"/>
              <a:t>(CBC)</a:t>
            </a:r>
          </a:p>
          <a:p>
            <a:pPr lvl="2"/>
            <a:endParaRPr lang="en-US" altLang="zh-TW" dirty="0"/>
          </a:p>
          <a:p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3852128"/>
            <a:ext cx="5791200" cy="2447925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CA74-F608-437A-9D7A-2B8187C59B9B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5700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5400" dirty="0"/>
              <a:t>Padding-oracle attacks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i="1" dirty="0" smtClean="0"/>
              <a:t>The </a:t>
            </a:r>
            <a:r>
              <a:rPr lang="en-US" altLang="zh-TW" i="1" dirty="0"/>
              <a:t>following slides are taken from the Cryptography course on Coursera, taught by Professor Jonathan </a:t>
            </a:r>
            <a:r>
              <a:rPr lang="en-US" altLang="zh-TW" i="1" dirty="0" smtClean="0"/>
              <a:t>Katz</a:t>
            </a:r>
            <a:endParaRPr lang="zh-TW" altLang="en-US" i="1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CA74-F608-437A-9D7A-2B8187C59B9B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0675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the definition of CCA-security, the attacker can obtain the decryption of any </a:t>
            </a:r>
            <a:r>
              <a:rPr lang="en-US" dirty="0" err="1" smtClean="0"/>
              <a:t>ciphertext</a:t>
            </a:r>
            <a:r>
              <a:rPr lang="en-US" dirty="0" smtClean="0"/>
              <a:t> of its choice (besides the challenge </a:t>
            </a:r>
            <a:r>
              <a:rPr lang="en-US" dirty="0" err="1" smtClean="0"/>
              <a:t>ciphertext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Is this realistic?</a:t>
            </a:r>
          </a:p>
          <a:p>
            <a:pPr lvl="1"/>
            <a:endParaRPr lang="en-US" dirty="0"/>
          </a:p>
          <a:p>
            <a:r>
              <a:rPr lang="en-US" dirty="0" smtClean="0"/>
              <a:t>We show a real-world scenario where:</a:t>
            </a:r>
          </a:p>
          <a:p>
            <a:pPr lvl="1"/>
            <a:r>
              <a:rPr lang="en-US" i="1" dirty="0" smtClean="0"/>
              <a:t>One bit</a:t>
            </a:r>
            <a:r>
              <a:rPr lang="en-US" dirty="0" smtClean="0"/>
              <a:t> about decrypted </a:t>
            </a:r>
            <a:r>
              <a:rPr lang="en-US" dirty="0" err="1" smtClean="0"/>
              <a:t>ciphertexts</a:t>
            </a:r>
            <a:r>
              <a:rPr lang="en-US" dirty="0" smtClean="0"/>
              <a:t> is leaked</a:t>
            </a:r>
          </a:p>
          <a:p>
            <a:pPr lvl="1"/>
            <a:r>
              <a:rPr lang="en-US" dirty="0" smtClean="0"/>
              <a:t>This can be exploited to learn the entire plaintext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BD89-05F3-4F96-A315-DC3652376F05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877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CBC mode</a:t>
            </a:r>
            <a:endParaRPr lang="en-US" dirty="0"/>
          </a:p>
        </p:txBody>
      </p:sp>
      <p:sp>
        <p:nvSpPr>
          <p:cNvPr id="4" name="Rounded Rectangle 3"/>
          <p:cNvSpPr>
            <a:spLocks noChangeArrowheads="1"/>
          </p:cNvSpPr>
          <p:nvPr/>
        </p:nvSpPr>
        <p:spPr bwMode="auto">
          <a:xfrm>
            <a:off x="2362200" y="3205818"/>
            <a:ext cx="990600" cy="99060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 algn="ctr">
            <a:solidFill>
              <a:srgbClr val="000000"/>
            </a:solidFill>
            <a:round/>
            <a:headEnd/>
            <a:tailEnd type="triangle" w="lg" len="med"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628110" y="3470930"/>
            <a:ext cx="45878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r>
              <a:rPr lang="en-US" altLang="en-US" sz="2800" dirty="0" err="1">
                <a:latin typeface="+mn-lt"/>
              </a:rPr>
              <a:t>F</a:t>
            </a:r>
            <a:r>
              <a:rPr lang="en-US" altLang="en-US" sz="2800" baseline="-25000" dirty="0" err="1">
                <a:latin typeface="+mn-lt"/>
              </a:rPr>
              <a:t>k</a:t>
            </a:r>
            <a:endParaRPr lang="en-US" altLang="en-US" sz="2800" dirty="0">
              <a:latin typeface="+mn-lt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143000" y="2225398"/>
            <a:ext cx="47801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r>
              <a:rPr lang="en-US" altLang="en-US" sz="2800" dirty="0" smtClean="0">
                <a:latin typeface="+mn-lt"/>
              </a:rPr>
              <a:t>IV</a:t>
            </a:r>
            <a:endParaRPr lang="en-US" altLang="en-US" dirty="0">
              <a:latin typeface="+mn-lt"/>
            </a:endParaRPr>
          </a:p>
        </p:txBody>
      </p:sp>
      <p:cxnSp>
        <p:nvCxnSpPr>
          <p:cNvPr id="16" name="Straight Arrow Connector 16"/>
          <p:cNvCxnSpPr>
            <a:cxnSpLocks noChangeShapeType="1"/>
          </p:cNvCxnSpPr>
          <p:nvPr/>
        </p:nvCxnSpPr>
        <p:spPr bwMode="auto">
          <a:xfrm>
            <a:off x="2857500" y="4202768"/>
            <a:ext cx="0" cy="1293812"/>
          </a:xfrm>
          <a:prstGeom prst="straightConnector1">
            <a:avLst/>
          </a:prstGeom>
          <a:noFill/>
          <a:ln w="19050" algn="ctr">
            <a:solidFill>
              <a:srgbClr val="000000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7"/>
          <p:cNvSpPr txBox="1">
            <a:spLocks noChangeArrowheads="1"/>
          </p:cNvSpPr>
          <p:nvPr/>
        </p:nvSpPr>
        <p:spPr bwMode="auto">
          <a:xfrm>
            <a:off x="2560784" y="1539598"/>
            <a:ext cx="5934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r>
              <a:rPr lang="en-US" altLang="en-US" sz="2800" dirty="0" smtClean="0">
                <a:latin typeface="+mn-lt"/>
              </a:rPr>
              <a:t>m</a:t>
            </a:r>
            <a:r>
              <a:rPr lang="en-US" altLang="en-US" sz="2800" baseline="-25000" dirty="0">
                <a:latin typeface="+mn-lt"/>
              </a:rPr>
              <a:t>1</a:t>
            </a:r>
            <a:endParaRPr lang="en-US" altLang="en-US" sz="2800" dirty="0">
              <a:latin typeface="+mn-lt"/>
            </a:endParaRPr>
          </a:p>
        </p:txBody>
      </p:sp>
      <p:cxnSp>
        <p:nvCxnSpPr>
          <p:cNvPr id="33" name="Straight Arrow Connector 51"/>
          <p:cNvCxnSpPr>
            <a:cxnSpLocks noChangeShapeType="1"/>
          </p:cNvCxnSpPr>
          <p:nvPr/>
        </p:nvCxnSpPr>
        <p:spPr bwMode="auto">
          <a:xfrm>
            <a:off x="1390829" y="2708930"/>
            <a:ext cx="0" cy="2787650"/>
          </a:xfrm>
          <a:prstGeom prst="straightConnector1">
            <a:avLst/>
          </a:prstGeom>
          <a:noFill/>
          <a:ln w="19050" algn="ctr">
            <a:solidFill>
              <a:srgbClr val="000000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TextBox 55"/>
          <p:cNvSpPr txBox="1">
            <a:spLocks noChangeArrowheads="1"/>
          </p:cNvSpPr>
          <p:nvPr/>
        </p:nvSpPr>
        <p:spPr bwMode="auto">
          <a:xfrm>
            <a:off x="1201924" y="5420380"/>
            <a:ext cx="45878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r>
              <a:rPr lang="en-US" altLang="en-US" sz="2800" dirty="0">
                <a:latin typeface="+mn-lt"/>
              </a:rPr>
              <a:t>c</a:t>
            </a:r>
            <a:r>
              <a:rPr lang="en-US" altLang="en-US" sz="2800" baseline="-25000" dirty="0">
                <a:latin typeface="+mn-lt"/>
              </a:rPr>
              <a:t>0</a:t>
            </a:r>
            <a:endParaRPr lang="en-US" altLang="en-US" sz="2800" dirty="0">
              <a:latin typeface="+mn-lt"/>
            </a:endParaRPr>
          </a:p>
        </p:txBody>
      </p:sp>
      <p:sp>
        <p:nvSpPr>
          <p:cNvPr id="35" name="TextBox 56"/>
          <p:cNvSpPr txBox="1">
            <a:spLocks noChangeArrowheads="1"/>
          </p:cNvSpPr>
          <p:nvPr/>
        </p:nvSpPr>
        <p:spPr bwMode="auto">
          <a:xfrm>
            <a:off x="2667000" y="5420380"/>
            <a:ext cx="45878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r>
              <a:rPr lang="en-US" altLang="en-US" sz="2800" dirty="0">
                <a:latin typeface="+mn-lt"/>
              </a:rPr>
              <a:t>c</a:t>
            </a:r>
            <a:r>
              <a:rPr lang="en-US" altLang="en-US" sz="2800" baseline="-25000" dirty="0">
                <a:latin typeface="+mn-lt"/>
              </a:rPr>
              <a:t>1</a:t>
            </a:r>
            <a:endParaRPr lang="en-US" altLang="en-US" sz="2800" dirty="0">
              <a:latin typeface="+mn-lt"/>
            </a:endParaRPr>
          </a:p>
        </p:txBody>
      </p:sp>
      <p:cxnSp>
        <p:nvCxnSpPr>
          <p:cNvPr id="39" name="Straight Arrow Connector 16"/>
          <p:cNvCxnSpPr>
            <a:cxnSpLocks noChangeShapeType="1"/>
          </p:cNvCxnSpPr>
          <p:nvPr/>
        </p:nvCxnSpPr>
        <p:spPr bwMode="auto">
          <a:xfrm>
            <a:off x="2857500" y="1938993"/>
            <a:ext cx="0" cy="531812"/>
          </a:xfrm>
          <a:prstGeom prst="straightConnector1">
            <a:avLst/>
          </a:prstGeom>
          <a:noFill/>
          <a:ln w="19050" algn="ctr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" name="TextBox 24"/>
          <p:cNvSpPr txBox="1">
            <a:spLocks noChangeArrowheads="1"/>
          </p:cNvSpPr>
          <p:nvPr/>
        </p:nvSpPr>
        <p:spPr bwMode="auto">
          <a:xfrm>
            <a:off x="2647157" y="2318405"/>
            <a:ext cx="4206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r>
              <a:rPr lang="en-US" altLang="en-US" dirty="0">
                <a:sym typeface="Symbol" pitchFamily="18" charset="2"/>
              </a:rPr>
              <a:t></a:t>
            </a:r>
            <a:endParaRPr lang="en-US" altLang="en-US" dirty="0"/>
          </a:p>
        </p:txBody>
      </p:sp>
      <p:cxnSp>
        <p:nvCxnSpPr>
          <p:cNvPr id="42" name="Straight Arrow Connector 35"/>
          <p:cNvCxnSpPr>
            <a:cxnSpLocks noChangeShapeType="1"/>
          </p:cNvCxnSpPr>
          <p:nvPr/>
        </p:nvCxnSpPr>
        <p:spPr bwMode="auto">
          <a:xfrm>
            <a:off x="2857500" y="2623205"/>
            <a:ext cx="0" cy="582613"/>
          </a:xfrm>
          <a:prstGeom prst="straightConnector1">
            <a:avLst/>
          </a:prstGeom>
          <a:noFill/>
          <a:ln w="19050" algn="ctr">
            <a:solidFill>
              <a:srgbClr val="000000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Straight Connector 42"/>
          <p:cNvCxnSpPr/>
          <p:nvPr/>
        </p:nvCxnSpPr>
        <p:spPr>
          <a:xfrm>
            <a:off x="1390829" y="4501218"/>
            <a:ext cx="668158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H="1">
            <a:off x="2058986" y="2549387"/>
            <a:ext cx="690708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2058986" y="2549387"/>
            <a:ext cx="1" cy="1951831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>
            <a:spLocks noChangeArrowheads="1"/>
          </p:cNvSpPr>
          <p:nvPr/>
        </p:nvSpPr>
        <p:spPr bwMode="auto">
          <a:xfrm>
            <a:off x="3962400" y="3195638"/>
            <a:ext cx="990600" cy="99060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 algn="ctr">
            <a:solidFill>
              <a:srgbClr val="000000"/>
            </a:solidFill>
            <a:round/>
            <a:headEnd/>
            <a:tailEnd type="triangle" w="lg" len="med"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7" name="TextBox 56"/>
          <p:cNvSpPr txBox="1">
            <a:spLocks noChangeArrowheads="1"/>
          </p:cNvSpPr>
          <p:nvPr/>
        </p:nvSpPr>
        <p:spPr bwMode="auto">
          <a:xfrm>
            <a:off x="4228310" y="3460750"/>
            <a:ext cx="45878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r>
              <a:rPr lang="en-US" altLang="en-US" sz="2800" dirty="0" err="1">
                <a:latin typeface="+mn-lt"/>
              </a:rPr>
              <a:t>F</a:t>
            </a:r>
            <a:r>
              <a:rPr lang="en-US" altLang="en-US" sz="2800" baseline="-25000" dirty="0" err="1">
                <a:latin typeface="+mn-lt"/>
              </a:rPr>
              <a:t>k</a:t>
            </a:r>
            <a:endParaRPr lang="en-US" altLang="en-US" sz="2800" dirty="0">
              <a:latin typeface="+mn-lt"/>
            </a:endParaRPr>
          </a:p>
        </p:txBody>
      </p:sp>
      <p:cxnSp>
        <p:nvCxnSpPr>
          <p:cNvPr id="58" name="Straight Arrow Connector 16"/>
          <p:cNvCxnSpPr>
            <a:cxnSpLocks noChangeShapeType="1"/>
          </p:cNvCxnSpPr>
          <p:nvPr/>
        </p:nvCxnSpPr>
        <p:spPr bwMode="auto">
          <a:xfrm>
            <a:off x="4457700" y="4192588"/>
            <a:ext cx="0" cy="1293812"/>
          </a:xfrm>
          <a:prstGeom prst="straightConnector1">
            <a:avLst/>
          </a:prstGeom>
          <a:noFill/>
          <a:ln w="19050" algn="ctr">
            <a:solidFill>
              <a:srgbClr val="000000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" name="TextBox 17"/>
          <p:cNvSpPr txBox="1">
            <a:spLocks noChangeArrowheads="1"/>
          </p:cNvSpPr>
          <p:nvPr/>
        </p:nvSpPr>
        <p:spPr bwMode="auto">
          <a:xfrm>
            <a:off x="4160984" y="1529418"/>
            <a:ext cx="5934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r>
              <a:rPr lang="en-US" altLang="en-US" sz="2800" dirty="0" smtClean="0">
                <a:latin typeface="+mn-lt"/>
              </a:rPr>
              <a:t>m</a:t>
            </a:r>
            <a:r>
              <a:rPr lang="en-US" altLang="en-US" sz="2800" baseline="-25000" dirty="0" smtClean="0">
                <a:latin typeface="+mn-lt"/>
              </a:rPr>
              <a:t>2</a:t>
            </a:r>
            <a:endParaRPr lang="en-US" altLang="en-US" sz="2800" dirty="0">
              <a:latin typeface="+mn-lt"/>
            </a:endParaRPr>
          </a:p>
        </p:txBody>
      </p:sp>
      <p:sp>
        <p:nvSpPr>
          <p:cNvPr id="60" name="TextBox 56"/>
          <p:cNvSpPr txBox="1">
            <a:spLocks noChangeArrowheads="1"/>
          </p:cNvSpPr>
          <p:nvPr/>
        </p:nvSpPr>
        <p:spPr bwMode="auto">
          <a:xfrm>
            <a:off x="4267200" y="5410200"/>
            <a:ext cx="45878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r>
              <a:rPr lang="en-US" altLang="en-US" sz="2800" dirty="0" smtClean="0">
                <a:latin typeface="+mn-lt"/>
              </a:rPr>
              <a:t>c</a:t>
            </a:r>
            <a:r>
              <a:rPr lang="en-US" altLang="en-US" sz="2800" baseline="-25000" dirty="0" smtClean="0">
                <a:latin typeface="+mn-lt"/>
              </a:rPr>
              <a:t>2</a:t>
            </a:r>
            <a:endParaRPr lang="en-US" altLang="en-US" sz="2800" dirty="0">
              <a:latin typeface="+mn-lt"/>
            </a:endParaRPr>
          </a:p>
        </p:txBody>
      </p:sp>
      <p:cxnSp>
        <p:nvCxnSpPr>
          <p:cNvPr id="61" name="Straight Arrow Connector 16"/>
          <p:cNvCxnSpPr>
            <a:cxnSpLocks noChangeShapeType="1"/>
          </p:cNvCxnSpPr>
          <p:nvPr/>
        </p:nvCxnSpPr>
        <p:spPr bwMode="auto">
          <a:xfrm>
            <a:off x="4457700" y="1928813"/>
            <a:ext cx="0" cy="531812"/>
          </a:xfrm>
          <a:prstGeom prst="straightConnector1">
            <a:avLst/>
          </a:prstGeom>
          <a:noFill/>
          <a:ln w="19050" algn="ctr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2" name="TextBox 24"/>
          <p:cNvSpPr txBox="1">
            <a:spLocks noChangeArrowheads="1"/>
          </p:cNvSpPr>
          <p:nvPr/>
        </p:nvSpPr>
        <p:spPr bwMode="auto">
          <a:xfrm>
            <a:off x="4247357" y="2308225"/>
            <a:ext cx="4206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r>
              <a:rPr lang="en-US" altLang="en-US" dirty="0">
                <a:sym typeface="Symbol" pitchFamily="18" charset="2"/>
              </a:rPr>
              <a:t></a:t>
            </a:r>
            <a:endParaRPr lang="en-US" altLang="en-US" dirty="0"/>
          </a:p>
        </p:txBody>
      </p:sp>
      <p:cxnSp>
        <p:nvCxnSpPr>
          <p:cNvPr id="63" name="Straight Arrow Connector 35"/>
          <p:cNvCxnSpPr>
            <a:cxnSpLocks noChangeShapeType="1"/>
          </p:cNvCxnSpPr>
          <p:nvPr/>
        </p:nvCxnSpPr>
        <p:spPr bwMode="auto">
          <a:xfrm>
            <a:off x="4457700" y="2613025"/>
            <a:ext cx="0" cy="582613"/>
          </a:xfrm>
          <a:prstGeom prst="straightConnector1">
            <a:avLst/>
          </a:prstGeom>
          <a:noFill/>
          <a:ln w="19050" algn="ctr">
            <a:solidFill>
              <a:srgbClr val="000000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" name="Straight Connector 63"/>
          <p:cNvCxnSpPr/>
          <p:nvPr/>
        </p:nvCxnSpPr>
        <p:spPr>
          <a:xfrm>
            <a:off x="2857500" y="4491038"/>
            <a:ext cx="801687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H="1">
            <a:off x="3659186" y="2539207"/>
            <a:ext cx="690708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V="1">
            <a:off x="3659186" y="2539207"/>
            <a:ext cx="1" cy="1951831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>
            <a:spLocks noChangeArrowheads="1"/>
          </p:cNvSpPr>
          <p:nvPr/>
        </p:nvSpPr>
        <p:spPr bwMode="auto">
          <a:xfrm>
            <a:off x="6781800" y="3195638"/>
            <a:ext cx="990600" cy="99060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 algn="ctr">
            <a:solidFill>
              <a:srgbClr val="000000"/>
            </a:solidFill>
            <a:round/>
            <a:headEnd/>
            <a:tailEnd type="triangle" w="lg" len="med"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8" name="TextBox 67"/>
          <p:cNvSpPr txBox="1">
            <a:spLocks noChangeArrowheads="1"/>
          </p:cNvSpPr>
          <p:nvPr/>
        </p:nvSpPr>
        <p:spPr bwMode="auto">
          <a:xfrm>
            <a:off x="7047710" y="3460750"/>
            <a:ext cx="45878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r>
              <a:rPr lang="en-US" altLang="en-US" sz="2800" dirty="0" err="1">
                <a:latin typeface="+mn-lt"/>
              </a:rPr>
              <a:t>F</a:t>
            </a:r>
            <a:r>
              <a:rPr lang="en-US" altLang="en-US" sz="2800" baseline="-25000" dirty="0" err="1">
                <a:latin typeface="+mn-lt"/>
              </a:rPr>
              <a:t>k</a:t>
            </a:r>
            <a:endParaRPr lang="en-US" altLang="en-US" sz="2800" dirty="0">
              <a:latin typeface="+mn-lt"/>
            </a:endParaRPr>
          </a:p>
        </p:txBody>
      </p:sp>
      <p:cxnSp>
        <p:nvCxnSpPr>
          <p:cNvPr id="69" name="Straight Arrow Connector 16"/>
          <p:cNvCxnSpPr>
            <a:cxnSpLocks noChangeShapeType="1"/>
          </p:cNvCxnSpPr>
          <p:nvPr/>
        </p:nvCxnSpPr>
        <p:spPr bwMode="auto">
          <a:xfrm>
            <a:off x="7277100" y="4192588"/>
            <a:ext cx="0" cy="1293812"/>
          </a:xfrm>
          <a:prstGeom prst="straightConnector1">
            <a:avLst/>
          </a:prstGeom>
          <a:noFill/>
          <a:ln w="19050" algn="ctr">
            <a:solidFill>
              <a:srgbClr val="000000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0" name="TextBox 17"/>
          <p:cNvSpPr txBox="1">
            <a:spLocks noChangeArrowheads="1"/>
          </p:cNvSpPr>
          <p:nvPr/>
        </p:nvSpPr>
        <p:spPr bwMode="auto">
          <a:xfrm>
            <a:off x="6980384" y="1529418"/>
            <a:ext cx="5484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r>
              <a:rPr lang="en-US" altLang="en-US" sz="2800" dirty="0" err="1" smtClean="0">
                <a:latin typeface="+mn-lt"/>
              </a:rPr>
              <a:t>m</a:t>
            </a:r>
            <a:r>
              <a:rPr lang="en-US" altLang="en-US" sz="2800" baseline="-25000" dirty="0" err="1" smtClean="0">
                <a:latin typeface="+mn-lt"/>
              </a:rPr>
              <a:t>t</a:t>
            </a:r>
            <a:endParaRPr lang="en-US" altLang="en-US" sz="2800" dirty="0">
              <a:latin typeface="+mn-lt"/>
            </a:endParaRPr>
          </a:p>
        </p:txBody>
      </p:sp>
      <p:sp>
        <p:nvSpPr>
          <p:cNvPr id="71" name="TextBox 56"/>
          <p:cNvSpPr txBox="1">
            <a:spLocks noChangeArrowheads="1"/>
          </p:cNvSpPr>
          <p:nvPr/>
        </p:nvSpPr>
        <p:spPr bwMode="auto">
          <a:xfrm>
            <a:off x="7086600" y="5410200"/>
            <a:ext cx="4171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r>
              <a:rPr lang="en-US" altLang="en-US" sz="2800" dirty="0" err="1" smtClean="0">
                <a:latin typeface="+mn-lt"/>
              </a:rPr>
              <a:t>c</a:t>
            </a:r>
            <a:r>
              <a:rPr lang="en-US" altLang="en-US" sz="2800" baseline="-25000" dirty="0" err="1" smtClean="0">
                <a:latin typeface="+mn-lt"/>
              </a:rPr>
              <a:t>t</a:t>
            </a:r>
            <a:endParaRPr lang="en-US" altLang="en-US" sz="2800" dirty="0">
              <a:latin typeface="+mn-lt"/>
            </a:endParaRPr>
          </a:p>
        </p:txBody>
      </p:sp>
      <p:cxnSp>
        <p:nvCxnSpPr>
          <p:cNvPr id="72" name="Straight Arrow Connector 16"/>
          <p:cNvCxnSpPr>
            <a:cxnSpLocks noChangeShapeType="1"/>
          </p:cNvCxnSpPr>
          <p:nvPr/>
        </p:nvCxnSpPr>
        <p:spPr bwMode="auto">
          <a:xfrm>
            <a:off x="7277100" y="1928813"/>
            <a:ext cx="0" cy="531812"/>
          </a:xfrm>
          <a:prstGeom prst="straightConnector1">
            <a:avLst/>
          </a:prstGeom>
          <a:noFill/>
          <a:ln w="19050" algn="ctr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3" name="TextBox 24"/>
          <p:cNvSpPr txBox="1">
            <a:spLocks noChangeArrowheads="1"/>
          </p:cNvSpPr>
          <p:nvPr/>
        </p:nvSpPr>
        <p:spPr bwMode="auto">
          <a:xfrm>
            <a:off x="7066757" y="2308225"/>
            <a:ext cx="4206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r>
              <a:rPr lang="en-US" altLang="en-US" dirty="0">
                <a:sym typeface="Symbol" pitchFamily="18" charset="2"/>
              </a:rPr>
              <a:t></a:t>
            </a:r>
            <a:endParaRPr lang="en-US" altLang="en-US" dirty="0"/>
          </a:p>
        </p:txBody>
      </p:sp>
      <p:cxnSp>
        <p:nvCxnSpPr>
          <p:cNvPr id="74" name="Straight Arrow Connector 35"/>
          <p:cNvCxnSpPr>
            <a:cxnSpLocks noChangeShapeType="1"/>
          </p:cNvCxnSpPr>
          <p:nvPr/>
        </p:nvCxnSpPr>
        <p:spPr bwMode="auto">
          <a:xfrm>
            <a:off x="7277100" y="2613025"/>
            <a:ext cx="0" cy="582613"/>
          </a:xfrm>
          <a:prstGeom prst="straightConnector1">
            <a:avLst/>
          </a:prstGeom>
          <a:noFill/>
          <a:ln w="19050" algn="ctr">
            <a:solidFill>
              <a:srgbClr val="000000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" name="Straight Connector 74"/>
          <p:cNvCxnSpPr/>
          <p:nvPr/>
        </p:nvCxnSpPr>
        <p:spPr>
          <a:xfrm>
            <a:off x="5943600" y="4491038"/>
            <a:ext cx="534987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 flipH="1">
            <a:off x="6478586" y="2539207"/>
            <a:ext cx="690708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 flipV="1">
            <a:off x="6478586" y="2539207"/>
            <a:ext cx="1" cy="1951831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>
            <a:spLocks noChangeArrowheads="1"/>
          </p:cNvSpPr>
          <p:nvPr/>
        </p:nvSpPr>
        <p:spPr bwMode="auto">
          <a:xfrm>
            <a:off x="5334000" y="3205818"/>
            <a:ext cx="6461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r>
              <a:rPr lang="en-US" altLang="en-US" sz="3600" b="1"/>
              <a:t>…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BD89-05F3-4F96-A315-DC3652376F0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09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Arbitrary-length messages?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Message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 encoded data </a:t>
            </a:r>
            <a:r>
              <a:rPr lang="en-US" dirty="0" smtClean="0">
                <a:sym typeface="Symbol"/>
              </a:rPr>
              <a:t> </a:t>
            </a:r>
            <a:r>
              <a:rPr lang="en-US" dirty="0" err="1" smtClean="0">
                <a:sym typeface="Symbol"/>
              </a:rPr>
              <a:t>ciphertext</a:t>
            </a:r>
            <a:endParaRPr lang="en-US" dirty="0" smtClean="0">
              <a:sym typeface="Symbol"/>
            </a:endParaRPr>
          </a:p>
          <a:p>
            <a:pPr lvl="1"/>
            <a:r>
              <a:rPr lang="en-US" dirty="0" smtClean="0">
                <a:sym typeface="Symbol"/>
              </a:rPr>
              <a:t>Assume message is an integral # of bytes</a:t>
            </a:r>
          </a:p>
          <a:p>
            <a:r>
              <a:rPr lang="en-US" dirty="0" smtClean="0">
                <a:sym typeface="Symbol"/>
              </a:rPr>
              <a:t>PKCS #5 encoding:</a:t>
            </a:r>
          </a:p>
          <a:p>
            <a:pPr lvl="1"/>
            <a:r>
              <a:rPr lang="en-US" dirty="0" smtClean="0">
                <a:sym typeface="Symbol"/>
              </a:rPr>
              <a:t>Let L be the block length (in bytes) of the cipher</a:t>
            </a:r>
          </a:p>
          <a:p>
            <a:pPr lvl="1"/>
            <a:r>
              <a:rPr lang="en-US" dirty="0" smtClean="0">
                <a:sym typeface="Symbol"/>
              </a:rPr>
              <a:t>Let b be the # of bytes that need to be appended to the message to get length a multiple of L</a:t>
            </a:r>
          </a:p>
          <a:p>
            <a:pPr lvl="2"/>
            <a:r>
              <a:rPr lang="en-US" dirty="0" smtClean="0">
                <a:sym typeface="Symbol"/>
              </a:rPr>
              <a:t>1 ≤ b ≤ L, note b  0</a:t>
            </a:r>
          </a:p>
          <a:p>
            <a:pPr lvl="1"/>
            <a:r>
              <a:rPr lang="en-US" dirty="0" smtClean="0">
                <a:sym typeface="Symbol"/>
              </a:rPr>
              <a:t>Append b (encoded in 1 byte), b times</a:t>
            </a:r>
          </a:p>
          <a:p>
            <a:pPr lvl="2"/>
            <a:r>
              <a:rPr lang="en-US" dirty="0" smtClean="0">
                <a:sym typeface="Symbol"/>
              </a:rPr>
              <a:t>I.e., if 3 bytes of padding are needed, append 0x030303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BD89-05F3-4F96-A315-DC3652376F0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155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Decryption?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decrypt:</a:t>
            </a:r>
          </a:p>
          <a:p>
            <a:pPr lvl="1"/>
            <a:r>
              <a:rPr lang="en-US" dirty="0" smtClean="0"/>
              <a:t>Use CBC-mode decryption to obtain encoded data</a:t>
            </a:r>
          </a:p>
          <a:p>
            <a:pPr lvl="1"/>
            <a:r>
              <a:rPr lang="en-US" dirty="0" smtClean="0"/>
              <a:t>Say the final byte of encoded data has value b</a:t>
            </a:r>
          </a:p>
          <a:p>
            <a:pPr lvl="2"/>
            <a:r>
              <a:rPr lang="en-US" dirty="0" smtClean="0"/>
              <a:t>If b=0 or b &gt; L, return “error”</a:t>
            </a:r>
          </a:p>
          <a:p>
            <a:pPr lvl="2"/>
            <a:r>
              <a:rPr lang="en-US" dirty="0" smtClean="0"/>
              <a:t>If final b bytes of encoded data are not all equal to b, return “error”</a:t>
            </a:r>
          </a:p>
          <a:p>
            <a:pPr lvl="2"/>
            <a:r>
              <a:rPr lang="en-US" dirty="0" smtClean="0"/>
              <a:t>Otherwise, strip off the final b bytes of the encoded data, and output what is left as the message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BD89-05F3-4F96-A315-DC3652376F05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587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(L=8)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905000" y="19050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AB</a:t>
            </a:r>
            <a:endParaRPr lang="en-US" sz="2800" dirty="0"/>
          </a:p>
        </p:txBody>
      </p:sp>
      <p:sp>
        <p:nvSpPr>
          <p:cNvPr id="14" name="Rectangle 13"/>
          <p:cNvSpPr/>
          <p:nvPr/>
        </p:nvSpPr>
        <p:spPr>
          <a:xfrm>
            <a:off x="2514600" y="19050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01</a:t>
            </a:r>
            <a:endParaRPr lang="en-US" sz="2800" dirty="0"/>
          </a:p>
        </p:txBody>
      </p:sp>
      <p:sp>
        <p:nvSpPr>
          <p:cNvPr id="15" name="Rectangle 14"/>
          <p:cNvSpPr/>
          <p:nvPr/>
        </p:nvSpPr>
        <p:spPr>
          <a:xfrm>
            <a:off x="3124200" y="19050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4F</a:t>
            </a:r>
            <a:endParaRPr lang="en-US" sz="2800" dirty="0"/>
          </a:p>
        </p:txBody>
      </p:sp>
      <p:sp>
        <p:nvSpPr>
          <p:cNvPr id="16" name="Rectangle 15"/>
          <p:cNvSpPr/>
          <p:nvPr/>
        </p:nvSpPr>
        <p:spPr>
          <a:xfrm>
            <a:off x="3733800" y="19050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21</a:t>
            </a:r>
            <a:endParaRPr lang="en-US" sz="2800" dirty="0"/>
          </a:p>
        </p:txBody>
      </p:sp>
      <p:sp>
        <p:nvSpPr>
          <p:cNvPr id="17" name="Rectangle 16"/>
          <p:cNvSpPr/>
          <p:nvPr/>
        </p:nvSpPr>
        <p:spPr>
          <a:xfrm>
            <a:off x="4343400" y="19050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00</a:t>
            </a:r>
            <a:endParaRPr lang="en-US" sz="2800" dirty="0"/>
          </a:p>
        </p:txBody>
      </p:sp>
      <p:sp>
        <p:nvSpPr>
          <p:cNvPr id="18" name="Rectangle 17"/>
          <p:cNvSpPr/>
          <p:nvPr/>
        </p:nvSpPr>
        <p:spPr>
          <a:xfrm>
            <a:off x="4953000" y="19050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7C</a:t>
            </a:r>
            <a:endParaRPr lang="en-US" sz="2800" dirty="0"/>
          </a:p>
        </p:txBody>
      </p:sp>
      <p:sp>
        <p:nvSpPr>
          <p:cNvPr id="19" name="Rectangle 18"/>
          <p:cNvSpPr/>
          <p:nvPr/>
        </p:nvSpPr>
        <p:spPr>
          <a:xfrm>
            <a:off x="5562600" y="19050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02</a:t>
            </a:r>
            <a:endParaRPr lang="en-US" sz="2800" dirty="0"/>
          </a:p>
        </p:txBody>
      </p:sp>
      <p:sp>
        <p:nvSpPr>
          <p:cNvPr id="20" name="Rectangle 19"/>
          <p:cNvSpPr/>
          <p:nvPr/>
        </p:nvSpPr>
        <p:spPr>
          <a:xfrm>
            <a:off x="6172200" y="19050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02</a:t>
            </a:r>
            <a:endParaRPr lang="en-US" sz="2800" dirty="0"/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4343400" y="2819400"/>
            <a:ext cx="0" cy="190500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905000" y="49530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AB</a:t>
            </a:r>
            <a:endParaRPr lang="en-US" sz="2800" dirty="0"/>
          </a:p>
        </p:txBody>
      </p:sp>
      <p:sp>
        <p:nvSpPr>
          <p:cNvPr id="24" name="Rectangle 23"/>
          <p:cNvSpPr/>
          <p:nvPr/>
        </p:nvSpPr>
        <p:spPr>
          <a:xfrm>
            <a:off x="2514600" y="49530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01</a:t>
            </a:r>
            <a:endParaRPr lang="en-US" sz="2800" dirty="0"/>
          </a:p>
        </p:txBody>
      </p:sp>
      <p:sp>
        <p:nvSpPr>
          <p:cNvPr id="25" name="Rectangle 24"/>
          <p:cNvSpPr/>
          <p:nvPr/>
        </p:nvSpPr>
        <p:spPr>
          <a:xfrm>
            <a:off x="3124200" y="49530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4F</a:t>
            </a:r>
            <a:endParaRPr lang="en-US" sz="2800" dirty="0"/>
          </a:p>
        </p:txBody>
      </p:sp>
      <p:sp>
        <p:nvSpPr>
          <p:cNvPr id="26" name="Rectangle 25"/>
          <p:cNvSpPr/>
          <p:nvPr/>
        </p:nvSpPr>
        <p:spPr>
          <a:xfrm>
            <a:off x="3733800" y="49530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21</a:t>
            </a:r>
            <a:endParaRPr lang="en-US" sz="2800" dirty="0"/>
          </a:p>
        </p:txBody>
      </p:sp>
      <p:sp>
        <p:nvSpPr>
          <p:cNvPr id="27" name="Rectangle 26"/>
          <p:cNvSpPr/>
          <p:nvPr/>
        </p:nvSpPr>
        <p:spPr>
          <a:xfrm>
            <a:off x="4343400" y="49530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00</a:t>
            </a:r>
            <a:endParaRPr lang="en-US" sz="2800" dirty="0"/>
          </a:p>
        </p:txBody>
      </p:sp>
      <p:sp>
        <p:nvSpPr>
          <p:cNvPr id="28" name="Rectangle 27"/>
          <p:cNvSpPr/>
          <p:nvPr/>
        </p:nvSpPr>
        <p:spPr>
          <a:xfrm>
            <a:off x="4953000" y="49530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7C</a:t>
            </a:r>
            <a:endParaRPr lang="en-US" sz="2800" dirty="0"/>
          </a:p>
        </p:txBody>
      </p:sp>
      <p:sp>
        <p:nvSpPr>
          <p:cNvPr id="29" name="Rectangle 28"/>
          <p:cNvSpPr/>
          <p:nvPr/>
        </p:nvSpPr>
        <p:spPr>
          <a:xfrm>
            <a:off x="5562600" y="49530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02</a:t>
            </a:r>
            <a:endParaRPr lang="en-US" sz="2800" dirty="0"/>
          </a:p>
        </p:txBody>
      </p:sp>
      <p:sp>
        <p:nvSpPr>
          <p:cNvPr id="30" name="Rectangle 29"/>
          <p:cNvSpPr/>
          <p:nvPr/>
        </p:nvSpPr>
        <p:spPr>
          <a:xfrm>
            <a:off x="6172200" y="49530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02</a:t>
            </a: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BD89-05F3-4F96-A315-DC3652376F0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391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29" grpId="1" animBg="1"/>
      <p:bldP spid="30" grpId="0" animBg="1"/>
      <p:bldP spid="30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upe, Magnifier, Loupe, Glass, Magnify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1295400"/>
            <a:ext cx="1826525" cy="1849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132" name="Picture 4" descr="j029202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2" y="1912385"/>
            <a:ext cx="1527175" cy="1448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133" name="Picture 5" descr="j019538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2" y="1912385"/>
            <a:ext cx="1418391" cy="1448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6135" name="Text Box 7"/>
          <p:cNvSpPr txBox="1">
            <a:spLocks noChangeArrowheads="1"/>
          </p:cNvSpPr>
          <p:nvPr/>
        </p:nvSpPr>
        <p:spPr bwMode="auto">
          <a:xfrm>
            <a:off x="8077200" y="2375060"/>
            <a:ext cx="34817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2800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0837" y="3289518"/>
            <a:ext cx="19848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/>
              <a:t>c </a:t>
            </a:r>
            <a:r>
              <a:rPr lang="en-US" sz="2800" dirty="0">
                <a:sym typeface="Symbol"/>
              </a:rPr>
              <a:t></a:t>
            </a:r>
            <a:r>
              <a:rPr lang="en-US" sz="2800" dirty="0" smtClean="0"/>
              <a:t> </a:t>
            </a:r>
            <a:r>
              <a:rPr lang="en-US" sz="2800" dirty="0" err="1" smtClean="0"/>
              <a:t>Enc</a:t>
            </a:r>
            <a:r>
              <a:rPr lang="en-US" sz="2800" baseline="-25000" dirty="0" err="1" smtClean="0"/>
              <a:t>k</a:t>
            </a:r>
            <a:r>
              <a:rPr lang="en-US" sz="2800" dirty="0" smtClean="0"/>
              <a:t>(m)</a:t>
            </a:r>
            <a:endParaRPr lang="en-US" sz="2800" dirty="0"/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566228" y="2375060"/>
            <a:ext cx="34817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2800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>
            <a:off x="2590800" y="2070317"/>
            <a:ext cx="3810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266410" y="1536917"/>
            <a:ext cx="336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c</a:t>
            </a:r>
            <a:endParaRPr lang="en-US" sz="2800" dirty="0"/>
          </a:p>
        </p:txBody>
      </p:sp>
      <p:sp>
        <p:nvSpPr>
          <p:cNvPr id="13" name="Line 8"/>
          <p:cNvSpPr>
            <a:spLocks noChangeShapeType="1"/>
          </p:cNvSpPr>
          <p:nvPr/>
        </p:nvSpPr>
        <p:spPr bwMode="auto">
          <a:xfrm flipV="1">
            <a:off x="4218994" y="3350776"/>
            <a:ext cx="1829940" cy="1287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938596" y="3505200"/>
            <a:ext cx="426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</a:t>
            </a:r>
            <a:r>
              <a:rPr lang="en-US" sz="2800" dirty="0" smtClean="0"/>
              <a:t>’</a:t>
            </a:r>
            <a:endParaRPr lang="en-US" sz="2800" dirty="0"/>
          </a:p>
        </p:txBody>
      </p:sp>
      <p:sp>
        <p:nvSpPr>
          <p:cNvPr id="16" name="Line 8"/>
          <p:cNvSpPr>
            <a:spLocks noChangeShapeType="1"/>
          </p:cNvSpPr>
          <p:nvPr/>
        </p:nvSpPr>
        <p:spPr bwMode="auto">
          <a:xfrm flipV="1">
            <a:off x="4523792" y="3731776"/>
            <a:ext cx="1829940" cy="1287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 rot="-2100000">
            <a:off x="4860210" y="3908135"/>
            <a:ext cx="1087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</a:t>
            </a:r>
            <a:r>
              <a:rPr lang="en-US" sz="2800" dirty="0" smtClean="0"/>
              <a:t>rror?</a:t>
            </a:r>
            <a:endParaRPr lang="en-US" sz="2800" dirty="0"/>
          </a:p>
        </p:txBody>
      </p:sp>
      <p:sp>
        <p:nvSpPr>
          <p:cNvPr id="18" name="TextBox 17"/>
          <p:cNvSpPr txBox="1"/>
          <p:nvPr/>
        </p:nvSpPr>
        <p:spPr>
          <a:xfrm>
            <a:off x="6801174" y="3276600"/>
            <a:ext cx="12939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/>
              <a:t>Dec</a:t>
            </a:r>
            <a:r>
              <a:rPr lang="en-US" sz="2800" baseline="-25000" dirty="0" smtClean="0"/>
              <a:t>k</a:t>
            </a:r>
            <a:r>
              <a:rPr lang="en-US" sz="2800" dirty="0" smtClean="0"/>
              <a:t>(c')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5867400" y="4876800"/>
            <a:ext cx="27674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Padding oracle!</a:t>
            </a:r>
            <a:endParaRPr lang="en-US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BD89-05F3-4F96-A315-DC3652376F05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615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/>
      <p:bldP spid="16" grpId="0" animBg="1"/>
      <p:bldP spid="17" grpId="0"/>
      <p:bldP spid="18" grpId="0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Padding oracles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Padding oracles frequently present in web applications</a:t>
            </a:r>
          </a:p>
          <a:p>
            <a:endParaRPr lang="en-US" dirty="0"/>
          </a:p>
          <a:p>
            <a:r>
              <a:rPr lang="en-US" dirty="0" smtClean="0"/>
              <a:t>Even if an error is not explicitly returned, an attacker might be able to detect differences in timing, behavior, etc.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BD89-05F3-4F96-A315-DC3652376F0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644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idea of the attack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Given two-block </a:t>
            </a:r>
            <a:r>
              <a:rPr lang="en-US" dirty="0" err="1" smtClean="0"/>
              <a:t>ciphertext</a:t>
            </a:r>
            <a:r>
              <a:rPr lang="en-US" dirty="0" smtClean="0"/>
              <a:t> IV, c</a:t>
            </a:r>
          </a:p>
          <a:p>
            <a:pPr lvl="1"/>
            <a:r>
              <a:rPr lang="en-US" dirty="0" smtClean="0"/>
              <a:t>Encoded data = F</a:t>
            </a:r>
            <a:r>
              <a:rPr lang="en-US" baseline="-25000" dirty="0" smtClean="0"/>
              <a:t>k</a:t>
            </a:r>
            <a:r>
              <a:rPr lang="en-US" baseline="30000" dirty="0" smtClean="0"/>
              <a:t>-1</a:t>
            </a:r>
            <a:r>
              <a:rPr lang="en-US" dirty="0" smtClean="0"/>
              <a:t>(c) </a:t>
            </a:r>
            <a:r>
              <a:rPr lang="en-US" dirty="0" smtClean="0">
                <a:sym typeface="Symbol"/>
              </a:rPr>
              <a:t> IV</a:t>
            </a:r>
          </a:p>
          <a:p>
            <a:endParaRPr lang="en-US" dirty="0">
              <a:sym typeface="Symbol"/>
            </a:endParaRPr>
          </a:p>
          <a:p>
            <a:r>
              <a:rPr lang="en-US" dirty="0" smtClean="0">
                <a:sym typeface="Symbol"/>
              </a:rPr>
              <a:t>Main observation: If an attacker modifies the </a:t>
            </a:r>
            <a:r>
              <a:rPr lang="en-US" i="1" dirty="0" err="1" smtClean="0">
                <a:sym typeface="Symbol"/>
              </a:rPr>
              <a:t>i</a:t>
            </a:r>
            <a:r>
              <a:rPr lang="en-US" dirty="0" err="1" smtClean="0">
                <a:sym typeface="Symbol"/>
              </a:rPr>
              <a:t>th</a:t>
            </a:r>
            <a:r>
              <a:rPr lang="en-US" dirty="0" smtClean="0">
                <a:sym typeface="Symbol"/>
              </a:rPr>
              <a:t> byte of IV, this causes a predictable change (only) to the </a:t>
            </a:r>
            <a:r>
              <a:rPr lang="en-US" i="1" dirty="0" err="1" smtClean="0">
                <a:sym typeface="Symbol"/>
              </a:rPr>
              <a:t>i</a:t>
            </a:r>
            <a:r>
              <a:rPr lang="en-US" dirty="0" err="1" smtClean="0">
                <a:sym typeface="Symbol"/>
              </a:rPr>
              <a:t>th</a:t>
            </a:r>
            <a:r>
              <a:rPr lang="en-US" dirty="0" smtClean="0">
                <a:sym typeface="Symbol"/>
              </a:rPr>
              <a:t> byte of the encoded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BD89-05F3-4F96-A315-DC3652376F0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462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33600" y="11430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XX</a:t>
            </a:r>
            <a:endParaRPr lang="en-US" sz="2800" dirty="0"/>
          </a:p>
        </p:txBody>
      </p:sp>
      <p:sp>
        <p:nvSpPr>
          <p:cNvPr id="5" name="Rectangle 4"/>
          <p:cNvSpPr/>
          <p:nvPr/>
        </p:nvSpPr>
        <p:spPr>
          <a:xfrm>
            <a:off x="2743200" y="11430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XX</a:t>
            </a:r>
            <a:endParaRPr lang="en-US" sz="2800" dirty="0"/>
          </a:p>
        </p:txBody>
      </p:sp>
      <p:sp>
        <p:nvSpPr>
          <p:cNvPr id="6" name="Rectangle 5"/>
          <p:cNvSpPr/>
          <p:nvPr/>
        </p:nvSpPr>
        <p:spPr>
          <a:xfrm>
            <a:off x="3352800" y="11430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XX</a:t>
            </a:r>
            <a:endParaRPr lang="en-US" sz="2800" dirty="0"/>
          </a:p>
        </p:txBody>
      </p:sp>
      <p:sp>
        <p:nvSpPr>
          <p:cNvPr id="7" name="Rectangle 6"/>
          <p:cNvSpPr/>
          <p:nvPr/>
        </p:nvSpPr>
        <p:spPr>
          <a:xfrm>
            <a:off x="3962400" y="11430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XX</a:t>
            </a:r>
            <a:endParaRPr lang="en-US" sz="2800" dirty="0"/>
          </a:p>
        </p:txBody>
      </p:sp>
      <p:sp>
        <p:nvSpPr>
          <p:cNvPr id="8" name="Rectangle 7"/>
          <p:cNvSpPr/>
          <p:nvPr/>
        </p:nvSpPr>
        <p:spPr>
          <a:xfrm>
            <a:off x="4572000" y="11430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XX</a:t>
            </a:r>
            <a:endParaRPr lang="en-US" sz="2800" dirty="0"/>
          </a:p>
        </p:txBody>
      </p:sp>
      <p:sp>
        <p:nvSpPr>
          <p:cNvPr id="9" name="Rectangle 8"/>
          <p:cNvSpPr/>
          <p:nvPr/>
        </p:nvSpPr>
        <p:spPr>
          <a:xfrm>
            <a:off x="5181600" y="11430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XX</a:t>
            </a:r>
            <a:endParaRPr lang="en-US" sz="2800" dirty="0"/>
          </a:p>
        </p:txBody>
      </p:sp>
      <p:sp>
        <p:nvSpPr>
          <p:cNvPr id="10" name="Rectangle 9"/>
          <p:cNvSpPr/>
          <p:nvPr/>
        </p:nvSpPr>
        <p:spPr>
          <a:xfrm>
            <a:off x="5791200" y="11430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XX</a:t>
            </a:r>
            <a:endParaRPr lang="en-US" sz="2800" dirty="0"/>
          </a:p>
        </p:txBody>
      </p:sp>
      <p:sp>
        <p:nvSpPr>
          <p:cNvPr id="11" name="Rectangle 10"/>
          <p:cNvSpPr/>
          <p:nvPr/>
        </p:nvSpPr>
        <p:spPr>
          <a:xfrm>
            <a:off x="6400800" y="11430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XX</a:t>
            </a:r>
            <a:endParaRPr lang="en-US" sz="2800" dirty="0"/>
          </a:p>
        </p:txBody>
      </p:sp>
      <p:sp>
        <p:nvSpPr>
          <p:cNvPr id="12" name="Rectangle 11"/>
          <p:cNvSpPr/>
          <p:nvPr/>
        </p:nvSpPr>
        <p:spPr>
          <a:xfrm>
            <a:off x="2133600" y="28194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AB</a:t>
            </a:r>
            <a:endParaRPr lang="en-US" sz="2800" dirty="0"/>
          </a:p>
        </p:txBody>
      </p:sp>
      <p:sp>
        <p:nvSpPr>
          <p:cNvPr id="13" name="Rectangle 12"/>
          <p:cNvSpPr/>
          <p:nvPr/>
        </p:nvSpPr>
        <p:spPr>
          <a:xfrm>
            <a:off x="2743200" y="28194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01</a:t>
            </a:r>
            <a:endParaRPr lang="en-US" sz="2800" dirty="0"/>
          </a:p>
        </p:txBody>
      </p:sp>
      <p:sp>
        <p:nvSpPr>
          <p:cNvPr id="14" name="Rectangle 13"/>
          <p:cNvSpPr/>
          <p:nvPr/>
        </p:nvSpPr>
        <p:spPr>
          <a:xfrm>
            <a:off x="3352800" y="28194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4F</a:t>
            </a:r>
            <a:endParaRPr lang="en-US" sz="2800" dirty="0"/>
          </a:p>
        </p:txBody>
      </p:sp>
      <p:sp>
        <p:nvSpPr>
          <p:cNvPr id="15" name="Rectangle 14"/>
          <p:cNvSpPr/>
          <p:nvPr/>
        </p:nvSpPr>
        <p:spPr>
          <a:xfrm>
            <a:off x="3962400" y="28194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21</a:t>
            </a:r>
            <a:endParaRPr lang="en-US" sz="2800" dirty="0"/>
          </a:p>
        </p:txBody>
      </p:sp>
      <p:sp>
        <p:nvSpPr>
          <p:cNvPr id="16" name="Rectangle 15"/>
          <p:cNvSpPr/>
          <p:nvPr/>
        </p:nvSpPr>
        <p:spPr>
          <a:xfrm>
            <a:off x="4572000" y="28194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00</a:t>
            </a:r>
            <a:endParaRPr lang="en-US" sz="2800" dirty="0"/>
          </a:p>
        </p:txBody>
      </p:sp>
      <p:sp>
        <p:nvSpPr>
          <p:cNvPr id="17" name="Rectangle 16"/>
          <p:cNvSpPr/>
          <p:nvPr/>
        </p:nvSpPr>
        <p:spPr>
          <a:xfrm>
            <a:off x="5181600" y="28194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7C</a:t>
            </a:r>
            <a:endParaRPr lang="en-US" sz="2800" dirty="0"/>
          </a:p>
        </p:txBody>
      </p:sp>
      <p:sp>
        <p:nvSpPr>
          <p:cNvPr id="18" name="Rectangle 17"/>
          <p:cNvSpPr/>
          <p:nvPr/>
        </p:nvSpPr>
        <p:spPr>
          <a:xfrm>
            <a:off x="5791200" y="28194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02</a:t>
            </a:r>
            <a:endParaRPr lang="en-US" sz="2800" dirty="0"/>
          </a:p>
        </p:txBody>
      </p:sp>
      <p:sp>
        <p:nvSpPr>
          <p:cNvPr id="19" name="Rectangle 18"/>
          <p:cNvSpPr/>
          <p:nvPr/>
        </p:nvSpPr>
        <p:spPr>
          <a:xfrm>
            <a:off x="6400800" y="28194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9</a:t>
            </a:r>
            <a:r>
              <a:rPr lang="en-US" sz="2800" dirty="0"/>
              <a:t>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1961" y="1143000"/>
            <a:ext cx="12554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F</a:t>
            </a:r>
            <a:r>
              <a:rPr lang="en-US" sz="3200" baseline="-25000" dirty="0"/>
              <a:t>k</a:t>
            </a:r>
            <a:r>
              <a:rPr lang="en-US" sz="3200" baseline="30000" dirty="0"/>
              <a:t>-1</a:t>
            </a:r>
            <a:r>
              <a:rPr lang="en-US" sz="3200" dirty="0"/>
              <a:t>(c</a:t>
            </a:r>
            <a:r>
              <a:rPr lang="en-US" sz="3200" dirty="0" smtClean="0"/>
              <a:t>):</a:t>
            </a:r>
            <a:endParaRPr lang="en-US" sz="3200" dirty="0"/>
          </a:p>
        </p:txBody>
      </p:sp>
      <p:sp>
        <p:nvSpPr>
          <p:cNvPr id="21" name="Rectangle 20"/>
          <p:cNvSpPr/>
          <p:nvPr/>
        </p:nvSpPr>
        <p:spPr>
          <a:xfrm>
            <a:off x="1060148" y="2844225"/>
            <a:ext cx="6172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/>
              <a:t>IV:</a:t>
            </a:r>
            <a:endParaRPr lang="en-US" sz="3200" dirty="0"/>
          </a:p>
        </p:txBody>
      </p:sp>
      <p:sp>
        <p:nvSpPr>
          <p:cNvPr id="22" name="TextBox 21"/>
          <p:cNvSpPr txBox="1"/>
          <p:nvPr/>
        </p:nvSpPr>
        <p:spPr>
          <a:xfrm>
            <a:off x="4337870" y="1905000"/>
            <a:ext cx="538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ym typeface="Symbol"/>
              </a:rPr>
              <a:t></a:t>
            </a:r>
            <a:endParaRPr lang="en-US" sz="3600" dirty="0"/>
          </a:p>
        </p:txBody>
      </p:sp>
      <p:sp>
        <p:nvSpPr>
          <p:cNvPr id="23" name="Rectangle 22"/>
          <p:cNvSpPr/>
          <p:nvPr/>
        </p:nvSpPr>
        <p:spPr>
          <a:xfrm>
            <a:off x="2133600" y="44196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XX</a:t>
            </a:r>
            <a:endParaRPr lang="en-US" sz="2800" dirty="0"/>
          </a:p>
        </p:txBody>
      </p:sp>
      <p:sp>
        <p:nvSpPr>
          <p:cNvPr id="24" name="Rectangle 23"/>
          <p:cNvSpPr/>
          <p:nvPr/>
        </p:nvSpPr>
        <p:spPr>
          <a:xfrm>
            <a:off x="2743200" y="44196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XX</a:t>
            </a:r>
            <a:endParaRPr lang="en-US" sz="2800" dirty="0"/>
          </a:p>
        </p:txBody>
      </p:sp>
      <p:sp>
        <p:nvSpPr>
          <p:cNvPr id="25" name="Rectangle 24"/>
          <p:cNvSpPr/>
          <p:nvPr/>
        </p:nvSpPr>
        <p:spPr>
          <a:xfrm>
            <a:off x="3352800" y="44196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XX</a:t>
            </a:r>
            <a:endParaRPr lang="en-US" sz="2800" dirty="0"/>
          </a:p>
        </p:txBody>
      </p:sp>
      <p:sp>
        <p:nvSpPr>
          <p:cNvPr id="26" name="Rectangle 25"/>
          <p:cNvSpPr/>
          <p:nvPr/>
        </p:nvSpPr>
        <p:spPr>
          <a:xfrm>
            <a:off x="3962400" y="44196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XX</a:t>
            </a:r>
            <a:endParaRPr lang="en-US" sz="2800" dirty="0"/>
          </a:p>
        </p:txBody>
      </p:sp>
      <p:sp>
        <p:nvSpPr>
          <p:cNvPr id="27" name="Rectangle 26"/>
          <p:cNvSpPr/>
          <p:nvPr/>
        </p:nvSpPr>
        <p:spPr>
          <a:xfrm>
            <a:off x="4572000" y="44196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XX</a:t>
            </a:r>
            <a:endParaRPr lang="en-US" sz="2800" dirty="0"/>
          </a:p>
        </p:txBody>
      </p:sp>
      <p:sp>
        <p:nvSpPr>
          <p:cNvPr id="28" name="Rectangle 27"/>
          <p:cNvSpPr/>
          <p:nvPr/>
        </p:nvSpPr>
        <p:spPr>
          <a:xfrm>
            <a:off x="5181600" y="44196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XX</a:t>
            </a:r>
            <a:endParaRPr lang="en-US" sz="2800" dirty="0"/>
          </a:p>
        </p:txBody>
      </p:sp>
      <p:sp>
        <p:nvSpPr>
          <p:cNvPr id="29" name="Rectangle 28"/>
          <p:cNvSpPr/>
          <p:nvPr/>
        </p:nvSpPr>
        <p:spPr>
          <a:xfrm>
            <a:off x="5791200" y="44196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XX</a:t>
            </a:r>
            <a:endParaRPr lang="en-US" sz="2800" dirty="0"/>
          </a:p>
        </p:txBody>
      </p:sp>
      <p:sp>
        <p:nvSpPr>
          <p:cNvPr id="30" name="Rectangle 29"/>
          <p:cNvSpPr/>
          <p:nvPr/>
        </p:nvSpPr>
        <p:spPr>
          <a:xfrm>
            <a:off x="6400800" y="44196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XX</a:t>
            </a:r>
            <a:endParaRPr lang="en-US" sz="2800" dirty="0"/>
          </a:p>
        </p:txBody>
      </p:sp>
      <p:sp>
        <p:nvSpPr>
          <p:cNvPr id="31" name="TextBox 30"/>
          <p:cNvSpPr txBox="1"/>
          <p:nvPr/>
        </p:nvSpPr>
        <p:spPr>
          <a:xfrm>
            <a:off x="4400387" y="3581400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=</a:t>
            </a:r>
            <a:endParaRPr lang="en-US" sz="3600" dirty="0"/>
          </a:p>
        </p:txBody>
      </p:sp>
      <p:sp>
        <p:nvSpPr>
          <p:cNvPr id="32" name="Rectangle 31"/>
          <p:cNvSpPr/>
          <p:nvPr/>
        </p:nvSpPr>
        <p:spPr>
          <a:xfrm>
            <a:off x="152400" y="4151293"/>
            <a:ext cx="1525033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2800" dirty="0" smtClean="0"/>
              <a:t>Encoded </a:t>
            </a:r>
            <a:br>
              <a:rPr lang="en-US" sz="2800" dirty="0" smtClean="0"/>
            </a:br>
            <a:r>
              <a:rPr lang="en-US" sz="2800" dirty="0" smtClean="0"/>
              <a:t>data:</a:t>
            </a:r>
            <a:endParaRPr lang="en-US" sz="2800" dirty="0"/>
          </a:p>
        </p:txBody>
      </p:sp>
      <p:sp>
        <p:nvSpPr>
          <p:cNvPr id="33" name="Rectangle 32"/>
          <p:cNvSpPr/>
          <p:nvPr/>
        </p:nvSpPr>
        <p:spPr>
          <a:xfrm>
            <a:off x="2133600" y="2819400"/>
            <a:ext cx="609600" cy="6096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34" name="Rectangle 33"/>
          <p:cNvSpPr/>
          <p:nvPr/>
        </p:nvSpPr>
        <p:spPr>
          <a:xfrm>
            <a:off x="2133600" y="4419600"/>
            <a:ext cx="609600" cy="6096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381000" y="601980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“Success”</a:t>
            </a:r>
            <a:endParaRPr lang="en-US" sz="3200" dirty="0"/>
          </a:p>
        </p:txBody>
      </p:sp>
      <p:sp>
        <p:nvSpPr>
          <p:cNvPr id="36" name="Rectangle 35"/>
          <p:cNvSpPr/>
          <p:nvPr/>
        </p:nvSpPr>
        <p:spPr>
          <a:xfrm>
            <a:off x="2743200" y="2819400"/>
            <a:ext cx="609600" cy="6096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37" name="Rectangle 36"/>
          <p:cNvSpPr/>
          <p:nvPr/>
        </p:nvSpPr>
        <p:spPr>
          <a:xfrm>
            <a:off x="2743200" y="4419600"/>
            <a:ext cx="609600" cy="6096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38" name="Rectangle 37"/>
          <p:cNvSpPr/>
          <p:nvPr/>
        </p:nvSpPr>
        <p:spPr>
          <a:xfrm>
            <a:off x="3352800" y="2819400"/>
            <a:ext cx="609600" cy="6096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39" name="Rectangle 38"/>
          <p:cNvSpPr/>
          <p:nvPr/>
        </p:nvSpPr>
        <p:spPr>
          <a:xfrm>
            <a:off x="3352800" y="4419600"/>
            <a:ext cx="609600" cy="6096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40" name="TextBox 39"/>
          <p:cNvSpPr txBox="1"/>
          <p:nvPr/>
        </p:nvSpPr>
        <p:spPr>
          <a:xfrm>
            <a:off x="6730701" y="6019800"/>
            <a:ext cx="13840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“Error”</a:t>
            </a:r>
            <a:endParaRPr lang="en-US" sz="3200" dirty="0"/>
          </a:p>
        </p:txBody>
      </p:sp>
      <p:sp>
        <p:nvSpPr>
          <p:cNvPr id="41" name="Right Brace 40"/>
          <p:cNvSpPr/>
          <p:nvPr/>
        </p:nvSpPr>
        <p:spPr>
          <a:xfrm rot="5400000">
            <a:off x="5044873" y="3520874"/>
            <a:ext cx="349651" cy="3581401"/>
          </a:xfrm>
          <a:prstGeom prst="rightBrac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3962400" y="4419600"/>
            <a:ext cx="609600" cy="609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06</a:t>
            </a:r>
            <a:endParaRPr lang="en-US" sz="2800" dirty="0"/>
          </a:p>
        </p:txBody>
      </p:sp>
      <p:sp>
        <p:nvSpPr>
          <p:cNvPr id="43" name="Rectangle 42"/>
          <p:cNvSpPr/>
          <p:nvPr/>
        </p:nvSpPr>
        <p:spPr>
          <a:xfrm>
            <a:off x="4572000" y="4419600"/>
            <a:ext cx="609600" cy="609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06</a:t>
            </a:r>
            <a:endParaRPr lang="en-US" sz="2800" dirty="0"/>
          </a:p>
        </p:txBody>
      </p:sp>
      <p:sp>
        <p:nvSpPr>
          <p:cNvPr id="44" name="Rectangle 43"/>
          <p:cNvSpPr/>
          <p:nvPr/>
        </p:nvSpPr>
        <p:spPr>
          <a:xfrm>
            <a:off x="5181600" y="4419600"/>
            <a:ext cx="609600" cy="609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06</a:t>
            </a:r>
            <a:endParaRPr lang="en-US" sz="2800" dirty="0"/>
          </a:p>
        </p:txBody>
      </p:sp>
      <p:sp>
        <p:nvSpPr>
          <p:cNvPr id="45" name="Rectangle 44"/>
          <p:cNvSpPr/>
          <p:nvPr/>
        </p:nvSpPr>
        <p:spPr>
          <a:xfrm>
            <a:off x="5791200" y="4419600"/>
            <a:ext cx="609600" cy="609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06</a:t>
            </a:r>
            <a:endParaRPr lang="en-US" sz="2800" dirty="0"/>
          </a:p>
        </p:txBody>
      </p:sp>
      <p:sp>
        <p:nvSpPr>
          <p:cNvPr id="46" name="Rectangle 45"/>
          <p:cNvSpPr/>
          <p:nvPr/>
        </p:nvSpPr>
        <p:spPr>
          <a:xfrm>
            <a:off x="6400800" y="4419600"/>
            <a:ext cx="609600" cy="609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06</a:t>
            </a:r>
            <a:endParaRPr lang="en-US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BD89-05F3-4F96-A315-DC3652376F0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379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/>
      <p:bldP spid="36" grpId="0" animBg="1"/>
      <p:bldP spid="37" grpId="0" animBg="1"/>
      <p:bldP spid="38" grpId="0" animBg="1"/>
      <p:bldP spid="39" grpId="0" animBg="1"/>
      <p:bldP spid="40" grpId="0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33600" y="11430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XX</a:t>
            </a:r>
            <a:endParaRPr lang="en-US" sz="2800" dirty="0"/>
          </a:p>
        </p:txBody>
      </p:sp>
      <p:sp>
        <p:nvSpPr>
          <p:cNvPr id="5" name="Rectangle 4"/>
          <p:cNvSpPr/>
          <p:nvPr/>
        </p:nvSpPr>
        <p:spPr>
          <a:xfrm>
            <a:off x="2743200" y="11430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XX</a:t>
            </a:r>
            <a:endParaRPr lang="en-US" sz="2800" dirty="0"/>
          </a:p>
        </p:txBody>
      </p:sp>
      <p:sp>
        <p:nvSpPr>
          <p:cNvPr id="6" name="Rectangle 5"/>
          <p:cNvSpPr/>
          <p:nvPr/>
        </p:nvSpPr>
        <p:spPr>
          <a:xfrm>
            <a:off x="3352800" y="11430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XX</a:t>
            </a:r>
            <a:endParaRPr lang="en-US" sz="2800" dirty="0"/>
          </a:p>
        </p:txBody>
      </p:sp>
      <p:sp>
        <p:nvSpPr>
          <p:cNvPr id="7" name="Rectangle 6"/>
          <p:cNvSpPr/>
          <p:nvPr/>
        </p:nvSpPr>
        <p:spPr>
          <a:xfrm>
            <a:off x="3962400" y="11430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XX</a:t>
            </a:r>
            <a:endParaRPr lang="en-US" sz="2800" dirty="0"/>
          </a:p>
        </p:txBody>
      </p:sp>
      <p:sp>
        <p:nvSpPr>
          <p:cNvPr id="8" name="Rectangle 7"/>
          <p:cNvSpPr/>
          <p:nvPr/>
        </p:nvSpPr>
        <p:spPr>
          <a:xfrm>
            <a:off x="4572000" y="11430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XX</a:t>
            </a:r>
            <a:endParaRPr lang="en-US" sz="2800" dirty="0"/>
          </a:p>
        </p:txBody>
      </p:sp>
      <p:sp>
        <p:nvSpPr>
          <p:cNvPr id="9" name="Rectangle 8"/>
          <p:cNvSpPr/>
          <p:nvPr/>
        </p:nvSpPr>
        <p:spPr>
          <a:xfrm>
            <a:off x="5181600" y="11430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XX</a:t>
            </a:r>
            <a:endParaRPr lang="en-US" sz="2800" dirty="0"/>
          </a:p>
        </p:txBody>
      </p:sp>
      <p:sp>
        <p:nvSpPr>
          <p:cNvPr id="10" name="Rectangle 9"/>
          <p:cNvSpPr/>
          <p:nvPr/>
        </p:nvSpPr>
        <p:spPr>
          <a:xfrm>
            <a:off x="5791200" y="11430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XX</a:t>
            </a:r>
            <a:endParaRPr lang="en-US" sz="2800" dirty="0"/>
          </a:p>
        </p:txBody>
      </p:sp>
      <p:sp>
        <p:nvSpPr>
          <p:cNvPr id="11" name="Rectangle 10"/>
          <p:cNvSpPr/>
          <p:nvPr/>
        </p:nvSpPr>
        <p:spPr>
          <a:xfrm>
            <a:off x="6400800" y="11430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XX</a:t>
            </a:r>
            <a:endParaRPr lang="en-US" sz="2800" dirty="0"/>
          </a:p>
        </p:txBody>
      </p:sp>
      <p:sp>
        <p:nvSpPr>
          <p:cNvPr id="12" name="Rectangle 11"/>
          <p:cNvSpPr/>
          <p:nvPr/>
        </p:nvSpPr>
        <p:spPr>
          <a:xfrm>
            <a:off x="2133600" y="28194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AB</a:t>
            </a:r>
            <a:endParaRPr lang="en-US" sz="2800" dirty="0"/>
          </a:p>
        </p:txBody>
      </p:sp>
      <p:sp>
        <p:nvSpPr>
          <p:cNvPr id="13" name="Rectangle 12"/>
          <p:cNvSpPr/>
          <p:nvPr/>
        </p:nvSpPr>
        <p:spPr>
          <a:xfrm>
            <a:off x="2743200" y="28194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01</a:t>
            </a:r>
            <a:endParaRPr lang="en-US" sz="2800" dirty="0"/>
          </a:p>
        </p:txBody>
      </p:sp>
      <p:sp>
        <p:nvSpPr>
          <p:cNvPr id="14" name="Rectangle 13"/>
          <p:cNvSpPr/>
          <p:nvPr/>
        </p:nvSpPr>
        <p:spPr>
          <a:xfrm>
            <a:off x="3352800" y="28194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4F</a:t>
            </a:r>
            <a:endParaRPr lang="en-US" sz="2800" dirty="0"/>
          </a:p>
        </p:txBody>
      </p:sp>
      <p:sp>
        <p:nvSpPr>
          <p:cNvPr id="15" name="Rectangle 14"/>
          <p:cNvSpPr/>
          <p:nvPr/>
        </p:nvSpPr>
        <p:spPr>
          <a:xfrm>
            <a:off x="3962400" y="28194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21</a:t>
            </a:r>
            <a:endParaRPr lang="en-US" sz="2800" dirty="0"/>
          </a:p>
        </p:txBody>
      </p:sp>
      <p:sp>
        <p:nvSpPr>
          <p:cNvPr id="16" name="Rectangle 15"/>
          <p:cNvSpPr/>
          <p:nvPr/>
        </p:nvSpPr>
        <p:spPr>
          <a:xfrm>
            <a:off x="4572000" y="28194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00</a:t>
            </a:r>
            <a:endParaRPr lang="en-US" sz="2800" dirty="0"/>
          </a:p>
        </p:txBody>
      </p:sp>
      <p:sp>
        <p:nvSpPr>
          <p:cNvPr id="17" name="Rectangle 16"/>
          <p:cNvSpPr/>
          <p:nvPr/>
        </p:nvSpPr>
        <p:spPr>
          <a:xfrm>
            <a:off x="5181600" y="28194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7C</a:t>
            </a:r>
            <a:endParaRPr lang="en-US" sz="2800" dirty="0"/>
          </a:p>
        </p:txBody>
      </p:sp>
      <p:sp>
        <p:nvSpPr>
          <p:cNvPr id="18" name="Rectangle 17"/>
          <p:cNvSpPr/>
          <p:nvPr/>
        </p:nvSpPr>
        <p:spPr>
          <a:xfrm>
            <a:off x="5791200" y="28194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02</a:t>
            </a:r>
            <a:endParaRPr lang="en-US" sz="2800" dirty="0"/>
          </a:p>
        </p:txBody>
      </p:sp>
      <p:sp>
        <p:nvSpPr>
          <p:cNvPr id="19" name="Rectangle 18"/>
          <p:cNvSpPr/>
          <p:nvPr/>
        </p:nvSpPr>
        <p:spPr>
          <a:xfrm>
            <a:off x="6400800" y="28194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9</a:t>
            </a:r>
            <a:r>
              <a:rPr lang="en-US" sz="2800" dirty="0"/>
              <a:t>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1961" y="1143000"/>
            <a:ext cx="12554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F</a:t>
            </a:r>
            <a:r>
              <a:rPr lang="en-US" sz="3200" baseline="-25000" dirty="0"/>
              <a:t>k</a:t>
            </a:r>
            <a:r>
              <a:rPr lang="en-US" sz="3200" baseline="30000" dirty="0"/>
              <a:t>-1</a:t>
            </a:r>
            <a:r>
              <a:rPr lang="en-US" sz="3200" dirty="0"/>
              <a:t>(c</a:t>
            </a:r>
            <a:r>
              <a:rPr lang="en-US" sz="3200" dirty="0" smtClean="0"/>
              <a:t>):</a:t>
            </a:r>
            <a:endParaRPr lang="en-US" sz="3200" dirty="0"/>
          </a:p>
        </p:txBody>
      </p:sp>
      <p:sp>
        <p:nvSpPr>
          <p:cNvPr id="21" name="Rectangle 20"/>
          <p:cNvSpPr/>
          <p:nvPr/>
        </p:nvSpPr>
        <p:spPr>
          <a:xfrm>
            <a:off x="1060148" y="2844225"/>
            <a:ext cx="6172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/>
              <a:t>IV:</a:t>
            </a:r>
            <a:endParaRPr lang="en-US" sz="3200" dirty="0"/>
          </a:p>
        </p:txBody>
      </p:sp>
      <p:sp>
        <p:nvSpPr>
          <p:cNvPr id="22" name="TextBox 21"/>
          <p:cNvSpPr txBox="1"/>
          <p:nvPr/>
        </p:nvSpPr>
        <p:spPr>
          <a:xfrm>
            <a:off x="4337870" y="1905000"/>
            <a:ext cx="538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ym typeface="Symbol"/>
              </a:rPr>
              <a:t></a:t>
            </a:r>
            <a:endParaRPr lang="en-US" sz="3600" dirty="0"/>
          </a:p>
        </p:txBody>
      </p:sp>
      <p:sp>
        <p:nvSpPr>
          <p:cNvPr id="23" name="Rectangle 22"/>
          <p:cNvSpPr/>
          <p:nvPr/>
        </p:nvSpPr>
        <p:spPr>
          <a:xfrm>
            <a:off x="2133600" y="44196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XX</a:t>
            </a:r>
            <a:endParaRPr lang="en-US" sz="2800" dirty="0"/>
          </a:p>
        </p:txBody>
      </p:sp>
      <p:sp>
        <p:nvSpPr>
          <p:cNvPr id="24" name="Rectangle 23"/>
          <p:cNvSpPr/>
          <p:nvPr/>
        </p:nvSpPr>
        <p:spPr>
          <a:xfrm>
            <a:off x="2743200" y="44196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XX</a:t>
            </a:r>
            <a:endParaRPr lang="en-US" sz="2800" dirty="0"/>
          </a:p>
        </p:txBody>
      </p:sp>
      <p:sp>
        <p:nvSpPr>
          <p:cNvPr id="25" name="Rectangle 24"/>
          <p:cNvSpPr/>
          <p:nvPr/>
        </p:nvSpPr>
        <p:spPr>
          <a:xfrm>
            <a:off x="3352800" y="44196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06</a:t>
            </a:r>
            <a:endParaRPr lang="en-US" sz="2800" dirty="0"/>
          </a:p>
        </p:txBody>
      </p:sp>
      <p:sp>
        <p:nvSpPr>
          <p:cNvPr id="26" name="Rectangle 25"/>
          <p:cNvSpPr/>
          <p:nvPr/>
        </p:nvSpPr>
        <p:spPr>
          <a:xfrm>
            <a:off x="3962400" y="44196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06</a:t>
            </a:r>
            <a:endParaRPr lang="en-US" sz="2800" dirty="0"/>
          </a:p>
        </p:txBody>
      </p:sp>
      <p:sp>
        <p:nvSpPr>
          <p:cNvPr id="27" name="Rectangle 26"/>
          <p:cNvSpPr/>
          <p:nvPr/>
        </p:nvSpPr>
        <p:spPr>
          <a:xfrm>
            <a:off x="4572000" y="44196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06</a:t>
            </a:r>
            <a:endParaRPr lang="en-US" sz="2800" dirty="0"/>
          </a:p>
        </p:txBody>
      </p:sp>
      <p:sp>
        <p:nvSpPr>
          <p:cNvPr id="28" name="Rectangle 27"/>
          <p:cNvSpPr/>
          <p:nvPr/>
        </p:nvSpPr>
        <p:spPr>
          <a:xfrm>
            <a:off x="5181600" y="44196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06</a:t>
            </a:r>
            <a:endParaRPr lang="en-US" sz="2800" dirty="0"/>
          </a:p>
        </p:txBody>
      </p:sp>
      <p:sp>
        <p:nvSpPr>
          <p:cNvPr id="29" name="Rectangle 28"/>
          <p:cNvSpPr/>
          <p:nvPr/>
        </p:nvSpPr>
        <p:spPr>
          <a:xfrm>
            <a:off x="5791200" y="44196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06</a:t>
            </a:r>
            <a:endParaRPr lang="en-US" sz="2800" dirty="0"/>
          </a:p>
        </p:txBody>
      </p:sp>
      <p:sp>
        <p:nvSpPr>
          <p:cNvPr id="30" name="Rectangle 29"/>
          <p:cNvSpPr/>
          <p:nvPr/>
        </p:nvSpPr>
        <p:spPr>
          <a:xfrm>
            <a:off x="6400800" y="4419600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06</a:t>
            </a:r>
            <a:endParaRPr lang="en-US" sz="2800" dirty="0"/>
          </a:p>
        </p:txBody>
      </p:sp>
      <p:sp>
        <p:nvSpPr>
          <p:cNvPr id="31" name="TextBox 30"/>
          <p:cNvSpPr txBox="1"/>
          <p:nvPr/>
        </p:nvSpPr>
        <p:spPr>
          <a:xfrm>
            <a:off x="4400387" y="3581400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=</a:t>
            </a:r>
            <a:endParaRPr lang="en-US" sz="3600" dirty="0"/>
          </a:p>
        </p:txBody>
      </p:sp>
      <p:sp>
        <p:nvSpPr>
          <p:cNvPr id="32" name="Rectangle 31"/>
          <p:cNvSpPr/>
          <p:nvPr/>
        </p:nvSpPr>
        <p:spPr>
          <a:xfrm>
            <a:off x="152400" y="4151293"/>
            <a:ext cx="1525033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2800" dirty="0" smtClean="0"/>
              <a:t>Encoded </a:t>
            </a:r>
            <a:br>
              <a:rPr lang="en-US" sz="2800" dirty="0" smtClean="0"/>
            </a:br>
            <a:r>
              <a:rPr lang="en-US" sz="2800" dirty="0" smtClean="0"/>
              <a:t>data:</a:t>
            </a:r>
            <a:endParaRPr 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838200" y="5562600"/>
            <a:ext cx="19367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“Success!”</a:t>
            </a:r>
            <a:endParaRPr lang="en-US" sz="3200" dirty="0"/>
          </a:p>
        </p:txBody>
      </p:sp>
      <p:sp>
        <p:nvSpPr>
          <p:cNvPr id="47" name="Rectangle 46"/>
          <p:cNvSpPr/>
          <p:nvPr/>
        </p:nvSpPr>
        <p:spPr>
          <a:xfrm>
            <a:off x="6400800" y="2819400"/>
            <a:ext cx="6096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9F</a:t>
            </a:r>
            <a:endParaRPr lang="en-US" sz="2800" dirty="0"/>
          </a:p>
        </p:txBody>
      </p:sp>
      <p:cxnSp>
        <p:nvCxnSpPr>
          <p:cNvPr id="49" name="Straight Arrow Connector 48"/>
          <p:cNvCxnSpPr/>
          <p:nvPr/>
        </p:nvCxnSpPr>
        <p:spPr>
          <a:xfrm flipH="1">
            <a:off x="6729848" y="2551331"/>
            <a:ext cx="152400" cy="26806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67848" y="2190690"/>
            <a:ext cx="23054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0x9E </a:t>
            </a:r>
            <a:r>
              <a:rPr lang="en-US" sz="2000" dirty="0" smtClean="0">
                <a:sym typeface="Symbol"/>
              </a:rPr>
              <a:t> 0x06 </a:t>
            </a:r>
            <a:r>
              <a:rPr lang="en-US" sz="2000" dirty="0">
                <a:sym typeface="Symbol"/>
              </a:rPr>
              <a:t> </a:t>
            </a:r>
            <a:r>
              <a:rPr lang="en-US" sz="2000" dirty="0" smtClean="0">
                <a:sym typeface="Symbol"/>
              </a:rPr>
              <a:t>0x07</a:t>
            </a:r>
            <a:endParaRPr lang="en-US" sz="2000" dirty="0"/>
          </a:p>
        </p:txBody>
      </p:sp>
      <p:sp>
        <p:nvSpPr>
          <p:cNvPr id="52" name="Rectangle 51"/>
          <p:cNvSpPr/>
          <p:nvPr/>
        </p:nvSpPr>
        <p:spPr>
          <a:xfrm>
            <a:off x="6400800" y="4419600"/>
            <a:ext cx="6096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07</a:t>
            </a:r>
            <a:endParaRPr lang="en-US" sz="2800" dirty="0"/>
          </a:p>
        </p:txBody>
      </p:sp>
      <p:sp>
        <p:nvSpPr>
          <p:cNvPr id="54" name="Rectangle 53"/>
          <p:cNvSpPr/>
          <p:nvPr/>
        </p:nvSpPr>
        <p:spPr>
          <a:xfrm>
            <a:off x="5791200" y="2819400"/>
            <a:ext cx="6096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03</a:t>
            </a:r>
            <a:endParaRPr lang="en-US" sz="2800" dirty="0"/>
          </a:p>
        </p:txBody>
      </p:sp>
      <p:cxnSp>
        <p:nvCxnSpPr>
          <p:cNvPr id="55" name="Straight Arrow Connector 54"/>
          <p:cNvCxnSpPr/>
          <p:nvPr/>
        </p:nvCxnSpPr>
        <p:spPr>
          <a:xfrm flipH="1">
            <a:off x="6096000" y="2551331"/>
            <a:ext cx="152400" cy="26806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334000" y="2190690"/>
            <a:ext cx="23102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0x02 </a:t>
            </a:r>
            <a:r>
              <a:rPr lang="en-US" sz="2000" dirty="0" smtClean="0">
                <a:sym typeface="Symbol"/>
              </a:rPr>
              <a:t> 0x06 </a:t>
            </a:r>
            <a:r>
              <a:rPr lang="en-US" sz="2000" dirty="0">
                <a:sym typeface="Symbol"/>
              </a:rPr>
              <a:t> </a:t>
            </a:r>
            <a:r>
              <a:rPr lang="en-US" sz="2000" dirty="0" smtClean="0">
                <a:sym typeface="Symbol"/>
              </a:rPr>
              <a:t>0x07</a:t>
            </a:r>
            <a:endParaRPr lang="en-US" sz="2000" dirty="0"/>
          </a:p>
        </p:txBody>
      </p:sp>
      <p:sp>
        <p:nvSpPr>
          <p:cNvPr id="57" name="Rectangle 56"/>
          <p:cNvSpPr/>
          <p:nvPr/>
        </p:nvSpPr>
        <p:spPr>
          <a:xfrm>
            <a:off x="5181600" y="2819400"/>
            <a:ext cx="6096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7D</a:t>
            </a:r>
            <a:endParaRPr lang="en-US" sz="2800" dirty="0"/>
          </a:p>
        </p:txBody>
      </p:sp>
      <p:sp>
        <p:nvSpPr>
          <p:cNvPr id="58" name="Rectangle 57"/>
          <p:cNvSpPr/>
          <p:nvPr/>
        </p:nvSpPr>
        <p:spPr>
          <a:xfrm>
            <a:off x="4572000" y="2819400"/>
            <a:ext cx="6096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01</a:t>
            </a:r>
            <a:endParaRPr lang="en-US" sz="2800" dirty="0"/>
          </a:p>
        </p:txBody>
      </p:sp>
      <p:sp>
        <p:nvSpPr>
          <p:cNvPr id="59" name="Rectangle 58"/>
          <p:cNvSpPr/>
          <p:nvPr/>
        </p:nvSpPr>
        <p:spPr>
          <a:xfrm>
            <a:off x="3962400" y="2819400"/>
            <a:ext cx="6096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20</a:t>
            </a:r>
            <a:endParaRPr lang="en-US" sz="2800" dirty="0"/>
          </a:p>
        </p:txBody>
      </p:sp>
      <p:sp>
        <p:nvSpPr>
          <p:cNvPr id="60" name="Rectangle 59"/>
          <p:cNvSpPr/>
          <p:nvPr/>
        </p:nvSpPr>
        <p:spPr>
          <a:xfrm>
            <a:off x="3352800" y="2819400"/>
            <a:ext cx="6096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4E</a:t>
            </a:r>
            <a:endParaRPr lang="en-US" sz="2800" dirty="0"/>
          </a:p>
        </p:txBody>
      </p:sp>
      <p:sp>
        <p:nvSpPr>
          <p:cNvPr id="61" name="Rectangle 60"/>
          <p:cNvSpPr/>
          <p:nvPr/>
        </p:nvSpPr>
        <p:spPr>
          <a:xfrm>
            <a:off x="5791200" y="4419600"/>
            <a:ext cx="6096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07</a:t>
            </a:r>
            <a:endParaRPr lang="en-US" sz="2800" dirty="0"/>
          </a:p>
        </p:txBody>
      </p:sp>
      <p:sp>
        <p:nvSpPr>
          <p:cNvPr id="62" name="Rectangle 61"/>
          <p:cNvSpPr/>
          <p:nvPr/>
        </p:nvSpPr>
        <p:spPr>
          <a:xfrm>
            <a:off x="5181600" y="4419600"/>
            <a:ext cx="6096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07</a:t>
            </a:r>
            <a:endParaRPr lang="en-US" sz="2800" dirty="0"/>
          </a:p>
        </p:txBody>
      </p:sp>
      <p:sp>
        <p:nvSpPr>
          <p:cNvPr id="63" name="Rectangle 62"/>
          <p:cNvSpPr/>
          <p:nvPr/>
        </p:nvSpPr>
        <p:spPr>
          <a:xfrm>
            <a:off x="4572000" y="4419600"/>
            <a:ext cx="6096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07</a:t>
            </a:r>
            <a:endParaRPr lang="en-US" sz="2800" dirty="0"/>
          </a:p>
        </p:txBody>
      </p:sp>
      <p:sp>
        <p:nvSpPr>
          <p:cNvPr id="64" name="Rectangle 63"/>
          <p:cNvSpPr/>
          <p:nvPr/>
        </p:nvSpPr>
        <p:spPr>
          <a:xfrm>
            <a:off x="3962400" y="4419600"/>
            <a:ext cx="6096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07</a:t>
            </a:r>
            <a:endParaRPr lang="en-US" sz="2800" dirty="0"/>
          </a:p>
        </p:txBody>
      </p:sp>
      <p:sp>
        <p:nvSpPr>
          <p:cNvPr id="65" name="Rectangle 64"/>
          <p:cNvSpPr/>
          <p:nvPr/>
        </p:nvSpPr>
        <p:spPr>
          <a:xfrm>
            <a:off x="3352800" y="4419600"/>
            <a:ext cx="6096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07</a:t>
            </a:r>
            <a:endParaRPr lang="en-US" sz="2800" dirty="0"/>
          </a:p>
        </p:txBody>
      </p:sp>
      <p:sp>
        <p:nvSpPr>
          <p:cNvPr id="66" name="Rectangle 65"/>
          <p:cNvSpPr/>
          <p:nvPr/>
        </p:nvSpPr>
        <p:spPr>
          <a:xfrm>
            <a:off x="2743200" y="2819400"/>
            <a:ext cx="6096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00</a:t>
            </a:r>
            <a:endParaRPr lang="en-US" sz="2800" dirty="0"/>
          </a:p>
        </p:txBody>
      </p:sp>
      <p:sp>
        <p:nvSpPr>
          <p:cNvPr id="67" name="Rectangle 66"/>
          <p:cNvSpPr/>
          <p:nvPr/>
        </p:nvSpPr>
        <p:spPr>
          <a:xfrm>
            <a:off x="2743200" y="2819400"/>
            <a:ext cx="6096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01</a:t>
            </a:r>
            <a:endParaRPr lang="en-US" sz="2800" dirty="0"/>
          </a:p>
        </p:txBody>
      </p:sp>
      <p:sp>
        <p:nvSpPr>
          <p:cNvPr id="68" name="Rectangle 67"/>
          <p:cNvSpPr/>
          <p:nvPr/>
        </p:nvSpPr>
        <p:spPr>
          <a:xfrm>
            <a:off x="2743200" y="2819400"/>
            <a:ext cx="6096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02</a:t>
            </a:r>
            <a:endParaRPr lang="en-US" sz="2800" dirty="0"/>
          </a:p>
        </p:txBody>
      </p:sp>
      <p:sp>
        <p:nvSpPr>
          <p:cNvPr id="69" name="Rectangle 68"/>
          <p:cNvSpPr/>
          <p:nvPr/>
        </p:nvSpPr>
        <p:spPr>
          <a:xfrm>
            <a:off x="2743200" y="2819400"/>
            <a:ext cx="6096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41</a:t>
            </a:r>
            <a:endParaRPr lang="en-US" sz="2800" dirty="0"/>
          </a:p>
        </p:txBody>
      </p:sp>
      <p:sp>
        <p:nvSpPr>
          <p:cNvPr id="70" name="Rectangle 69"/>
          <p:cNvSpPr/>
          <p:nvPr/>
        </p:nvSpPr>
        <p:spPr>
          <a:xfrm>
            <a:off x="2743200" y="4419600"/>
            <a:ext cx="6096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07</a:t>
            </a:r>
            <a:endParaRPr lang="en-US" sz="2800" dirty="0"/>
          </a:p>
        </p:txBody>
      </p:sp>
      <p:sp>
        <p:nvSpPr>
          <p:cNvPr id="71" name="TextBox 70"/>
          <p:cNvSpPr txBox="1"/>
          <p:nvPr/>
        </p:nvSpPr>
        <p:spPr>
          <a:xfrm>
            <a:off x="4687961" y="5304472"/>
            <a:ext cx="422743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XX </a:t>
            </a:r>
            <a:r>
              <a:rPr lang="en-US" sz="2400" dirty="0" smtClean="0">
                <a:sym typeface="Symbol"/>
              </a:rPr>
              <a:t> 41 = 07</a:t>
            </a:r>
          </a:p>
          <a:p>
            <a:pPr algn="ctr"/>
            <a:r>
              <a:rPr lang="en-US" sz="2400" dirty="0" smtClean="0">
                <a:sym typeface="Symbol"/>
              </a:rPr>
              <a:t>XX  01 = (XX  41)  (41  01)</a:t>
            </a:r>
          </a:p>
          <a:p>
            <a:pPr algn="ctr"/>
            <a:r>
              <a:rPr lang="en-US" sz="2400" dirty="0" smtClean="0">
                <a:sym typeface="Symbol"/>
              </a:rPr>
              <a:t>XX </a:t>
            </a:r>
            <a:r>
              <a:rPr lang="en-US" sz="2400" dirty="0">
                <a:sym typeface="Symbol"/>
              </a:rPr>
              <a:t> 01 = </a:t>
            </a:r>
            <a:r>
              <a:rPr lang="en-US" sz="2400" dirty="0" smtClean="0">
                <a:sym typeface="Symbol"/>
              </a:rPr>
              <a:t>07 </a:t>
            </a:r>
            <a:r>
              <a:rPr lang="en-US" sz="2400" dirty="0">
                <a:sym typeface="Symbol"/>
              </a:rPr>
              <a:t> </a:t>
            </a:r>
            <a:r>
              <a:rPr lang="en-US" sz="2400" dirty="0" smtClean="0">
                <a:sym typeface="Symbol"/>
              </a:rPr>
              <a:t>40 = 47</a:t>
            </a:r>
          </a:p>
          <a:p>
            <a:pPr algn="ctr"/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BD89-05F3-4F96-A315-DC3652376F0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409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7" grpId="0" animBg="1"/>
      <p:bldP spid="50" grpId="0"/>
      <p:bldP spid="52" grpId="0" animBg="1"/>
      <p:bldP spid="54" grpId="0" animBg="1"/>
      <p:bldP spid="56" grpId="0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Attack complexity?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≤ L tries to learn the # of padding bytes</a:t>
            </a:r>
          </a:p>
          <a:p>
            <a:endParaRPr lang="en-US" dirty="0" smtClean="0"/>
          </a:p>
          <a:p>
            <a:r>
              <a:rPr lang="en-US" dirty="0"/>
              <a:t>≤ </a:t>
            </a:r>
            <a:r>
              <a:rPr lang="en-US" dirty="0" smtClean="0"/>
              <a:t>2</a:t>
            </a:r>
            <a:r>
              <a:rPr lang="en-US" baseline="30000" dirty="0" smtClean="0"/>
              <a:t>8</a:t>
            </a:r>
            <a:r>
              <a:rPr lang="en-US" dirty="0" smtClean="0"/>
              <a:t> = 256 tries to learn each plaintext byte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BD89-05F3-4F96-A315-DC3652376F0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213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CCA-security: </a:t>
            </a:r>
            <a:r>
              <a:rPr lang="en-US" dirty="0"/>
              <a:t>a</a:t>
            </a:r>
            <a:r>
              <a:rPr lang="en-US" dirty="0" smtClean="0"/>
              <a:t>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Chosen-</a:t>
            </a:r>
            <a:r>
              <a:rPr lang="en-US" dirty="0" err="1" smtClean="0"/>
              <a:t>ciphertext</a:t>
            </a:r>
            <a:r>
              <a:rPr lang="en-US" dirty="0" smtClean="0"/>
              <a:t> attacks represent a significant, real-world threat</a:t>
            </a:r>
          </a:p>
          <a:p>
            <a:endParaRPr lang="en-US" dirty="0" smtClean="0"/>
          </a:p>
          <a:p>
            <a:r>
              <a:rPr lang="en-US" dirty="0" smtClean="0"/>
              <a:t>Modern encryption schemes designed to be CCA-secure</a:t>
            </a:r>
          </a:p>
          <a:p>
            <a:endParaRPr lang="en-US" dirty="0"/>
          </a:p>
          <a:p>
            <a:r>
              <a:rPr lang="en-US" dirty="0" smtClean="0"/>
              <a:t>Will see an example of a CCA-secure scheme next week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BD89-05F3-4F96-A315-DC3652376F0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593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1013</TotalTime>
  <Words>1325</Words>
  <Application>Microsoft Office PowerPoint</Application>
  <PresentationFormat>如螢幕大小 (4:3)</PresentationFormat>
  <Paragraphs>391</Paragraphs>
  <Slides>34</Slides>
  <Notes>1</Notes>
  <HiddenSlides>0</HiddenSlides>
  <MMClips>0</MMClips>
  <ScaleCrop>false</ScaleCrop>
  <HeadingPairs>
    <vt:vector size="8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34</vt:i4>
      </vt:variant>
    </vt:vector>
  </HeadingPairs>
  <TitlesOfParts>
    <vt:vector size="43" baseType="lpstr">
      <vt:lpstr>微軟正黑體</vt:lpstr>
      <vt:lpstr>新細明體</vt:lpstr>
      <vt:lpstr>Arial</vt:lpstr>
      <vt:lpstr>Calibri</vt:lpstr>
      <vt:lpstr>Calibri Light</vt:lpstr>
      <vt:lpstr>Courier New</vt:lpstr>
      <vt:lpstr>Symbol</vt:lpstr>
      <vt:lpstr>Office 佈景主題</vt:lpstr>
      <vt:lpstr>Equation</vt:lpstr>
      <vt:lpstr>Crypto in CTF</vt:lpstr>
      <vt:lpstr>Outline</vt:lpstr>
      <vt:lpstr>Crypto Scheme will cover</vt:lpstr>
      <vt:lpstr>Breaking RSA - Introduction</vt:lpstr>
      <vt:lpstr>Introduction to OpenSSL</vt:lpstr>
      <vt:lpstr>OpenSSL – RSA in Command Line</vt:lpstr>
      <vt:lpstr>OpenSSL – RSA in Command Line</vt:lpstr>
      <vt:lpstr>OpenSSL – AES in Command Line</vt:lpstr>
      <vt:lpstr>OpenSSL – Digest in Command Line</vt:lpstr>
      <vt:lpstr>Breaking RSA</vt:lpstr>
      <vt:lpstr>Breaking RSA – Factoring N</vt:lpstr>
      <vt:lpstr>Breaking RSA – Factoring N</vt:lpstr>
      <vt:lpstr>Programming with OpenSSL API</vt:lpstr>
      <vt:lpstr>Crypto in CTF</vt:lpstr>
      <vt:lpstr>Crypto in CTF -  Some skills you should have</vt:lpstr>
      <vt:lpstr>Crypto in CTF - In the CTF you need to</vt:lpstr>
      <vt:lpstr>Crypto in CTF - In the CTF you don’t need to</vt:lpstr>
      <vt:lpstr>PowerPoint 簡報</vt:lpstr>
      <vt:lpstr>An example of  Crypto-like vulnerability: “Padding Oracle”</vt:lpstr>
      <vt:lpstr>Introduction</vt:lpstr>
      <vt:lpstr>Introduction</vt:lpstr>
      <vt:lpstr>Padding-oracle attacks</vt:lpstr>
      <vt:lpstr>Overview</vt:lpstr>
      <vt:lpstr>CBC mode</vt:lpstr>
      <vt:lpstr>Arbitrary-length messages?</vt:lpstr>
      <vt:lpstr>Decryption?</vt:lpstr>
      <vt:lpstr>Example (L=8)</vt:lpstr>
      <vt:lpstr>PowerPoint 簡報</vt:lpstr>
      <vt:lpstr>Padding oracles</vt:lpstr>
      <vt:lpstr>Main idea of the attack</vt:lpstr>
      <vt:lpstr>PowerPoint 簡報</vt:lpstr>
      <vt:lpstr>PowerPoint 簡報</vt:lpstr>
      <vt:lpstr>Attack complexity?</vt:lpstr>
      <vt:lpstr>CCA-security: a summary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 in CTF</dc:title>
  <dc:creator>zongyu</dc:creator>
  <cp:lastModifiedBy>zongyu</cp:lastModifiedBy>
  <cp:revision>98</cp:revision>
  <dcterms:created xsi:type="dcterms:W3CDTF">2015-07-27T06:31:24Z</dcterms:created>
  <dcterms:modified xsi:type="dcterms:W3CDTF">2015-08-21T04:51:40Z</dcterms:modified>
</cp:coreProperties>
</file>